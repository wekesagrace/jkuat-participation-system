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Sentiment</c:v>
                </c:pt>
              </c:strCache>
            </c:strRef>
          </c:tx>
          <c:spPr>
            <a:solidFill>
              <a:schemeClr val="accent1"/>
            </a:solidFill>
            <a:ln w="9525" cap="flat">
              <a:solidFill>
                <a:srgbClr val="F9F9F9"/>
              </a:solidFill>
              <a:prstDash val="solid"/>
              <a:round/>
            </a:ln>
            <a:effectLst/>
          </c:spPr>
          <c:dPt>
            <c:idx val="0"/>
            <c:bubble3D val="0"/>
            <c:spPr>
              <a:solidFill>
                <a:srgbClr val="27AE60"/>
              </a:solidFill>
              <a:effectLst/>
            </c:spPr>
          </c:dPt>
          <c:dPt>
            <c:idx val="1"/>
            <c:bubble3D val="0"/>
            <c:spPr>
              <a:solidFill>
                <a:srgbClr val="E74C3C"/>
              </a:solidFill>
              <a:effectLst/>
            </c:spPr>
          </c:dPt>
          <c:dPt>
            <c:idx val="2"/>
            <c:bubble3D val="0"/>
            <c:spPr>
              <a:solidFill>
                <a:srgbClr val="F39C12"/>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Positive</c:v>
                </c:pt>
                <c:pt idx="1">
                  <c:v>Negative</c:v>
                </c:pt>
                <c:pt idx="2">
                  <c:v>Neutral</c:v>
                </c:pt>
              </c:strCache>
            </c:strRef>
          </c:cat>
          <c:val>
            <c:numRef>
              <c:f>Sheet1!$B$2:$B$4</c:f>
              <c:numCache>
                <c:ptCount val="3"/>
                <c:pt idx="0">
                  <c:v>45</c:v>
                </c:pt>
                <c:pt idx="1">
                  <c:v>30</c:v>
                </c:pt>
                <c:pt idx="2">
                  <c:v>25</c:v>
                </c:pt>
              </c:numCache>
            </c:numRef>
          </c:val>
        </c:ser>
        <c:firstSliceAng val="0"/>
        <c:holeSize val="50"/>
      </c:doughnutChart>
      <c:spPr>
        <a:noFill/>
        <a:ln>
          <a:noFill/>
        </a:ln>
        <a:effectLst/>
      </c:spPr>
    </c:plotArea>
    <c:legend>
      <c:legendPos val="r"/>
      <c:overlay val="0"/>
    </c:legend>
    <c:plotVisOnly val="1"/>
    <c:dispBlanksAs val="span"/>
  </c:chart>
  <c:spPr>
    <a:solidFill>
      <a:srgbClr val="0D1F3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of respondents</c:v>
                </c:pt>
              </c:strCache>
            </c:strRef>
          </c:tx>
          <c:spPr>
            <a:solidFill>
              <a:srgbClr val="0D7A8A"/>
            </a:solidFill>
            <a:effectLst/>
          </c:spPr>
          <c:invertIfNegative val="0"/>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cat>
            <c:multiLvlStrRef>
              <c:f>Sheet1!$A$2:$A$5</c:f>
              <c:multiLvlStrCache>
                <c:ptCount val="4"/>
                <c:lvl>
                  <c:pt idx="0">
                    <c:v>Anonymous
Submission</c:v>
                  </c:pt>
                  <c:pt idx="1">
                    <c:v>Real-Time
Dashboard</c:v>
                  </c:pt>
                  <c:pt idx="2">
                    <c:v>Follow-up
Notifications</c:v>
                  </c:pt>
                  <c:pt idx="3">
                    <c:v>SMS
Support</c:v>
                  </c:pt>
                </c:lvl>
              </c:multiLvlStrCache>
            </c:multiLvlStrRef>
          </c:cat>
          <c:val>
            <c:numRef>
              <c:f>Sheet1!$B$2:$B$5</c:f>
              <c:numCache>
                <c:formatCode>General</c:formatCode>
                <c:ptCount val="4"/>
                <c:pt idx="0">
                  <c:v>75</c:v>
                </c:pt>
                <c:pt idx="1">
                  <c:v>65</c:v>
                </c:pt>
                <c:pt idx="2">
                  <c:v>55</c:v>
                </c:pt>
                <c:pt idx="3">
                  <c:v>50</c:v>
                </c:pt>
              </c:numCache>
            </c:numRef>
          </c:val>
        </c:ser>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8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Test Cases by Module (4 each, all passed)</a:t>
            </a:r>
          </a:p>
        </c:rich>
      </c:tx>
      <c:layout/>
      <c:overlay val="0"/>
    </c:title>
    <c:autoTitleDeleted val="0"/>
    <c:plotArea>
      <c:layout/>
      <c:barChart>
        <c:barDir val="col"/>
        <c:grouping val="clustered"/>
        <c:varyColors val="0"/>
        <c:ser>
          <c:idx val="0"/>
          <c:order val="0"/>
          <c:tx>
            <c:strRef>
              <c:f>Sheet1!$B$1</c:f>
              <c:strCache>
                <c:ptCount val="1"/>
                <c:pt idx="0">
                  <c:v>Passed</c:v>
                </c:pt>
              </c:strCache>
            </c:strRef>
          </c:tx>
          <c:spPr>
            <a:solidFill>
              <a:srgbClr val="27AE60"/>
            </a:solidFill>
            <a:effectLst/>
          </c:spPr>
          <c:invertIfNegative val="0"/>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cat>
            <c:multiLvlStrRef>
              <c:f>Sheet1!$A$2:$A$6</c:f>
              <c:multiLvlStrCache>
                <c:ptCount val="5"/>
                <c:lvl>
                  <c:pt idx="0">
                    <c:v>Feedback
Collection</c:v>
                  </c:pt>
                  <c:pt idx="1">
                    <c:v>NLP
Analysis</c:v>
                  </c:pt>
                  <c:pt idx="2">
                    <c:v>Admin
Dashboard</c:v>
                  </c:pt>
                  <c:pt idx="3">
                    <c:v>Events
Board</c:v>
                  </c:pt>
                  <c:pt idx="4">
                    <c:v>Audio
Transcription</c:v>
                  </c:pt>
                </c:lvl>
              </c:multiLvlStrCache>
            </c:multiLvlStrRef>
          </c:cat>
          <c:val>
            <c:numRef>
              <c:f>Sheet1!$B$2:$B$6</c:f>
              <c:numCache>
                <c:formatCode>General</c:formatCode>
                <c:ptCount val="5"/>
                <c:pt idx="0">
                  <c:v>4</c:v>
                </c:pt>
                <c:pt idx="1">
                  <c:v>4</c:v>
                </c:pt>
                <c:pt idx="2">
                  <c:v>4</c:v>
                </c:pt>
                <c:pt idx="3">
                  <c:v>4</c:v>
                </c:pt>
                <c:pt idx="4">
                  <c:v>4</c:v>
                </c:pt>
              </c:numCache>
            </c:numRef>
          </c:val>
        </c:ser>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8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My name is Grace Wekesa. Today I'm presenting SautiYetu — which means 'Our Voice' in Swahili — an AI-Powered Public Participation Analysis System I designed and built for institutional governance at JKUAT. I'll walk you through the problem, the solution, how it works,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my agenda. I'll cover seven key areas: starting with the problem, then the solution, background research, design, implementation, testing, and finally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JKUAT, like many African universities, has fragmented participation — suggestion boxes, manual forms, open meetings. The core problem is not a lack of platforms but the absence of intelligent analysis. 55% of students rarely or never give feedback, and those who do see no follow-up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SautiYetu solves all four problems. It collects feedback across three channels, automatically analyses it with NLP, presents results on a real-time dashboard, and was evaluated with twenty formal test cases and a usability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shows a global evolution from paper-based to digital to intelligent participation systems. Key global case studies — Estonia, South Africa, Kenya eCitizen, CitizenLab — all show significant gaps. I identified five specific research gaps and SautiYetu addresses every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adopted a hybrid methodology. Agile governs the software development cycle — requirements, design, sprints, testing, deployment. CRISP-DM governs the AI/NLP pipeline — from understanding the data through to deploying validated models. Together they allow fast iteration while maintaining rigor in the analytical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follows a classic three-tier architecture. The presentation tier is Bootstrap and Chart.js. The application tier is Python Flask with four subcomponents. The data tier is SQLite for the prototype, designed to migrate to PostgreSQL for production. Two external integrations — Africa's Talking for SMS and OpenAI Whisper for audio — feed into the application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SautiYetu is the NLP pipeline. Feedback enters through three channels, is pre-processed, then runs through the TextBlob sentiment classifier and LDA topic modeller. The sentiment threshold was carefully calibrated through empirical testing — I raised it from 0.1 to 0.45 to prevent neutral Kenyan institutional language from being misclassified as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collected data from 80 respondents using questionnaires, interviews, and observation. Four key findings emerged: low channel engagement, lack of follow-up destroys trust, strong willingness to adopt AI, and data privacy is the top concern. These findings directly shaped every design decision in SautiYetu.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SautiYetu is built in five key modules. Each maps to a functional requirement. The tech stack is entirely open-source — Python, Flask, SQLite, TextBlob, scikit-learn — keeping total project cost at just KES 2,000 for internet and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was formally evaluated against twenty test cases across five modules — every single one passed. Usability testing with five peers gave an average satisfaction score of 4.5 out of 5, with 100% task completion. Security testing confirmed SQL injection prevention and route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four objectives were fully achieved; the fourth — NLP performance on Swahili — is substantially achieved and improvement is the top recommendation. The system demonstrates that AI and NLP can genuinely enhance transparency and efficiency in institutional governance, and provides a scalable model for Kenyan universities.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closing: SautiYetu demonstrates that AI and NLP can genuinely transform how African universities listen to and act on stakeholder voices. The system is inclusive, ethical, and scalable.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6217920" y="-1371600"/>
            <a:ext cx="4572000" cy="4572000"/>
          </a:xfrm>
          <a:prstGeom prst="ellipse">
            <a:avLst/>
          </a:prstGeom>
          <a:solidFill>
            <a:srgbClr val="0D7A8A">
              <a:alpha val="25000"/>
            </a:srgbClr>
          </a:solidFill>
          <a:ln w="12700">
            <a:solidFill>
              <a:srgbClr val="0D7A8A"/>
            </a:solidFill>
            <a:prstDash val="solid"/>
          </a:ln>
        </p:spPr>
      </p:sp>
      <p:sp>
        <p:nvSpPr>
          <p:cNvPr id="3" name="Shape 1"/>
          <p:cNvSpPr/>
          <p:nvPr/>
        </p:nvSpPr>
        <p:spPr>
          <a:xfrm>
            <a:off x="6858000" y="-731520"/>
            <a:ext cx="3200400" cy="3200400"/>
          </a:xfrm>
          <a:prstGeom prst="ellipse">
            <a:avLst/>
          </a:prstGeom>
          <a:solidFill>
            <a:srgbClr val="1ABFBF">
              <a:alpha val="15000"/>
            </a:srgbClr>
          </a:solidFill>
          <a:ln w="12700">
            <a:solidFill>
              <a:srgbClr val="1ABFBF"/>
            </a:solidFill>
            <a:prstDash val="solid"/>
          </a:ln>
        </p:spPr>
      </p:sp>
      <p:sp>
        <p:nvSpPr>
          <p:cNvPr id="4" name="Shape 2"/>
          <p:cNvSpPr/>
          <p:nvPr/>
        </p:nvSpPr>
        <p:spPr>
          <a:xfrm>
            <a:off x="0" y="4389120"/>
            <a:ext cx="9144000" cy="754380"/>
          </a:xfrm>
          <a:prstGeom prst="rect">
            <a:avLst/>
          </a:prstGeom>
          <a:solidFill>
            <a:srgbClr val="0D7A8A">
              <a:alpha val="20000"/>
            </a:srgbClr>
          </a:solidFill>
          <a:ln w="12700">
            <a:solidFill>
              <a:srgbClr val="0D7A8A"/>
            </a:solidFill>
            <a:prstDash val="solid"/>
          </a:ln>
        </p:spPr>
      </p:sp>
      <p:sp>
        <p:nvSpPr>
          <p:cNvPr id="5" name="Shape 3"/>
          <p:cNvSpPr/>
          <p:nvPr/>
        </p:nvSpPr>
        <p:spPr>
          <a:xfrm>
            <a:off x="502920" y="502920"/>
            <a:ext cx="960120" cy="960120"/>
          </a:xfrm>
          <a:prstGeom prst="ellipse">
            <a:avLst/>
          </a:prstGeom>
          <a:solidFill>
            <a:srgbClr val="0D7A8A"/>
          </a:solidFill>
          <a:ln w="25400">
            <a:solidFill>
              <a:srgbClr val="1ABFBF"/>
            </a:solidFill>
            <a:prstDash val="solid"/>
          </a:ln>
        </p:spPr>
      </p:sp>
      <p:pic>
        <p:nvPicPr>
          <p:cNvPr id="6" name="Image 0" descr="preencoded.png">    </p:cNvPr>
          <p:cNvPicPr>
            <a:picLocks noChangeAspect="1"/>
          </p:cNvPicPr>
          <p:nvPr/>
        </p:nvPicPr>
        <p:blipFill>
          <a:blip r:embed="rId1"/>
          <a:stretch>
            <a:fillRect/>
          </a:stretch>
        </p:blipFill>
        <p:spPr>
          <a:xfrm>
            <a:off x="621792" y="621792"/>
            <a:ext cx="713232" cy="713232"/>
          </a:xfrm>
          <a:prstGeom prst="rect">
            <a:avLst/>
          </a:prstGeom>
        </p:spPr>
      </p:pic>
      <p:sp>
        <p:nvSpPr>
          <p:cNvPr id="7" name="Text 4"/>
          <p:cNvSpPr/>
          <p:nvPr/>
        </p:nvSpPr>
        <p:spPr>
          <a:xfrm>
            <a:off x="1600200" y="548640"/>
            <a:ext cx="6858000" cy="320040"/>
          </a:xfrm>
          <a:prstGeom prst="rect">
            <a:avLst/>
          </a:prstGeom>
          <a:noFill/>
          <a:ln/>
        </p:spPr>
        <p:txBody>
          <a:bodyPr wrap="square" lIns="0" tIns="0" rIns="0" bIns="0" rtlCol="0" anchor="ctr"/>
          <a:lstStyle/>
          <a:p>
            <a:pPr algn="l" indent="0" marL="0">
              <a:buNone/>
            </a:pPr>
            <a:r>
              <a:rPr lang="en-US" sz="900" b="1" dirty="0">
                <a:solidFill>
                  <a:srgbClr val="8BA3B0"/>
                </a:solidFill>
                <a:latin typeface="Calibri" pitchFamily="34" charset="0"/>
                <a:ea typeface="Calibri" pitchFamily="34" charset="-122"/>
                <a:cs typeface="Calibri" pitchFamily="34" charset="-120"/>
              </a:rPr>
              <a:t>JOMO KENYATTA UNIVERSITY OF AGRICULTURE AND TECHNOLOGY</a:t>
            </a:r>
            <a:endParaRPr lang="en-US" sz="900" dirty="0"/>
          </a:p>
        </p:txBody>
      </p:sp>
      <p:sp>
        <p:nvSpPr>
          <p:cNvPr id="8" name="Text 5"/>
          <p:cNvSpPr/>
          <p:nvPr/>
        </p:nvSpPr>
        <p:spPr>
          <a:xfrm>
            <a:off x="1600200" y="868680"/>
            <a:ext cx="6858000" cy="274320"/>
          </a:xfrm>
          <a:prstGeom prst="rect">
            <a:avLst/>
          </a:prstGeom>
          <a:noFill/>
          <a:ln/>
        </p:spPr>
        <p:txBody>
          <a:bodyPr wrap="square" lIns="0" tIns="0" rIns="0" bIns="0" rtlCol="0" anchor="ctr"/>
          <a:lstStyle/>
          <a:p>
            <a:pPr algn="l" indent="0" marL="0">
              <a:buNone/>
            </a:pPr>
            <a:r>
              <a:rPr lang="en-US" sz="800" dirty="0">
                <a:solidFill>
                  <a:srgbClr val="8BA3B0"/>
                </a:solidFill>
                <a:latin typeface="Calibri" pitchFamily="34" charset="0"/>
                <a:ea typeface="Calibri" pitchFamily="34" charset="-122"/>
                <a:cs typeface="Calibri" pitchFamily="34" charset="-120"/>
              </a:rPr>
              <a:t>Department of Information Technology</a:t>
            </a:r>
            <a:endParaRPr lang="en-US" sz="800" dirty="0"/>
          </a:p>
        </p:txBody>
      </p:sp>
      <p:sp>
        <p:nvSpPr>
          <p:cNvPr id="9" name="Text 6"/>
          <p:cNvSpPr/>
          <p:nvPr/>
        </p:nvSpPr>
        <p:spPr>
          <a:xfrm>
            <a:off x="457200" y="1417320"/>
            <a:ext cx="8229600" cy="1005840"/>
          </a:xfrm>
          <a:prstGeom prst="rect">
            <a:avLst/>
          </a:prstGeom>
          <a:noFill/>
          <a:ln/>
        </p:spPr>
        <p:txBody>
          <a:bodyPr wrap="square" lIns="0" tIns="0" rIns="0" bIns="0" rtlCol="0" anchor="ctr"/>
          <a:lstStyle/>
          <a:p>
            <a:pPr algn="l" indent="0" marL="0">
              <a:buNone/>
            </a:pPr>
            <a:r>
              <a:rPr lang="en-US" sz="6400" b="1" spc="200" kern="0" dirty="0">
                <a:solidFill>
                  <a:srgbClr val="FFFFFF"/>
                </a:solidFill>
                <a:latin typeface="Cambria" pitchFamily="34" charset="0"/>
                <a:ea typeface="Cambria" pitchFamily="34" charset="-122"/>
                <a:cs typeface="Cambria" pitchFamily="34" charset="-120"/>
              </a:rPr>
              <a:t>SautiYetu</a:t>
            </a:r>
            <a:endParaRPr lang="en-US" sz="6400" dirty="0"/>
          </a:p>
        </p:txBody>
      </p:sp>
      <p:sp>
        <p:nvSpPr>
          <p:cNvPr id="10" name="Text 7"/>
          <p:cNvSpPr/>
          <p:nvPr/>
        </p:nvSpPr>
        <p:spPr>
          <a:xfrm>
            <a:off x="457200" y="2423160"/>
            <a:ext cx="8229600" cy="502920"/>
          </a:xfrm>
          <a:prstGeom prst="rect">
            <a:avLst/>
          </a:prstGeom>
          <a:noFill/>
          <a:ln/>
        </p:spPr>
        <p:txBody>
          <a:bodyPr wrap="square" lIns="0" tIns="0" rIns="0" bIns="0" rtlCol="0" anchor="ctr"/>
          <a:lstStyle/>
          <a:p>
            <a:pPr algn="l" indent="0" marL="0">
              <a:buNone/>
            </a:pPr>
            <a:r>
              <a:rPr lang="en-US" sz="2200" dirty="0">
                <a:solidFill>
                  <a:srgbClr val="1ABFBF"/>
                </a:solidFill>
                <a:latin typeface="Calibri" pitchFamily="34" charset="0"/>
                <a:ea typeface="Calibri" pitchFamily="34" charset="-122"/>
                <a:cs typeface="Calibri" pitchFamily="34" charset="-120"/>
              </a:rPr>
              <a:t>AI-Powered Public Participation Analysis System</a:t>
            </a:r>
            <a:endParaRPr lang="en-US" sz="2200" dirty="0"/>
          </a:p>
        </p:txBody>
      </p:sp>
      <p:sp>
        <p:nvSpPr>
          <p:cNvPr id="11" name="Text 8"/>
          <p:cNvSpPr/>
          <p:nvPr/>
        </p:nvSpPr>
        <p:spPr>
          <a:xfrm>
            <a:off x="457200" y="2907792"/>
            <a:ext cx="8229600" cy="365760"/>
          </a:xfrm>
          <a:prstGeom prst="rect">
            <a:avLst/>
          </a:prstGeom>
          <a:noFill/>
          <a:ln/>
        </p:spPr>
        <p:txBody>
          <a:bodyPr wrap="square" lIns="0" tIns="0" rIns="0" bIns="0" rtlCol="0" anchor="ctr"/>
          <a:lstStyle/>
          <a:p>
            <a:pPr algn="l" indent="0" marL="0">
              <a:buNone/>
            </a:pPr>
            <a:r>
              <a:rPr lang="en-US" sz="1800" dirty="0">
                <a:solidFill>
                  <a:srgbClr val="8BA3B0"/>
                </a:solidFill>
                <a:latin typeface="Calibri" pitchFamily="34" charset="0"/>
                <a:ea typeface="Calibri" pitchFamily="34" charset="-122"/>
                <a:cs typeface="Calibri" pitchFamily="34" charset="-120"/>
              </a:rPr>
              <a:t>for Institutional Governance</a:t>
            </a:r>
            <a:endParaRPr lang="en-US" sz="1800" dirty="0"/>
          </a:p>
        </p:txBody>
      </p:sp>
      <p:sp>
        <p:nvSpPr>
          <p:cNvPr id="12" name="Shape 9"/>
          <p:cNvSpPr/>
          <p:nvPr/>
        </p:nvSpPr>
        <p:spPr>
          <a:xfrm>
            <a:off x="457200" y="3337560"/>
            <a:ext cx="3200400" cy="36576"/>
          </a:xfrm>
          <a:prstGeom prst="rect">
            <a:avLst/>
          </a:prstGeom>
          <a:solidFill>
            <a:srgbClr val="F5A623"/>
          </a:solidFill>
          <a:ln w="12700">
            <a:solidFill>
              <a:srgbClr val="F5A623"/>
            </a:solidFill>
            <a:prstDash val="solid"/>
          </a:ln>
        </p:spPr>
      </p:sp>
      <p:sp>
        <p:nvSpPr>
          <p:cNvPr id="13" name="Text 10"/>
          <p:cNvSpPr/>
          <p:nvPr/>
        </p:nvSpPr>
        <p:spPr>
          <a:xfrm>
            <a:off x="457200" y="3520440"/>
            <a:ext cx="8229600" cy="32004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Grace Wekesa</a:t>
            </a:r>
            <a:pPr algn="l" indent="0" marL="0">
              <a:buNone/>
            </a:pPr>
            <a:r>
              <a:rPr lang="en-US" sz="1100" dirty="0">
                <a:solidFill>
                  <a:srgbClr val="8BA3B0"/>
                </a:solidFill>
                <a:latin typeface="Calibri" pitchFamily="34" charset="0"/>
                <a:ea typeface="Calibri" pitchFamily="34" charset="-122"/>
                <a:cs typeface="Calibri" pitchFamily="34" charset="-120"/>
              </a:rPr>
              <a:t>   |   Supervisor: Dr. Kaburu</a:t>
            </a:r>
            <a:pPr algn="l" indent="0" marL="0">
              <a:buNone/>
            </a:pPr>
            <a:r>
              <a:rPr lang="en-US" sz="1100" dirty="0">
                <a:solidFill>
                  <a:srgbClr val="8BA3B0"/>
                </a:solidFill>
                <a:latin typeface="Calibri" pitchFamily="34" charset="0"/>
                <a:ea typeface="Calibri" pitchFamily="34" charset="-122"/>
                <a:cs typeface="Calibri" pitchFamily="34" charset="-120"/>
              </a:rPr>
              <a:t>   |   BSc Information Technology, 2026</a:t>
            </a:r>
            <a:endParaRPr lang="en-US" sz="1100" dirty="0"/>
          </a:p>
        </p:txBody>
      </p:sp>
      <p:sp>
        <p:nvSpPr>
          <p:cNvPr id="14" name="Shape 11"/>
          <p:cNvSpPr/>
          <p:nvPr/>
        </p:nvSpPr>
        <p:spPr>
          <a:xfrm>
            <a:off x="6583680" y="3337560"/>
            <a:ext cx="2103120" cy="594360"/>
          </a:xfrm>
          <a:prstGeom prst="roundRect">
            <a:avLst>
              <a:gd name="adj" fmla="val 18462"/>
            </a:avLst>
          </a:prstGeom>
          <a:solidFill>
            <a:srgbClr val="F5A623">
              <a:alpha val="85000"/>
            </a:srgbClr>
          </a:solidFill>
          <a:ln w="12700">
            <a:solidFill>
              <a:srgbClr val="F5A623"/>
            </a:solidFill>
            <a:prstDash val="solid"/>
          </a:ln>
        </p:spPr>
      </p:sp>
      <p:sp>
        <p:nvSpPr>
          <p:cNvPr id="15" name="Text 12"/>
          <p:cNvSpPr/>
          <p:nvPr/>
        </p:nvSpPr>
        <p:spPr>
          <a:xfrm>
            <a:off x="6583680" y="3337560"/>
            <a:ext cx="2103120" cy="594360"/>
          </a:xfrm>
          <a:prstGeom prst="rect">
            <a:avLst/>
          </a:prstGeom>
          <a:noFill/>
          <a:ln/>
        </p:spPr>
        <p:txBody>
          <a:bodyPr wrap="square" lIns="0" tIns="0" rIns="0" bIns="0" rtlCol="0" anchor="ctr"/>
          <a:lstStyle/>
          <a:p>
            <a:pPr algn="ctr" indent="0" marL="0">
              <a:buNone/>
            </a:pPr>
            <a:r>
              <a:rPr lang="en-US" sz="1000" b="1" dirty="0">
                <a:solidFill>
                  <a:srgbClr val="0A1628"/>
                </a:solidFill>
                <a:latin typeface="Calibri" pitchFamily="34" charset="0"/>
                <a:ea typeface="Calibri" pitchFamily="34" charset="-122"/>
                <a:cs typeface="Calibri" pitchFamily="34" charset="-120"/>
              </a:rPr>
              <a:t>"Our Voice" in Swahili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algn="l" indent="0" marL="0">
              <a:buNone/>
            </a:pPr>
            <a:r>
              <a:rPr lang="en-US" sz="1100" b="1" spc="400" kern="0" dirty="0">
                <a:solidFill>
                  <a:srgbClr val="1ABFBF"/>
                </a:solidFill>
                <a:latin typeface="Calibri" pitchFamily="34" charset="0"/>
                <a:ea typeface="Calibri" pitchFamily="34" charset="-122"/>
                <a:cs typeface="Calibri" pitchFamily="34" charset="-120"/>
              </a:rPr>
              <a:t>PRESENTATION OUTLINE</a:t>
            </a:r>
            <a:endParaRPr lang="en-US" sz="1100" dirty="0"/>
          </a:p>
        </p:txBody>
      </p:sp>
      <p:sp>
        <p:nvSpPr>
          <p:cNvPr id="4" name="Shape 2"/>
          <p:cNvSpPr/>
          <p:nvPr/>
        </p:nvSpPr>
        <p:spPr>
          <a:xfrm>
            <a:off x="457200" y="1143000"/>
            <a:ext cx="420624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5" name="Shape 3"/>
          <p:cNvSpPr/>
          <p:nvPr/>
        </p:nvSpPr>
        <p:spPr>
          <a:xfrm>
            <a:off x="566928" y="1271016"/>
            <a:ext cx="457200" cy="457200"/>
          </a:xfrm>
          <a:prstGeom prst="ellipse">
            <a:avLst/>
          </a:prstGeom>
          <a:solidFill>
            <a:srgbClr val="0D7A8A"/>
          </a:solidFill>
          <a:ln w="12700">
            <a:solidFill>
              <a:srgbClr val="0D7A8A"/>
            </a:solidFill>
            <a:prstDash val="solid"/>
          </a:ln>
        </p:spPr>
      </p:sp>
      <p:sp>
        <p:nvSpPr>
          <p:cNvPr id="6" name="Text 4"/>
          <p:cNvSpPr/>
          <p:nvPr/>
        </p:nvSpPr>
        <p:spPr>
          <a:xfrm>
            <a:off x="566928" y="1271016"/>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1143000" y="1207008"/>
            <a:ext cx="3383280" cy="292608"/>
          </a:xfrm>
          <a:prstGeom prst="rect">
            <a:avLst/>
          </a:prstGeom>
          <a:noFill/>
          <a:ln/>
        </p:spPr>
        <p:txBody>
          <a:bodyPr wrap="square" lIns="0" tIns="0" rIns="0" bIns="0" rtlCol="0" anchor="ctr"/>
          <a:lstStyle/>
          <a:p>
            <a:pPr algn="l" indent="0" marL="0">
              <a:buNone/>
            </a:pPr>
            <a:r>
              <a:rPr lang="en-US" sz="1300" b="1" dirty="0">
                <a:solidFill>
                  <a:srgbClr val="0A1628"/>
                </a:solidFill>
                <a:latin typeface="Calibri" pitchFamily="34" charset="0"/>
                <a:ea typeface="Calibri" pitchFamily="34" charset="-122"/>
                <a:cs typeface="Calibri" pitchFamily="34" charset="-120"/>
              </a:rPr>
              <a:t>Problem Statement</a:t>
            </a:r>
            <a:endParaRPr lang="en-US" sz="1300" dirty="0"/>
          </a:p>
        </p:txBody>
      </p:sp>
      <p:sp>
        <p:nvSpPr>
          <p:cNvPr id="8" name="Text 6"/>
          <p:cNvSpPr/>
          <p:nvPr/>
        </p:nvSpPr>
        <p:spPr>
          <a:xfrm>
            <a:off x="1143000" y="1508760"/>
            <a:ext cx="3383280" cy="237744"/>
          </a:xfrm>
          <a:prstGeom prst="rect">
            <a:avLst/>
          </a:prstGeom>
          <a:noFill/>
          <a:ln/>
        </p:spPr>
        <p:txBody>
          <a:bodyPr wrap="square" lIns="0" tIns="0" rIns="0" bIns="0" rtlCol="0" anchor="ctr"/>
          <a:lstStyle/>
          <a:p>
            <a:pPr algn="l" indent="0" marL="0">
              <a:buNone/>
            </a:pPr>
            <a:r>
              <a:rPr lang="en-US" sz="1000" dirty="0">
                <a:solidFill>
                  <a:srgbClr val="8BA3B0"/>
                </a:solidFill>
                <a:latin typeface="Calibri" pitchFamily="34" charset="0"/>
                <a:ea typeface="Calibri" pitchFamily="34" charset="-122"/>
                <a:cs typeface="Calibri" pitchFamily="34" charset="-120"/>
              </a:rPr>
              <a:t>Why JKUAT needs SautiYetu</a:t>
            </a:r>
            <a:endParaRPr lang="en-US" sz="1000" dirty="0"/>
          </a:p>
        </p:txBody>
      </p:sp>
      <p:sp>
        <p:nvSpPr>
          <p:cNvPr id="9" name="Shape 7"/>
          <p:cNvSpPr/>
          <p:nvPr/>
        </p:nvSpPr>
        <p:spPr>
          <a:xfrm>
            <a:off x="457200" y="2011680"/>
            <a:ext cx="420624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10" name="Shape 8"/>
          <p:cNvSpPr/>
          <p:nvPr/>
        </p:nvSpPr>
        <p:spPr>
          <a:xfrm>
            <a:off x="566928" y="2139696"/>
            <a:ext cx="457200" cy="457200"/>
          </a:xfrm>
          <a:prstGeom prst="ellipse">
            <a:avLst/>
          </a:prstGeom>
          <a:solidFill>
            <a:srgbClr val="0D7A8A"/>
          </a:solidFill>
          <a:ln w="12700">
            <a:solidFill>
              <a:srgbClr val="0D7A8A"/>
            </a:solidFill>
            <a:prstDash val="solid"/>
          </a:ln>
        </p:spPr>
      </p:sp>
      <p:sp>
        <p:nvSpPr>
          <p:cNvPr id="11" name="Text 9"/>
          <p:cNvSpPr/>
          <p:nvPr/>
        </p:nvSpPr>
        <p:spPr>
          <a:xfrm>
            <a:off x="566928" y="2139696"/>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2" name="Text 10"/>
          <p:cNvSpPr/>
          <p:nvPr/>
        </p:nvSpPr>
        <p:spPr>
          <a:xfrm>
            <a:off x="1143000" y="2075688"/>
            <a:ext cx="3383280" cy="292608"/>
          </a:xfrm>
          <a:prstGeom prst="rect">
            <a:avLst/>
          </a:prstGeom>
          <a:noFill/>
          <a:ln/>
        </p:spPr>
        <p:txBody>
          <a:bodyPr wrap="square" lIns="0" tIns="0" rIns="0" bIns="0" rtlCol="0" anchor="ctr"/>
          <a:lstStyle/>
          <a:p>
            <a:pPr algn="l" indent="0" marL="0">
              <a:buNone/>
            </a:pPr>
            <a:r>
              <a:rPr lang="en-US" sz="1300" b="1" dirty="0">
                <a:solidFill>
                  <a:srgbClr val="0A1628"/>
                </a:solidFill>
                <a:latin typeface="Calibri" pitchFamily="34" charset="0"/>
                <a:ea typeface="Calibri" pitchFamily="34" charset="-122"/>
                <a:cs typeface="Calibri" pitchFamily="34" charset="-120"/>
              </a:rPr>
              <a:t>Proposed Solution</a:t>
            </a:r>
            <a:endParaRPr lang="en-US" sz="1300" dirty="0"/>
          </a:p>
        </p:txBody>
      </p:sp>
      <p:sp>
        <p:nvSpPr>
          <p:cNvPr id="13" name="Text 11"/>
          <p:cNvSpPr/>
          <p:nvPr/>
        </p:nvSpPr>
        <p:spPr>
          <a:xfrm>
            <a:off x="1143000" y="2377440"/>
            <a:ext cx="3383280" cy="237744"/>
          </a:xfrm>
          <a:prstGeom prst="rect">
            <a:avLst/>
          </a:prstGeom>
          <a:noFill/>
          <a:ln/>
        </p:spPr>
        <p:txBody>
          <a:bodyPr wrap="square" lIns="0" tIns="0" rIns="0" bIns="0" rtlCol="0" anchor="ctr"/>
          <a:lstStyle/>
          <a:p>
            <a:pPr algn="l" indent="0" marL="0">
              <a:buNone/>
            </a:pPr>
            <a:r>
              <a:rPr lang="en-US" sz="1000" dirty="0">
                <a:solidFill>
                  <a:srgbClr val="8BA3B0"/>
                </a:solidFill>
                <a:latin typeface="Calibri" pitchFamily="34" charset="0"/>
                <a:ea typeface="Calibri" pitchFamily="34" charset="-122"/>
                <a:cs typeface="Calibri" pitchFamily="34" charset="-120"/>
              </a:rPr>
              <a:t>System overview &amp; objectives</a:t>
            </a:r>
            <a:endParaRPr lang="en-US" sz="1000" dirty="0"/>
          </a:p>
        </p:txBody>
      </p:sp>
      <p:sp>
        <p:nvSpPr>
          <p:cNvPr id="14" name="Shape 12"/>
          <p:cNvSpPr/>
          <p:nvPr/>
        </p:nvSpPr>
        <p:spPr>
          <a:xfrm>
            <a:off x="457200" y="2880360"/>
            <a:ext cx="420624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15" name="Shape 13"/>
          <p:cNvSpPr/>
          <p:nvPr/>
        </p:nvSpPr>
        <p:spPr>
          <a:xfrm>
            <a:off x="566928" y="3008376"/>
            <a:ext cx="457200" cy="457200"/>
          </a:xfrm>
          <a:prstGeom prst="ellipse">
            <a:avLst/>
          </a:prstGeom>
          <a:solidFill>
            <a:srgbClr val="0D7A8A"/>
          </a:solidFill>
          <a:ln w="12700">
            <a:solidFill>
              <a:srgbClr val="0D7A8A"/>
            </a:solidFill>
            <a:prstDash val="solid"/>
          </a:ln>
        </p:spPr>
      </p:sp>
      <p:sp>
        <p:nvSpPr>
          <p:cNvPr id="16" name="Text 14"/>
          <p:cNvSpPr/>
          <p:nvPr/>
        </p:nvSpPr>
        <p:spPr>
          <a:xfrm>
            <a:off x="566928" y="3008376"/>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7" name="Text 15"/>
          <p:cNvSpPr/>
          <p:nvPr/>
        </p:nvSpPr>
        <p:spPr>
          <a:xfrm>
            <a:off x="1143000" y="2944368"/>
            <a:ext cx="3383280" cy="292608"/>
          </a:xfrm>
          <a:prstGeom prst="rect">
            <a:avLst/>
          </a:prstGeom>
          <a:noFill/>
          <a:ln/>
        </p:spPr>
        <p:txBody>
          <a:bodyPr wrap="square" lIns="0" tIns="0" rIns="0" bIns="0" rtlCol="0" anchor="ctr"/>
          <a:lstStyle/>
          <a:p>
            <a:pPr algn="l" indent="0" marL="0">
              <a:buNone/>
            </a:pPr>
            <a:r>
              <a:rPr lang="en-US" sz="1300" b="1" dirty="0">
                <a:solidFill>
                  <a:srgbClr val="0A1628"/>
                </a:solidFill>
                <a:latin typeface="Calibri" pitchFamily="34" charset="0"/>
                <a:ea typeface="Calibri" pitchFamily="34" charset="-122"/>
                <a:cs typeface="Calibri" pitchFamily="34" charset="-120"/>
              </a:rPr>
              <a:t>Literature &amp; Research Gaps</a:t>
            </a:r>
            <a:endParaRPr lang="en-US" sz="1300" dirty="0"/>
          </a:p>
        </p:txBody>
      </p:sp>
      <p:sp>
        <p:nvSpPr>
          <p:cNvPr id="18" name="Text 16"/>
          <p:cNvSpPr/>
          <p:nvPr/>
        </p:nvSpPr>
        <p:spPr>
          <a:xfrm>
            <a:off x="1143000" y="3246120"/>
            <a:ext cx="3383280" cy="237744"/>
          </a:xfrm>
          <a:prstGeom prst="rect">
            <a:avLst/>
          </a:prstGeom>
          <a:noFill/>
          <a:ln/>
        </p:spPr>
        <p:txBody>
          <a:bodyPr wrap="square" lIns="0" tIns="0" rIns="0" bIns="0" rtlCol="0" anchor="ctr"/>
          <a:lstStyle/>
          <a:p>
            <a:pPr algn="l" indent="0" marL="0">
              <a:buNone/>
            </a:pPr>
            <a:r>
              <a:rPr lang="en-US" sz="1000" dirty="0">
                <a:solidFill>
                  <a:srgbClr val="8BA3B0"/>
                </a:solidFill>
                <a:latin typeface="Calibri" pitchFamily="34" charset="0"/>
                <a:ea typeface="Calibri" pitchFamily="34" charset="-122"/>
                <a:cs typeface="Calibri" pitchFamily="34" charset="-120"/>
              </a:rPr>
              <a:t>What the field is missing</a:t>
            </a:r>
            <a:endParaRPr lang="en-US" sz="1000" dirty="0"/>
          </a:p>
        </p:txBody>
      </p:sp>
      <p:sp>
        <p:nvSpPr>
          <p:cNvPr id="19" name="Shape 17"/>
          <p:cNvSpPr/>
          <p:nvPr/>
        </p:nvSpPr>
        <p:spPr>
          <a:xfrm>
            <a:off x="457200" y="3749040"/>
            <a:ext cx="420624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20" name="Shape 18"/>
          <p:cNvSpPr/>
          <p:nvPr/>
        </p:nvSpPr>
        <p:spPr>
          <a:xfrm>
            <a:off x="566928" y="3877056"/>
            <a:ext cx="457200" cy="457200"/>
          </a:xfrm>
          <a:prstGeom prst="ellipse">
            <a:avLst/>
          </a:prstGeom>
          <a:solidFill>
            <a:srgbClr val="0D7A8A"/>
          </a:solidFill>
          <a:ln w="12700">
            <a:solidFill>
              <a:srgbClr val="0D7A8A"/>
            </a:solidFill>
            <a:prstDash val="solid"/>
          </a:ln>
        </p:spPr>
      </p:sp>
      <p:sp>
        <p:nvSpPr>
          <p:cNvPr id="21" name="Text 19"/>
          <p:cNvSpPr/>
          <p:nvPr/>
        </p:nvSpPr>
        <p:spPr>
          <a:xfrm>
            <a:off x="566928" y="3877056"/>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2" name="Text 20"/>
          <p:cNvSpPr/>
          <p:nvPr/>
        </p:nvSpPr>
        <p:spPr>
          <a:xfrm>
            <a:off x="1143000" y="3813048"/>
            <a:ext cx="3383280" cy="292608"/>
          </a:xfrm>
          <a:prstGeom prst="rect">
            <a:avLst/>
          </a:prstGeom>
          <a:noFill/>
          <a:ln/>
        </p:spPr>
        <p:txBody>
          <a:bodyPr wrap="square" lIns="0" tIns="0" rIns="0" bIns="0" rtlCol="0" anchor="ctr"/>
          <a:lstStyle/>
          <a:p>
            <a:pPr algn="l" indent="0" marL="0">
              <a:buNone/>
            </a:pPr>
            <a:r>
              <a:rPr lang="en-US" sz="1300" b="1" dirty="0">
                <a:solidFill>
                  <a:srgbClr val="0A1628"/>
                </a:solidFill>
                <a:latin typeface="Calibri" pitchFamily="34" charset="0"/>
                <a:ea typeface="Calibri" pitchFamily="34" charset="-122"/>
                <a:cs typeface="Calibri" pitchFamily="34" charset="-120"/>
              </a:rPr>
              <a:t>System Design</a:t>
            </a:r>
            <a:endParaRPr lang="en-US" sz="1300" dirty="0"/>
          </a:p>
        </p:txBody>
      </p:sp>
      <p:sp>
        <p:nvSpPr>
          <p:cNvPr id="23" name="Text 21"/>
          <p:cNvSpPr/>
          <p:nvPr/>
        </p:nvSpPr>
        <p:spPr>
          <a:xfrm>
            <a:off x="1143000" y="4114800"/>
            <a:ext cx="3383280" cy="237744"/>
          </a:xfrm>
          <a:prstGeom prst="rect">
            <a:avLst/>
          </a:prstGeom>
          <a:noFill/>
          <a:ln/>
        </p:spPr>
        <p:txBody>
          <a:bodyPr wrap="square" lIns="0" tIns="0" rIns="0" bIns="0" rtlCol="0" anchor="ctr"/>
          <a:lstStyle/>
          <a:p>
            <a:pPr algn="l" indent="0" marL="0">
              <a:buNone/>
            </a:pPr>
            <a:r>
              <a:rPr lang="en-US" sz="1000" dirty="0">
                <a:solidFill>
                  <a:srgbClr val="8BA3B0"/>
                </a:solidFill>
                <a:latin typeface="Calibri" pitchFamily="34" charset="0"/>
                <a:ea typeface="Calibri" pitchFamily="34" charset="-122"/>
                <a:cs typeface="Calibri" pitchFamily="34" charset="-120"/>
              </a:rPr>
              <a:t>Architecture, methodology &amp; models</a:t>
            </a:r>
            <a:endParaRPr lang="en-US" sz="1000" dirty="0"/>
          </a:p>
        </p:txBody>
      </p:sp>
      <p:sp>
        <p:nvSpPr>
          <p:cNvPr id="24" name="Shape 22"/>
          <p:cNvSpPr/>
          <p:nvPr/>
        </p:nvSpPr>
        <p:spPr>
          <a:xfrm>
            <a:off x="5029200" y="1143000"/>
            <a:ext cx="420624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25" name="Shape 23"/>
          <p:cNvSpPr/>
          <p:nvPr/>
        </p:nvSpPr>
        <p:spPr>
          <a:xfrm>
            <a:off x="5138928" y="1271016"/>
            <a:ext cx="457200" cy="457200"/>
          </a:xfrm>
          <a:prstGeom prst="ellipse">
            <a:avLst/>
          </a:prstGeom>
          <a:solidFill>
            <a:srgbClr val="0D7A8A"/>
          </a:solidFill>
          <a:ln w="12700">
            <a:solidFill>
              <a:srgbClr val="0D7A8A"/>
            </a:solidFill>
            <a:prstDash val="solid"/>
          </a:ln>
        </p:spPr>
      </p:sp>
      <p:sp>
        <p:nvSpPr>
          <p:cNvPr id="26" name="Text 24"/>
          <p:cNvSpPr/>
          <p:nvPr/>
        </p:nvSpPr>
        <p:spPr>
          <a:xfrm>
            <a:off x="5138928" y="1271016"/>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7" name="Text 25"/>
          <p:cNvSpPr/>
          <p:nvPr/>
        </p:nvSpPr>
        <p:spPr>
          <a:xfrm>
            <a:off x="5715000" y="1207008"/>
            <a:ext cx="3383280" cy="292608"/>
          </a:xfrm>
          <a:prstGeom prst="rect">
            <a:avLst/>
          </a:prstGeom>
          <a:noFill/>
          <a:ln/>
        </p:spPr>
        <p:txBody>
          <a:bodyPr wrap="square" lIns="0" tIns="0" rIns="0" bIns="0" rtlCol="0" anchor="ctr"/>
          <a:lstStyle/>
          <a:p>
            <a:pPr algn="l" indent="0" marL="0">
              <a:buNone/>
            </a:pPr>
            <a:r>
              <a:rPr lang="en-US" sz="1300" b="1" dirty="0">
                <a:solidFill>
                  <a:srgbClr val="0A1628"/>
                </a:solidFill>
                <a:latin typeface="Calibri" pitchFamily="34" charset="0"/>
                <a:ea typeface="Calibri" pitchFamily="34" charset="-122"/>
                <a:cs typeface="Calibri" pitchFamily="34" charset="-120"/>
              </a:rPr>
              <a:t>Implementation</a:t>
            </a:r>
            <a:endParaRPr lang="en-US" sz="1300" dirty="0"/>
          </a:p>
        </p:txBody>
      </p:sp>
      <p:sp>
        <p:nvSpPr>
          <p:cNvPr id="28" name="Text 26"/>
          <p:cNvSpPr/>
          <p:nvPr/>
        </p:nvSpPr>
        <p:spPr>
          <a:xfrm>
            <a:off x="5715000" y="1508760"/>
            <a:ext cx="3383280" cy="237744"/>
          </a:xfrm>
          <a:prstGeom prst="rect">
            <a:avLst/>
          </a:prstGeom>
          <a:noFill/>
          <a:ln/>
        </p:spPr>
        <p:txBody>
          <a:bodyPr wrap="square" lIns="0" tIns="0" rIns="0" bIns="0" rtlCol="0" anchor="ctr"/>
          <a:lstStyle/>
          <a:p>
            <a:pPr algn="l" indent="0" marL="0">
              <a:buNone/>
            </a:pPr>
            <a:r>
              <a:rPr lang="en-US" sz="1000" dirty="0">
                <a:solidFill>
                  <a:srgbClr val="8BA3B0"/>
                </a:solidFill>
                <a:latin typeface="Calibri" pitchFamily="34" charset="0"/>
                <a:ea typeface="Calibri" pitchFamily="34" charset="-122"/>
                <a:cs typeface="Calibri" pitchFamily="34" charset="-120"/>
              </a:rPr>
              <a:t>Tech stack, modules &amp; key code</a:t>
            </a:r>
            <a:endParaRPr lang="en-US" sz="1000" dirty="0"/>
          </a:p>
        </p:txBody>
      </p:sp>
      <p:sp>
        <p:nvSpPr>
          <p:cNvPr id="29" name="Shape 27"/>
          <p:cNvSpPr/>
          <p:nvPr/>
        </p:nvSpPr>
        <p:spPr>
          <a:xfrm>
            <a:off x="5029200" y="2011680"/>
            <a:ext cx="420624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30" name="Shape 28"/>
          <p:cNvSpPr/>
          <p:nvPr/>
        </p:nvSpPr>
        <p:spPr>
          <a:xfrm>
            <a:off x="5138928" y="2139696"/>
            <a:ext cx="457200" cy="457200"/>
          </a:xfrm>
          <a:prstGeom prst="ellipse">
            <a:avLst/>
          </a:prstGeom>
          <a:solidFill>
            <a:srgbClr val="0D7A8A"/>
          </a:solidFill>
          <a:ln w="12700">
            <a:solidFill>
              <a:srgbClr val="0D7A8A"/>
            </a:solidFill>
            <a:prstDash val="solid"/>
          </a:ln>
        </p:spPr>
      </p:sp>
      <p:sp>
        <p:nvSpPr>
          <p:cNvPr id="31" name="Text 29"/>
          <p:cNvSpPr/>
          <p:nvPr/>
        </p:nvSpPr>
        <p:spPr>
          <a:xfrm>
            <a:off x="5138928" y="2139696"/>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32" name="Text 30"/>
          <p:cNvSpPr/>
          <p:nvPr/>
        </p:nvSpPr>
        <p:spPr>
          <a:xfrm>
            <a:off x="5715000" y="2075688"/>
            <a:ext cx="3383280" cy="292608"/>
          </a:xfrm>
          <a:prstGeom prst="rect">
            <a:avLst/>
          </a:prstGeom>
          <a:noFill/>
          <a:ln/>
        </p:spPr>
        <p:txBody>
          <a:bodyPr wrap="square" lIns="0" tIns="0" rIns="0" bIns="0" rtlCol="0" anchor="ctr"/>
          <a:lstStyle/>
          <a:p>
            <a:pPr algn="l" indent="0" marL="0">
              <a:buNone/>
            </a:pPr>
            <a:r>
              <a:rPr lang="en-US" sz="1300" b="1" dirty="0">
                <a:solidFill>
                  <a:srgbClr val="0A1628"/>
                </a:solidFill>
                <a:latin typeface="Calibri" pitchFamily="34" charset="0"/>
                <a:ea typeface="Calibri" pitchFamily="34" charset="-122"/>
                <a:cs typeface="Calibri" pitchFamily="34" charset="-120"/>
              </a:rPr>
              <a:t>Testing &amp; Results</a:t>
            </a:r>
            <a:endParaRPr lang="en-US" sz="1300" dirty="0"/>
          </a:p>
        </p:txBody>
      </p:sp>
      <p:sp>
        <p:nvSpPr>
          <p:cNvPr id="33" name="Text 31"/>
          <p:cNvSpPr/>
          <p:nvPr/>
        </p:nvSpPr>
        <p:spPr>
          <a:xfrm>
            <a:off x="5715000" y="2377440"/>
            <a:ext cx="3383280" cy="237744"/>
          </a:xfrm>
          <a:prstGeom prst="rect">
            <a:avLst/>
          </a:prstGeom>
          <a:noFill/>
          <a:ln/>
        </p:spPr>
        <p:txBody>
          <a:bodyPr wrap="square" lIns="0" tIns="0" rIns="0" bIns="0" rtlCol="0" anchor="ctr"/>
          <a:lstStyle/>
          <a:p>
            <a:pPr algn="l" indent="0" marL="0">
              <a:buNone/>
            </a:pPr>
            <a:r>
              <a:rPr lang="en-US" sz="1000" dirty="0">
                <a:solidFill>
                  <a:srgbClr val="8BA3B0"/>
                </a:solidFill>
                <a:latin typeface="Calibri" pitchFamily="34" charset="0"/>
                <a:ea typeface="Calibri" pitchFamily="34" charset="-122"/>
                <a:cs typeface="Calibri" pitchFamily="34" charset="-120"/>
              </a:rPr>
              <a:t>100% pass rate, usability scores</a:t>
            </a:r>
            <a:endParaRPr lang="en-US" sz="1000" dirty="0"/>
          </a:p>
        </p:txBody>
      </p:sp>
      <p:sp>
        <p:nvSpPr>
          <p:cNvPr id="34" name="Shape 32"/>
          <p:cNvSpPr/>
          <p:nvPr/>
        </p:nvSpPr>
        <p:spPr>
          <a:xfrm>
            <a:off x="5029200" y="2880360"/>
            <a:ext cx="420624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35" name="Shape 33"/>
          <p:cNvSpPr/>
          <p:nvPr/>
        </p:nvSpPr>
        <p:spPr>
          <a:xfrm>
            <a:off x="5138928" y="3008376"/>
            <a:ext cx="457200" cy="457200"/>
          </a:xfrm>
          <a:prstGeom prst="ellipse">
            <a:avLst/>
          </a:prstGeom>
          <a:solidFill>
            <a:srgbClr val="0D7A8A"/>
          </a:solidFill>
          <a:ln w="12700">
            <a:solidFill>
              <a:srgbClr val="0D7A8A"/>
            </a:solidFill>
            <a:prstDash val="solid"/>
          </a:ln>
        </p:spPr>
      </p:sp>
      <p:sp>
        <p:nvSpPr>
          <p:cNvPr id="36" name="Text 34"/>
          <p:cNvSpPr/>
          <p:nvPr/>
        </p:nvSpPr>
        <p:spPr>
          <a:xfrm>
            <a:off x="5138928" y="3008376"/>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37" name="Text 35"/>
          <p:cNvSpPr/>
          <p:nvPr/>
        </p:nvSpPr>
        <p:spPr>
          <a:xfrm>
            <a:off x="5715000" y="2944368"/>
            <a:ext cx="3383280" cy="292608"/>
          </a:xfrm>
          <a:prstGeom prst="rect">
            <a:avLst/>
          </a:prstGeom>
          <a:noFill/>
          <a:ln/>
        </p:spPr>
        <p:txBody>
          <a:bodyPr wrap="square" lIns="0" tIns="0" rIns="0" bIns="0" rtlCol="0" anchor="ctr"/>
          <a:lstStyle/>
          <a:p>
            <a:pPr algn="l" indent="0" marL="0">
              <a:buNone/>
            </a:pPr>
            <a:r>
              <a:rPr lang="en-US" sz="1300" b="1" dirty="0">
                <a:solidFill>
                  <a:srgbClr val="0A1628"/>
                </a:solidFill>
                <a:latin typeface="Calibri" pitchFamily="34" charset="0"/>
                <a:ea typeface="Calibri" pitchFamily="34" charset="-122"/>
                <a:cs typeface="Calibri" pitchFamily="34" charset="-120"/>
              </a:rPr>
              <a:t>Conclusions &amp; Recommendations</a:t>
            </a:r>
            <a:endParaRPr lang="en-US" sz="1300" dirty="0"/>
          </a:p>
        </p:txBody>
      </p:sp>
      <p:sp>
        <p:nvSpPr>
          <p:cNvPr id="38" name="Text 36"/>
          <p:cNvSpPr/>
          <p:nvPr/>
        </p:nvSpPr>
        <p:spPr>
          <a:xfrm>
            <a:off x="5715000" y="3246120"/>
            <a:ext cx="3383280" cy="237744"/>
          </a:xfrm>
          <a:prstGeom prst="rect">
            <a:avLst/>
          </a:prstGeom>
          <a:noFill/>
          <a:ln/>
        </p:spPr>
        <p:txBody>
          <a:bodyPr wrap="square" lIns="0" tIns="0" rIns="0" bIns="0" rtlCol="0" anchor="ctr"/>
          <a:lstStyle/>
          <a:p>
            <a:pPr algn="l" indent="0" marL="0">
              <a:buNone/>
            </a:pPr>
            <a:r>
              <a:rPr lang="en-US" sz="1000" dirty="0">
                <a:solidFill>
                  <a:srgbClr val="8BA3B0"/>
                </a:solidFill>
                <a:latin typeface="Calibri" pitchFamily="34" charset="0"/>
                <a:ea typeface="Calibri" pitchFamily="34" charset="-122"/>
                <a:cs typeface="Calibri" pitchFamily="34" charset="-120"/>
              </a:rPr>
              <a:t>Achievements &amp; future work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F38"/>
          </a:solidFill>
          <a:ln w="12700">
            <a:solidFill>
              <a:srgbClr val="0D1F3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algn="l" indent="0" marL="0">
              <a:buNone/>
            </a:pPr>
            <a:r>
              <a:rPr lang="en-US" sz="1100" b="1" spc="400" kern="0" dirty="0">
                <a:solidFill>
                  <a:srgbClr val="1ABFBF"/>
                </a:solidFill>
                <a:latin typeface="Calibri" pitchFamily="34" charset="0"/>
                <a:ea typeface="Calibri" pitchFamily="34" charset="-122"/>
                <a:cs typeface="Calibri" pitchFamily="34" charset="-120"/>
              </a:rPr>
              <a:t>PROBLEM STATEMENT</a:t>
            </a:r>
            <a:endParaRPr lang="en-US" sz="1100" dirty="0"/>
          </a:p>
        </p:txBody>
      </p:sp>
      <p:sp>
        <p:nvSpPr>
          <p:cNvPr id="4" name="Text 2"/>
          <p:cNvSpPr/>
          <p:nvPr/>
        </p:nvSpPr>
        <p:spPr>
          <a:xfrm>
            <a:off x="457200" y="822960"/>
            <a:ext cx="8229600" cy="45720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Why JKUAT needs SautiYetu</a:t>
            </a:r>
            <a:endParaRPr lang="en-US" sz="2200" dirty="0"/>
          </a:p>
        </p:txBody>
      </p:sp>
      <p:sp>
        <p:nvSpPr>
          <p:cNvPr id="5" name="Shape 3"/>
          <p:cNvSpPr/>
          <p:nvPr/>
        </p:nvSpPr>
        <p:spPr>
          <a:xfrm>
            <a:off x="365760" y="1463040"/>
            <a:ext cx="4023360" cy="1325880"/>
          </a:xfrm>
          <a:prstGeom prst="roundRect">
            <a:avLst>
              <a:gd name="adj" fmla="val 6897"/>
            </a:avLst>
          </a:prstGeom>
          <a:solidFill>
            <a:srgbClr val="0D1F38"/>
          </a:solidFill>
          <a:ln w="12700">
            <a:solidFill>
              <a:srgbClr val="0D7A8A"/>
            </a:solidFill>
            <a:prstDash val="solid"/>
          </a:ln>
        </p:spPr>
      </p:sp>
      <p:pic>
        <p:nvPicPr>
          <p:cNvPr id="6" name="Image 0" descr="preencoded.png">    </p:cNvPr>
          <p:cNvPicPr>
            <a:picLocks noChangeAspect="1"/>
          </p:cNvPicPr>
          <p:nvPr/>
        </p:nvPicPr>
        <p:blipFill>
          <a:blip r:embed="rId1"/>
          <a:stretch>
            <a:fillRect/>
          </a:stretch>
        </p:blipFill>
        <p:spPr>
          <a:xfrm>
            <a:off x="530352" y="1810512"/>
            <a:ext cx="475488" cy="475488"/>
          </a:xfrm>
          <a:prstGeom prst="rect">
            <a:avLst/>
          </a:prstGeom>
        </p:spPr>
      </p:pic>
      <p:sp>
        <p:nvSpPr>
          <p:cNvPr id="7" name="Text 4"/>
          <p:cNvSpPr/>
          <p:nvPr/>
        </p:nvSpPr>
        <p:spPr>
          <a:xfrm>
            <a:off x="1115568" y="1554480"/>
            <a:ext cx="3108960" cy="347472"/>
          </a:xfrm>
          <a:prstGeom prst="rect">
            <a:avLst/>
          </a:prstGeom>
          <a:noFill/>
          <a:ln/>
        </p:spPr>
        <p:txBody>
          <a:bodyPr wrap="square" lIns="0" tIns="0" rIns="0" bIns="0" rtlCol="0" anchor="ctr"/>
          <a:lstStyle/>
          <a:p>
            <a:pPr algn="l" indent="0" marL="0">
              <a:buNone/>
            </a:pPr>
            <a:r>
              <a:rPr lang="en-US" sz="1300" b="1" dirty="0">
                <a:solidFill>
                  <a:srgbClr val="F5A623"/>
                </a:solidFill>
                <a:latin typeface="Calibri" pitchFamily="34" charset="0"/>
                <a:ea typeface="Calibri" pitchFamily="34" charset="-122"/>
                <a:cs typeface="Calibri" pitchFamily="34" charset="-120"/>
              </a:rPr>
              <a:t>Fragmented Channels</a:t>
            </a:r>
            <a:endParaRPr lang="en-US" sz="1300" dirty="0"/>
          </a:p>
        </p:txBody>
      </p:sp>
      <p:sp>
        <p:nvSpPr>
          <p:cNvPr id="8" name="Text 5"/>
          <p:cNvSpPr/>
          <p:nvPr/>
        </p:nvSpPr>
        <p:spPr>
          <a:xfrm>
            <a:off x="1115568" y="1901952"/>
            <a:ext cx="3108960" cy="749808"/>
          </a:xfrm>
          <a:prstGeom prst="rect">
            <a:avLst/>
          </a:prstGeom>
          <a:noFill/>
          <a:ln/>
        </p:spPr>
        <p:txBody>
          <a:bodyPr wrap="square" lIns="0" tIns="0" rIns="0" bIns="0" rtlCol="0" anchor="ctr"/>
          <a:lstStyle/>
          <a:p>
            <a:pPr algn="l" indent="0" marL="0">
              <a:buNone/>
            </a:pPr>
            <a:r>
              <a:rPr lang="en-US" sz="1050" dirty="0">
                <a:solidFill>
                  <a:srgbClr val="8BA3B0"/>
                </a:solidFill>
                <a:latin typeface="Calibri" pitchFamily="34" charset="0"/>
                <a:ea typeface="Calibri" pitchFamily="34" charset="-122"/>
                <a:cs typeface="Calibri" pitchFamily="34" charset="-120"/>
              </a:rPr>
              <a:t>Suggestion boxes, printed forms &amp; open forums generate data that is rarely collated or analysed.</a:t>
            </a:r>
            <a:endParaRPr lang="en-US" sz="1050" dirty="0"/>
          </a:p>
        </p:txBody>
      </p:sp>
      <p:sp>
        <p:nvSpPr>
          <p:cNvPr id="9" name="Shape 6"/>
          <p:cNvSpPr/>
          <p:nvPr/>
        </p:nvSpPr>
        <p:spPr>
          <a:xfrm>
            <a:off x="4709160" y="1463040"/>
            <a:ext cx="4023360" cy="1325880"/>
          </a:xfrm>
          <a:prstGeom prst="roundRect">
            <a:avLst>
              <a:gd name="adj" fmla="val 6897"/>
            </a:avLst>
          </a:prstGeom>
          <a:solidFill>
            <a:srgbClr val="0D1F38"/>
          </a:solidFill>
          <a:ln w="12700">
            <a:solidFill>
              <a:srgbClr val="0D7A8A"/>
            </a:solidFill>
            <a:prstDash val="solid"/>
          </a:ln>
        </p:spPr>
      </p:sp>
      <p:pic>
        <p:nvPicPr>
          <p:cNvPr id="10" name="Image 1" descr="preencoded.png">    </p:cNvPr>
          <p:cNvPicPr>
            <a:picLocks noChangeAspect="1"/>
          </p:cNvPicPr>
          <p:nvPr/>
        </p:nvPicPr>
        <p:blipFill>
          <a:blip r:embed="rId2"/>
          <a:stretch>
            <a:fillRect/>
          </a:stretch>
        </p:blipFill>
        <p:spPr>
          <a:xfrm>
            <a:off x="4873752" y="1810512"/>
            <a:ext cx="475488" cy="475488"/>
          </a:xfrm>
          <a:prstGeom prst="rect">
            <a:avLst/>
          </a:prstGeom>
        </p:spPr>
      </p:pic>
      <p:sp>
        <p:nvSpPr>
          <p:cNvPr id="11" name="Text 7"/>
          <p:cNvSpPr/>
          <p:nvPr/>
        </p:nvSpPr>
        <p:spPr>
          <a:xfrm>
            <a:off x="5458968" y="1554480"/>
            <a:ext cx="3108960" cy="347472"/>
          </a:xfrm>
          <a:prstGeom prst="rect">
            <a:avLst/>
          </a:prstGeom>
          <a:noFill/>
          <a:ln/>
        </p:spPr>
        <p:txBody>
          <a:bodyPr wrap="square" lIns="0" tIns="0" rIns="0" bIns="0" rtlCol="0" anchor="ctr"/>
          <a:lstStyle/>
          <a:p>
            <a:pPr algn="l" indent="0" marL="0">
              <a:buNone/>
            </a:pPr>
            <a:r>
              <a:rPr lang="en-US" sz="1300" b="1" dirty="0">
                <a:solidFill>
                  <a:srgbClr val="F5A623"/>
                </a:solidFill>
                <a:latin typeface="Calibri" pitchFamily="34" charset="0"/>
                <a:ea typeface="Calibri" pitchFamily="34" charset="-122"/>
                <a:cs typeface="Calibri" pitchFamily="34" charset="-120"/>
              </a:rPr>
              <a:t>Manual Analysis = Bias</a:t>
            </a:r>
            <a:endParaRPr lang="en-US" sz="1300" dirty="0"/>
          </a:p>
        </p:txBody>
      </p:sp>
      <p:sp>
        <p:nvSpPr>
          <p:cNvPr id="12" name="Text 8"/>
          <p:cNvSpPr/>
          <p:nvPr/>
        </p:nvSpPr>
        <p:spPr>
          <a:xfrm>
            <a:off x="5458968" y="1901952"/>
            <a:ext cx="3108960" cy="749808"/>
          </a:xfrm>
          <a:prstGeom prst="rect">
            <a:avLst/>
          </a:prstGeom>
          <a:noFill/>
          <a:ln/>
        </p:spPr>
        <p:txBody>
          <a:bodyPr wrap="square" lIns="0" tIns="0" rIns="0" bIns="0" rtlCol="0" anchor="ctr"/>
          <a:lstStyle/>
          <a:p>
            <a:pPr algn="l" indent="0" marL="0">
              <a:buNone/>
            </a:pPr>
            <a:r>
              <a:rPr lang="en-US" sz="1050" dirty="0">
                <a:solidFill>
                  <a:srgbClr val="8BA3B0"/>
                </a:solidFill>
                <a:latin typeface="Calibri" pitchFamily="34" charset="0"/>
                <a:ea typeface="Calibri" pitchFamily="34" charset="-122"/>
                <a:cs typeface="Calibri" pitchFamily="34" charset="-120"/>
              </a:rPr>
              <a:t>Selective reporting and delayed responses reduce student trust and institutional engagement.</a:t>
            </a:r>
            <a:endParaRPr lang="en-US" sz="1050" dirty="0"/>
          </a:p>
        </p:txBody>
      </p:sp>
      <p:sp>
        <p:nvSpPr>
          <p:cNvPr id="13" name="Shape 9"/>
          <p:cNvSpPr/>
          <p:nvPr/>
        </p:nvSpPr>
        <p:spPr>
          <a:xfrm>
            <a:off x="365760" y="3017520"/>
            <a:ext cx="4023360" cy="1325880"/>
          </a:xfrm>
          <a:prstGeom prst="roundRect">
            <a:avLst>
              <a:gd name="adj" fmla="val 6897"/>
            </a:avLst>
          </a:prstGeom>
          <a:solidFill>
            <a:srgbClr val="0D1F38"/>
          </a:solidFill>
          <a:ln w="12700">
            <a:solidFill>
              <a:srgbClr val="0D7A8A"/>
            </a:solidFill>
            <a:prstDash val="solid"/>
          </a:ln>
        </p:spPr>
      </p:sp>
      <p:pic>
        <p:nvPicPr>
          <p:cNvPr id="14" name="Image 2" descr="preencoded.png">    </p:cNvPr>
          <p:cNvPicPr>
            <a:picLocks noChangeAspect="1"/>
          </p:cNvPicPr>
          <p:nvPr/>
        </p:nvPicPr>
        <p:blipFill>
          <a:blip r:embed="rId3"/>
          <a:stretch>
            <a:fillRect/>
          </a:stretch>
        </p:blipFill>
        <p:spPr>
          <a:xfrm>
            <a:off x="530352" y="3364992"/>
            <a:ext cx="475488" cy="475488"/>
          </a:xfrm>
          <a:prstGeom prst="rect">
            <a:avLst/>
          </a:prstGeom>
        </p:spPr>
      </p:pic>
      <p:sp>
        <p:nvSpPr>
          <p:cNvPr id="15" name="Text 10"/>
          <p:cNvSpPr/>
          <p:nvPr/>
        </p:nvSpPr>
        <p:spPr>
          <a:xfrm>
            <a:off x="1115568" y="3108960"/>
            <a:ext cx="3108960" cy="347472"/>
          </a:xfrm>
          <a:prstGeom prst="rect">
            <a:avLst/>
          </a:prstGeom>
          <a:noFill/>
          <a:ln/>
        </p:spPr>
        <p:txBody>
          <a:bodyPr wrap="square" lIns="0" tIns="0" rIns="0" bIns="0" rtlCol="0" anchor="ctr"/>
          <a:lstStyle/>
          <a:p>
            <a:pPr algn="l" indent="0" marL="0">
              <a:buNone/>
            </a:pPr>
            <a:r>
              <a:rPr lang="en-US" sz="1300" b="1" dirty="0">
                <a:solidFill>
                  <a:srgbClr val="F5A623"/>
                </a:solidFill>
                <a:latin typeface="Calibri" pitchFamily="34" charset="0"/>
                <a:ea typeface="Calibri" pitchFamily="34" charset="-122"/>
                <a:cs typeface="Calibri" pitchFamily="34" charset="-120"/>
              </a:rPr>
              <a:t>No Analytical Layer</a:t>
            </a:r>
            <a:endParaRPr lang="en-US" sz="1300" dirty="0"/>
          </a:p>
        </p:txBody>
      </p:sp>
      <p:sp>
        <p:nvSpPr>
          <p:cNvPr id="16" name="Text 11"/>
          <p:cNvSpPr/>
          <p:nvPr/>
        </p:nvSpPr>
        <p:spPr>
          <a:xfrm>
            <a:off x="1115568" y="3456432"/>
            <a:ext cx="3108960" cy="749808"/>
          </a:xfrm>
          <a:prstGeom prst="rect">
            <a:avLst/>
          </a:prstGeom>
          <a:noFill/>
          <a:ln/>
        </p:spPr>
        <p:txBody>
          <a:bodyPr wrap="square" lIns="0" tIns="0" rIns="0" bIns="0" rtlCol="0" anchor="ctr"/>
          <a:lstStyle/>
          <a:p>
            <a:pPr algn="l" indent="0" marL="0">
              <a:buNone/>
            </a:pPr>
            <a:r>
              <a:rPr lang="en-US" sz="1050" dirty="0">
                <a:solidFill>
                  <a:srgbClr val="8BA3B0"/>
                </a:solidFill>
                <a:latin typeface="Calibri" pitchFamily="34" charset="0"/>
                <a:ea typeface="Calibri" pitchFamily="34" charset="-122"/>
                <a:cs typeface="Calibri" pitchFamily="34" charset="-120"/>
              </a:rPr>
              <a:t>Administrators cannot quantify sentiment trends or systematically identify dominant issues at scale.</a:t>
            </a:r>
            <a:endParaRPr lang="en-US" sz="1050" dirty="0"/>
          </a:p>
        </p:txBody>
      </p:sp>
      <p:sp>
        <p:nvSpPr>
          <p:cNvPr id="17" name="Shape 12"/>
          <p:cNvSpPr/>
          <p:nvPr/>
        </p:nvSpPr>
        <p:spPr>
          <a:xfrm>
            <a:off x="4709160" y="3017520"/>
            <a:ext cx="4023360" cy="1325880"/>
          </a:xfrm>
          <a:prstGeom prst="roundRect">
            <a:avLst>
              <a:gd name="adj" fmla="val 6897"/>
            </a:avLst>
          </a:prstGeom>
          <a:solidFill>
            <a:srgbClr val="0D1F38"/>
          </a:solidFill>
          <a:ln w="12700">
            <a:solidFill>
              <a:srgbClr val="0D7A8A"/>
            </a:solidFill>
            <a:prstDash val="solid"/>
          </a:ln>
        </p:spPr>
      </p:sp>
      <p:pic>
        <p:nvPicPr>
          <p:cNvPr id="18" name="Image 3" descr="preencoded.png">    </p:cNvPr>
          <p:cNvPicPr>
            <a:picLocks noChangeAspect="1"/>
          </p:cNvPicPr>
          <p:nvPr/>
        </p:nvPicPr>
        <p:blipFill>
          <a:blip r:embed="rId4"/>
          <a:stretch>
            <a:fillRect/>
          </a:stretch>
        </p:blipFill>
        <p:spPr>
          <a:xfrm>
            <a:off x="4873752" y="3364992"/>
            <a:ext cx="475488" cy="475488"/>
          </a:xfrm>
          <a:prstGeom prst="rect">
            <a:avLst/>
          </a:prstGeom>
        </p:spPr>
      </p:pic>
      <p:sp>
        <p:nvSpPr>
          <p:cNvPr id="19" name="Text 13"/>
          <p:cNvSpPr/>
          <p:nvPr/>
        </p:nvSpPr>
        <p:spPr>
          <a:xfrm>
            <a:off x="5458968" y="3108960"/>
            <a:ext cx="3108960" cy="347472"/>
          </a:xfrm>
          <a:prstGeom prst="rect">
            <a:avLst/>
          </a:prstGeom>
          <a:noFill/>
          <a:ln/>
        </p:spPr>
        <p:txBody>
          <a:bodyPr wrap="square" lIns="0" tIns="0" rIns="0" bIns="0" rtlCol="0" anchor="ctr"/>
          <a:lstStyle/>
          <a:p>
            <a:pPr algn="l" indent="0" marL="0">
              <a:buNone/>
            </a:pPr>
            <a:r>
              <a:rPr lang="en-US" sz="1300" b="1" dirty="0">
                <a:solidFill>
                  <a:srgbClr val="F5A623"/>
                </a:solidFill>
                <a:latin typeface="Calibri" pitchFamily="34" charset="0"/>
                <a:ea typeface="Calibri" pitchFamily="34" charset="-122"/>
                <a:cs typeface="Calibri" pitchFamily="34" charset="-120"/>
              </a:rPr>
              <a:t>Digital Divide</a:t>
            </a:r>
            <a:endParaRPr lang="en-US" sz="1300" dirty="0"/>
          </a:p>
        </p:txBody>
      </p:sp>
      <p:sp>
        <p:nvSpPr>
          <p:cNvPr id="20" name="Text 14"/>
          <p:cNvSpPr/>
          <p:nvPr/>
        </p:nvSpPr>
        <p:spPr>
          <a:xfrm>
            <a:off x="5458968" y="3456432"/>
            <a:ext cx="3108960" cy="749808"/>
          </a:xfrm>
          <a:prstGeom prst="rect">
            <a:avLst/>
          </a:prstGeom>
          <a:noFill/>
          <a:ln/>
        </p:spPr>
        <p:txBody>
          <a:bodyPr wrap="square" lIns="0" tIns="0" rIns="0" bIns="0" rtlCol="0" anchor="ctr"/>
          <a:lstStyle/>
          <a:p>
            <a:pPr algn="l" indent="0" marL="0">
              <a:buNone/>
            </a:pPr>
            <a:r>
              <a:rPr lang="en-US" sz="1050" dirty="0">
                <a:solidFill>
                  <a:srgbClr val="8BA3B0"/>
                </a:solidFill>
                <a:latin typeface="Calibri" pitchFamily="34" charset="0"/>
                <a:ea typeface="Calibri" pitchFamily="34" charset="-122"/>
                <a:cs typeface="Calibri" pitchFamily="34" charset="-120"/>
              </a:rPr>
              <a:t>12.5% of surveyed students use NO feedback channel; non-smartphone users are excluded entirely.</a:t>
            </a:r>
            <a:endParaRPr lang="en-US" sz="1050" dirty="0"/>
          </a:p>
        </p:txBody>
      </p:sp>
      <p:sp>
        <p:nvSpPr>
          <p:cNvPr id="21" name="Shape 15"/>
          <p:cNvSpPr/>
          <p:nvPr/>
        </p:nvSpPr>
        <p:spPr>
          <a:xfrm>
            <a:off x="365760" y="4572000"/>
            <a:ext cx="8412480" cy="411480"/>
          </a:xfrm>
          <a:prstGeom prst="roundRect">
            <a:avLst>
              <a:gd name="adj" fmla="val 15556"/>
            </a:avLst>
          </a:prstGeom>
          <a:solidFill>
            <a:srgbClr val="E74C3C">
              <a:alpha val="80000"/>
            </a:srgbClr>
          </a:solidFill>
          <a:ln w="12700">
            <a:solidFill>
              <a:srgbClr val="E74C3C"/>
            </a:solidFill>
            <a:prstDash val="solid"/>
          </a:ln>
        </p:spPr>
      </p:sp>
      <p:sp>
        <p:nvSpPr>
          <p:cNvPr id="22" name="Text 16"/>
          <p:cNvSpPr/>
          <p:nvPr/>
        </p:nvSpPr>
        <p:spPr>
          <a:xfrm>
            <a:off x="457200" y="4572000"/>
            <a:ext cx="82296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55% of surveyed respondents give feedback rarely or NEVER — confirming the urgent need for a smarter system.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algn="l" indent="0" marL="0">
              <a:buNone/>
            </a:pPr>
            <a:r>
              <a:rPr lang="en-US" sz="1100" b="1" spc="400" kern="0" dirty="0">
                <a:solidFill>
                  <a:srgbClr val="1ABFBF"/>
                </a:solidFill>
                <a:latin typeface="Calibri" pitchFamily="34" charset="0"/>
                <a:ea typeface="Calibri" pitchFamily="34" charset="-122"/>
                <a:cs typeface="Calibri" pitchFamily="34" charset="-120"/>
              </a:rPr>
              <a:t>PROPOSED SOLUTION</a:t>
            </a:r>
            <a:endParaRPr lang="en-US" sz="1100" dirty="0"/>
          </a:p>
        </p:txBody>
      </p:sp>
      <p:sp>
        <p:nvSpPr>
          <p:cNvPr id="4" name="Text 2"/>
          <p:cNvSpPr/>
          <p:nvPr/>
        </p:nvSpPr>
        <p:spPr>
          <a:xfrm>
            <a:off x="457200" y="822960"/>
            <a:ext cx="5029200" cy="777240"/>
          </a:xfrm>
          <a:prstGeom prst="rect">
            <a:avLst/>
          </a:prstGeom>
          <a:noFill/>
          <a:ln/>
        </p:spPr>
        <p:txBody>
          <a:bodyPr wrap="square" lIns="0" tIns="0" rIns="0" bIns="0" rtlCol="0" anchor="ctr"/>
          <a:lstStyle/>
          <a:p>
            <a:pPr algn="l" indent="0" marL="0">
              <a:buNone/>
            </a:pPr>
            <a:r>
              <a:rPr lang="en-US" sz="4800" b="1" dirty="0">
                <a:solidFill>
                  <a:srgbClr val="0A1628"/>
                </a:solidFill>
                <a:latin typeface="Cambria" pitchFamily="34" charset="0"/>
                <a:ea typeface="Cambria" pitchFamily="34" charset="-122"/>
                <a:cs typeface="Cambria" pitchFamily="34" charset="-120"/>
              </a:rPr>
              <a:t>SautiYetu</a:t>
            </a:r>
            <a:endParaRPr lang="en-US" sz="4800" dirty="0"/>
          </a:p>
        </p:txBody>
      </p:sp>
      <p:sp>
        <p:nvSpPr>
          <p:cNvPr id="5" name="Text 3"/>
          <p:cNvSpPr/>
          <p:nvPr/>
        </p:nvSpPr>
        <p:spPr>
          <a:xfrm>
            <a:off x="457200" y="1600200"/>
            <a:ext cx="5303520" cy="777240"/>
          </a:xfrm>
          <a:prstGeom prst="rect">
            <a:avLst/>
          </a:prstGeom>
          <a:noFill/>
          <a:ln/>
        </p:spPr>
        <p:txBody>
          <a:bodyPr wrap="square" lIns="0" tIns="0" rIns="0" bIns="0" rtlCol="0" anchor="ctr"/>
          <a:lstStyle/>
          <a:p>
            <a:pPr algn="l" indent="0" marL="0">
              <a:buNone/>
            </a:pPr>
            <a:r>
              <a:rPr lang="en-US" sz="1300" dirty="0">
                <a:solidFill>
                  <a:srgbClr val="8BA3B0"/>
                </a:solidFill>
                <a:latin typeface="Calibri" pitchFamily="34" charset="0"/>
                <a:ea typeface="Calibri" pitchFamily="34" charset="-122"/>
                <a:cs typeface="Calibri" pitchFamily="34" charset="-120"/>
              </a:rPr>
              <a:t>An AI-powered system that automates collection, analysis, and</a:t>
            </a:r>
            <a:endParaRPr lang="en-US" sz="1300" dirty="0"/>
          </a:p>
          <a:p>
            <a:pPr algn="l" indent="0" marL="0">
              <a:buNone/>
            </a:pPr>
            <a:r>
              <a:rPr lang="en-US" sz="1300" dirty="0">
                <a:solidFill>
                  <a:srgbClr val="8BA3B0"/>
                </a:solidFill>
                <a:latin typeface="Calibri" pitchFamily="34" charset="0"/>
                <a:ea typeface="Calibri" pitchFamily="34" charset="-122"/>
                <a:cs typeface="Calibri" pitchFamily="34" charset="-120"/>
              </a:rPr>
              <a:t>visualisation of stakeholder feedback at JKUAT.</a:t>
            </a:r>
            <a:endParaRPr lang="en-US" sz="1300" dirty="0"/>
          </a:p>
        </p:txBody>
      </p:sp>
      <p:sp>
        <p:nvSpPr>
          <p:cNvPr id="6" name="Shape 4"/>
          <p:cNvSpPr/>
          <p:nvPr/>
        </p:nvSpPr>
        <p:spPr>
          <a:xfrm>
            <a:off x="365760" y="2514600"/>
            <a:ext cx="2468880" cy="594360"/>
          </a:xfrm>
          <a:prstGeom prst="roundRect">
            <a:avLst>
              <a:gd name="adj" fmla="val 12308"/>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457200" y="2633472"/>
            <a:ext cx="347472" cy="347472"/>
          </a:xfrm>
          <a:prstGeom prst="rect">
            <a:avLst/>
          </a:prstGeom>
        </p:spPr>
      </p:pic>
      <p:sp>
        <p:nvSpPr>
          <p:cNvPr id="8" name="Text 5"/>
          <p:cNvSpPr/>
          <p:nvPr/>
        </p:nvSpPr>
        <p:spPr>
          <a:xfrm>
            <a:off x="877824" y="2624328"/>
            <a:ext cx="1874520" cy="384048"/>
          </a:xfrm>
          <a:prstGeom prst="rect">
            <a:avLst/>
          </a:prstGeom>
          <a:noFill/>
          <a:ln/>
        </p:spPr>
        <p:txBody>
          <a:bodyPr wrap="square" lIns="0" tIns="0" rIns="0" bIns="0" rtlCol="0" anchor="ctr"/>
          <a:lstStyle/>
          <a:p>
            <a:pPr algn="l" indent="0" marL="0">
              <a:buNone/>
            </a:pPr>
            <a:r>
              <a:rPr lang="en-US" sz="1050" b="1" dirty="0">
                <a:solidFill>
                  <a:srgbClr val="0A1628"/>
                </a:solidFill>
                <a:latin typeface="Calibri" pitchFamily="34" charset="0"/>
                <a:ea typeface="Calibri" pitchFamily="34" charset="-122"/>
                <a:cs typeface="Calibri" pitchFamily="34" charset="-120"/>
              </a:rPr>
              <a:t>Web Forms</a:t>
            </a:r>
            <a:endParaRPr lang="en-US" sz="1050" dirty="0"/>
          </a:p>
        </p:txBody>
      </p:sp>
      <p:sp>
        <p:nvSpPr>
          <p:cNvPr id="9" name="Shape 6"/>
          <p:cNvSpPr/>
          <p:nvPr/>
        </p:nvSpPr>
        <p:spPr>
          <a:xfrm>
            <a:off x="3108960" y="2514600"/>
            <a:ext cx="2468880" cy="594360"/>
          </a:xfrm>
          <a:prstGeom prst="roundRect">
            <a:avLst>
              <a:gd name="adj" fmla="val 12308"/>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pic>
        <p:nvPicPr>
          <p:cNvPr id="10" name="Image 1" descr="preencoded.png">    </p:cNvPr>
          <p:cNvPicPr>
            <a:picLocks noChangeAspect="1"/>
          </p:cNvPicPr>
          <p:nvPr/>
        </p:nvPicPr>
        <p:blipFill>
          <a:blip r:embed="rId2"/>
          <a:stretch>
            <a:fillRect/>
          </a:stretch>
        </p:blipFill>
        <p:spPr>
          <a:xfrm>
            <a:off x="3200400" y="2633472"/>
            <a:ext cx="347472" cy="347472"/>
          </a:xfrm>
          <a:prstGeom prst="rect">
            <a:avLst/>
          </a:prstGeom>
        </p:spPr>
      </p:pic>
      <p:sp>
        <p:nvSpPr>
          <p:cNvPr id="11" name="Text 7"/>
          <p:cNvSpPr/>
          <p:nvPr/>
        </p:nvSpPr>
        <p:spPr>
          <a:xfrm>
            <a:off x="3621024" y="2624328"/>
            <a:ext cx="1874520" cy="384048"/>
          </a:xfrm>
          <a:prstGeom prst="rect">
            <a:avLst/>
          </a:prstGeom>
          <a:noFill/>
          <a:ln/>
        </p:spPr>
        <p:txBody>
          <a:bodyPr wrap="square" lIns="0" tIns="0" rIns="0" bIns="0" rtlCol="0" anchor="ctr"/>
          <a:lstStyle/>
          <a:p>
            <a:pPr algn="l" indent="0" marL="0">
              <a:buNone/>
            </a:pPr>
            <a:r>
              <a:rPr lang="en-US" sz="1050" b="1" dirty="0">
                <a:solidFill>
                  <a:srgbClr val="0A1628"/>
                </a:solidFill>
                <a:latin typeface="Calibri" pitchFamily="34" charset="0"/>
                <a:ea typeface="Calibri" pitchFamily="34" charset="-122"/>
                <a:cs typeface="Calibri" pitchFamily="34" charset="-120"/>
              </a:rPr>
              <a:t>SMS (Africa's Talking)</a:t>
            </a:r>
            <a:endParaRPr lang="en-US" sz="1050" dirty="0"/>
          </a:p>
        </p:txBody>
      </p:sp>
      <p:sp>
        <p:nvSpPr>
          <p:cNvPr id="12" name="Shape 8"/>
          <p:cNvSpPr/>
          <p:nvPr/>
        </p:nvSpPr>
        <p:spPr>
          <a:xfrm>
            <a:off x="365760" y="3291840"/>
            <a:ext cx="2468880" cy="594360"/>
          </a:xfrm>
          <a:prstGeom prst="roundRect">
            <a:avLst>
              <a:gd name="adj" fmla="val 12308"/>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pic>
        <p:nvPicPr>
          <p:cNvPr id="13" name="Image 2" descr="preencoded.png">    </p:cNvPr>
          <p:cNvPicPr>
            <a:picLocks noChangeAspect="1"/>
          </p:cNvPicPr>
          <p:nvPr/>
        </p:nvPicPr>
        <p:blipFill>
          <a:blip r:embed="rId3"/>
          <a:stretch>
            <a:fillRect/>
          </a:stretch>
        </p:blipFill>
        <p:spPr>
          <a:xfrm>
            <a:off x="457200" y="3410712"/>
            <a:ext cx="347472" cy="347472"/>
          </a:xfrm>
          <a:prstGeom prst="rect">
            <a:avLst/>
          </a:prstGeom>
        </p:spPr>
      </p:pic>
      <p:sp>
        <p:nvSpPr>
          <p:cNvPr id="14" name="Text 9"/>
          <p:cNvSpPr/>
          <p:nvPr/>
        </p:nvSpPr>
        <p:spPr>
          <a:xfrm>
            <a:off x="877824" y="3401568"/>
            <a:ext cx="1874520" cy="384048"/>
          </a:xfrm>
          <a:prstGeom prst="rect">
            <a:avLst/>
          </a:prstGeom>
          <a:noFill/>
          <a:ln/>
        </p:spPr>
        <p:txBody>
          <a:bodyPr wrap="square" lIns="0" tIns="0" rIns="0" bIns="0" rtlCol="0" anchor="ctr"/>
          <a:lstStyle/>
          <a:p>
            <a:pPr algn="l" indent="0" marL="0">
              <a:buNone/>
            </a:pPr>
            <a:r>
              <a:rPr lang="en-US" sz="1050" b="1" dirty="0">
                <a:solidFill>
                  <a:srgbClr val="0A1628"/>
                </a:solidFill>
                <a:latin typeface="Calibri" pitchFamily="34" charset="0"/>
                <a:ea typeface="Calibri" pitchFamily="34" charset="-122"/>
                <a:cs typeface="Calibri" pitchFamily="34" charset="-120"/>
              </a:rPr>
              <a:t>Audio Transcription (Whisper)</a:t>
            </a:r>
            <a:endParaRPr lang="en-US" sz="1050" dirty="0"/>
          </a:p>
        </p:txBody>
      </p:sp>
      <p:sp>
        <p:nvSpPr>
          <p:cNvPr id="15" name="Shape 10"/>
          <p:cNvSpPr/>
          <p:nvPr/>
        </p:nvSpPr>
        <p:spPr>
          <a:xfrm>
            <a:off x="3108960" y="3291840"/>
            <a:ext cx="2468880" cy="594360"/>
          </a:xfrm>
          <a:prstGeom prst="roundRect">
            <a:avLst>
              <a:gd name="adj" fmla="val 12308"/>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pic>
        <p:nvPicPr>
          <p:cNvPr id="16" name="Image 3" descr="preencoded.png">    </p:cNvPr>
          <p:cNvPicPr>
            <a:picLocks noChangeAspect="1"/>
          </p:cNvPicPr>
          <p:nvPr/>
        </p:nvPicPr>
        <p:blipFill>
          <a:blip r:embed="rId4"/>
          <a:stretch>
            <a:fillRect/>
          </a:stretch>
        </p:blipFill>
        <p:spPr>
          <a:xfrm>
            <a:off x="3200400" y="3410712"/>
            <a:ext cx="347472" cy="347472"/>
          </a:xfrm>
          <a:prstGeom prst="rect">
            <a:avLst/>
          </a:prstGeom>
        </p:spPr>
      </p:pic>
      <p:sp>
        <p:nvSpPr>
          <p:cNvPr id="17" name="Text 11"/>
          <p:cNvSpPr/>
          <p:nvPr/>
        </p:nvSpPr>
        <p:spPr>
          <a:xfrm>
            <a:off x="3621024" y="3401568"/>
            <a:ext cx="1874520" cy="384048"/>
          </a:xfrm>
          <a:prstGeom prst="rect">
            <a:avLst/>
          </a:prstGeom>
          <a:noFill/>
          <a:ln/>
        </p:spPr>
        <p:txBody>
          <a:bodyPr wrap="square" lIns="0" tIns="0" rIns="0" bIns="0" rtlCol="0" anchor="ctr"/>
          <a:lstStyle/>
          <a:p>
            <a:pPr algn="l" indent="0" marL="0">
              <a:buNone/>
            </a:pPr>
            <a:r>
              <a:rPr lang="en-US" sz="1050" b="1" dirty="0">
                <a:solidFill>
                  <a:srgbClr val="0A1628"/>
                </a:solidFill>
                <a:latin typeface="Calibri" pitchFamily="34" charset="0"/>
                <a:ea typeface="Calibri" pitchFamily="34" charset="-122"/>
                <a:cs typeface="Calibri" pitchFamily="34" charset="-120"/>
              </a:rPr>
              <a:t>NLP Sentiment Analysis</a:t>
            </a:r>
            <a:endParaRPr lang="en-US" sz="1050" dirty="0"/>
          </a:p>
        </p:txBody>
      </p:sp>
      <p:sp>
        <p:nvSpPr>
          <p:cNvPr id="18" name="Shape 12"/>
          <p:cNvSpPr/>
          <p:nvPr/>
        </p:nvSpPr>
        <p:spPr>
          <a:xfrm>
            <a:off x="365760" y="4069080"/>
            <a:ext cx="2468880" cy="594360"/>
          </a:xfrm>
          <a:prstGeom prst="roundRect">
            <a:avLst>
              <a:gd name="adj" fmla="val 12308"/>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pic>
        <p:nvPicPr>
          <p:cNvPr id="19" name="Image 4" descr="preencoded.png">    </p:cNvPr>
          <p:cNvPicPr>
            <a:picLocks noChangeAspect="1"/>
          </p:cNvPicPr>
          <p:nvPr/>
        </p:nvPicPr>
        <p:blipFill>
          <a:blip r:embed="rId5"/>
          <a:stretch>
            <a:fillRect/>
          </a:stretch>
        </p:blipFill>
        <p:spPr>
          <a:xfrm>
            <a:off x="457200" y="4187952"/>
            <a:ext cx="347472" cy="347472"/>
          </a:xfrm>
          <a:prstGeom prst="rect">
            <a:avLst/>
          </a:prstGeom>
        </p:spPr>
      </p:pic>
      <p:sp>
        <p:nvSpPr>
          <p:cNvPr id="20" name="Text 13"/>
          <p:cNvSpPr/>
          <p:nvPr/>
        </p:nvSpPr>
        <p:spPr>
          <a:xfrm>
            <a:off x="877824" y="4178808"/>
            <a:ext cx="1874520" cy="384048"/>
          </a:xfrm>
          <a:prstGeom prst="rect">
            <a:avLst/>
          </a:prstGeom>
          <a:noFill/>
          <a:ln/>
        </p:spPr>
        <p:txBody>
          <a:bodyPr wrap="square" lIns="0" tIns="0" rIns="0" bIns="0" rtlCol="0" anchor="ctr"/>
          <a:lstStyle/>
          <a:p>
            <a:pPr algn="l" indent="0" marL="0">
              <a:buNone/>
            </a:pPr>
            <a:r>
              <a:rPr lang="en-US" sz="1050" b="1" dirty="0">
                <a:solidFill>
                  <a:srgbClr val="0A1628"/>
                </a:solidFill>
                <a:latin typeface="Calibri" pitchFamily="34" charset="0"/>
                <a:ea typeface="Calibri" pitchFamily="34" charset="-122"/>
                <a:cs typeface="Calibri" pitchFamily="34" charset="-120"/>
              </a:rPr>
              <a:t>Real-Time Dashboard</a:t>
            </a:r>
            <a:endParaRPr lang="en-US" sz="1050" dirty="0"/>
          </a:p>
        </p:txBody>
      </p:sp>
      <p:sp>
        <p:nvSpPr>
          <p:cNvPr id="21" name="Shape 14"/>
          <p:cNvSpPr/>
          <p:nvPr/>
        </p:nvSpPr>
        <p:spPr>
          <a:xfrm>
            <a:off x="3108960" y="4069080"/>
            <a:ext cx="2468880" cy="594360"/>
          </a:xfrm>
          <a:prstGeom prst="roundRect">
            <a:avLst>
              <a:gd name="adj" fmla="val 12308"/>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pic>
        <p:nvPicPr>
          <p:cNvPr id="22" name="Image 5" descr="preencoded.png">    </p:cNvPr>
          <p:cNvPicPr>
            <a:picLocks noChangeAspect="1"/>
          </p:cNvPicPr>
          <p:nvPr/>
        </p:nvPicPr>
        <p:blipFill>
          <a:blip r:embed="rId6"/>
          <a:stretch>
            <a:fillRect/>
          </a:stretch>
        </p:blipFill>
        <p:spPr>
          <a:xfrm>
            <a:off x="3200400" y="4187952"/>
            <a:ext cx="347472" cy="347472"/>
          </a:xfrm>
          <a:prstGeom prst="rect">
            <a:avLst/>
          </a:prstGeom>
        </p:spPr>
      </p:pic>
      <p:sp>
        <p:nvSpPr>
          <p:cNvPr id="23" name="Text 15"/>
          <p:cNvSpPr/>
          <p:nvPr/>
        </p:nvSpPr>
        <p:spPr>
          <a:xfrm>
            <a:off x="3621024" y="4178808"/>
            <a:ext cx="1874520" cy="384048"/>
          </a:xfrm>
          <a:prstGeom prst="rect">
            <a:avLst/>
          </a:prstGeom>
          <a:noFill/>
          <a:ln/>
        </p:spPr>
        <p:txBody>
          <a:bodyPr wrap="square" lIns="0" tIns="0" rIns="0" bIns="0" rtlCol="0" anchor="ctr"/>
          <a:lstStyle/>
          <a:p>
            <a:pPr algn="l" indent="0" marL="0">
              <a:buNone/>
            </a:pPr>
            <a:r>
              <a:rPr lang="en-US" sz="1050" b="1" dirty="0">
                <a:solidFill>
                  <a:srgbClr val="0A1628"/>
                </a:solidFill>
                <a:latin typeface="Calibri" pitchFamily="34" charset="0"/>
                <a:ea typeface="Calibri" pitchFamily="34" charset="-122"/>
                <a:cs typeface="Calibri" pitchFamily="34" charset="-120"/>
              </a:rPr>
              <a:t>KDPA 2019 Compliant</a:t>
            </a:r>
            <a:endParaRPr lang="en-US" sz="1050" dirty="0"/>
          </a:p>
        </p:txBody>
      </p:sp>
      <p:sp>
        <p:nvSpPr>
          <p:cNvPr id="24" name="Shape 16"/>
          <p:cNvSpPr/>
          <p:nvPr/>
        </p:nvSpPr>
        <p:spPr>
          <a:xfrm>
            <a:off x="5943600" y="822960"/>
            <a:ext cx="2834640" cy="4114800"/>
          </a:xfrm>
          <a:prstGeom prst="roundRect">
            <a:avLst>
              <a:gd name="adj" fmla="val 3871"/>
            </a:avLst>
          </a:prstGeom>
          <a:solidFill>
            <a:srgbClr val="0A1628"/>
          </a:solidFill>
          <a:ln w="12700">
            <a:solidFill>
              <a:srgbClr val="0A1628"/>
            </a:solidFill>
            <a:prstDash val="solid"/>
          </a:ln>
          <a:effectLst>
            <a:outerShdw sx="100000" sy="100000" kx="0" ky="0" algn="bl" rotWithShape="0" blurRad="101600" dist="38100" dir="2700000">
              <a:srgbClr val="000000">
                <a:alpha val="18000"/>
              </a:srgbClr>
            </a:outerShdw>
          </a:effectLst>
        </p:spPr>
      </p:sp>
      <p:sp>
        <p:nvSpPr>
          <p:cNvPr id="25" name="Text 17"/>
          <p:cNvSpPr/>
          <p:nvPr/>
        </p:nvSpPr>
        <p:spPr>
          <a:xfrm>
            <a:off x="6035040" y="868680"/>
            <a:ext cx="2651760" cy="411480"/>
          </a:xfrm>
          <a:prstGeom prst="rect">
            <a:avLst/>
          </a:prstGeom>
          <a:noFill/>
          <a:ln/>
        </p:spPr>
        <p:txBody>
          <a:bodyPr wrap="square" lIns="0" tIns="0" rIns="0" bIns="0" rtlCol="0" anchor="ctr"/>
          <a:lstStyle/>
          <a:p>
            <a:pPr algn="ctr" indent="0" marL="0">
              <a:buNone/>
            </a:pPr>
            <a:r>
              <a:rPr lang="en-US" sz="1000" b="1" spc="300" kern="0" dirty="0">
                <a:solidFill>
                  <a:srgbClr val="1ABFBF"/>
                </a:solidFill>
                <a:latin typeface="Calibri" pitchFamily="34" charset="0"/>
                <a:ea typeface="Calibri" pitchFamily="34" charset="-122"/>
                <a:cs typeface="Calibri" pitchFamily="34" charset="-120"/>
              </a:rPr>
              <a:t>OBJECTIVES</a:t>
            </a:r>
            <a:endParaRPr lang="en-US" sz="1000" dirty="0"/>
          </a:p>
        </p:txBody>
      </p:sp>
      <p:pic>
        <p:nvPicPr>
          <p:cNvPr id="26" name="Image 6" descr="preencoded.png">    </p:cNvPr>
          <p:cNvPicPr>
            <a:picLocks noChangeAspect="1"/>
          </p:cNvPicPr>
          <p:nvPr/>
        </p:nvPicPr>
        <p:blipFill>
          <a:blip r:embed="rId7"/>
          <a:stretch>
            <a:fillRect/>
          </a:stretch>
        </p:blipFill>
        <p:spPr>
          <a:xfrm>
            <a:off x="6035040" y="1371600"/>
            <a:ext cx="274320" cy="274320"/>
          </a:xfrm>
          <a:prstGeom prst="rect">
            <a:avLst/>
          </a:prstGeom>
        </p:spPr>
      </p:pic>
      <p:sp>
        <p:nvSpPr>
          <p:cNvPr id="27" name="Text 18"/>
          <p:cNvSpPr/>
          <p:nvPr/>
        </p:nvSpPr>
        <p:spPr>
          <a:xfrm>
            <a:off x="6400800" y="1335024"/>
            <a:ext cx="2240280" cy="640080"/>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Multi-channel feedback collection (web, SMS, audio)</a:t>
            </a:r>
            <a:endParaRPr lang="en-US" sz="1000" dirty="0"/>
          </a:p>
        </p:txBody>
      </p:sp>
      <p:pic>
        <p:nvPicPr>
          <p:cNvPr id="28" name="Image 7" descr="preencoded.png">    </p:cNvPr>
          <p:cNvPicPr>
            <a:picLocks noChangeAspect="1"/>
          </p:cNvPicPr>
          <p:nvPr/>
        </p:nvPicPr>
        <p:blipFill>
          <a:blip r:embed="rId8"/>
          <a:stretch>
            <a:fillRect/>
          </a:stretch>
        </p:blipFill>
        <p:spPr>
          <a:xfrm>
            <a:off x="6035040" y="2148840"/>
            <a:ext cx="274320" cy="274320"/>
          </a:xfrm>
          <a:prstGeom prst="rect">
            <a:avLst/>
          </a:prstGeom>
        </p:spPr>
      </p:pic>
      <p:sp>
        <p:nvSpPr>
          <p:cNvPr id="29" name="Text 19"/>
          <p:cNvSpPr/>
          <p:nvPr/>
        </p:nvSpPr>
        <p:spPr>
          <a:xfrm>
            <a:off x="6400800" y="2112264"/>
            <a:ext cx="2240280" cy="640080"/>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NLP-based sentiment analysis &amp; topic modelling</a:t>
            </a:r>
            <a:endParaRPr lang="en-US" sz="1000" dirty="0"/>
          </a:p>
        </p:txBody>
      </p:sp>
      <p:pic>
        <p:nvPicPr>
          <p:cNvPr id="30" name="Image 8" descr="preencoded.png">    </p:cNvPr>
          <p:cNvPicPr>
            <a:picLocks noChangeAspect="1"/>
          </p:cNvPicPr>
          <p:nvPr/>
        </p:nvPicPr>
        <p:blipFill>
          <a:blip r:embed="rId9"/>
          <a:stretch>
            <a:fillRect/>
          </a:stretch>
        </p:blipFill>
        <p:spPr>
          <a:xfrm>
            <a:off x="6035040" y="2926080"/>
            <a:ext cx="274320" cy="274320"/>
          </a:xfrm>
          <a:prstGeom prst="rect">
            <a:avLst/>
          </a:prstGeom>
        </p:spPr>
      </p:pic>
      <p:sp>
        <p:nvSpPr>
          <p:cNvPr id="31" name="Text 20"/>
          <p:cNvSpPr/>
          <p:nvPr/>
        </p:nvSpPr>
        <p:spPr>
          <a:xfrm>
            <a:off x="6400800" y="2889504"/>
            <a:ext cx="2240280" cy="640080"/>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Real-time visualisation dashboards for admins</a:t>
            </a:r>
            <a:endParaRPr lang="en-US" sz="1000" dirty="0"/>
          </a:p>
        </p:txBody>
      </p:sp>
      <p:pic>
        <p:nvPicPr>
          <p:cNvPr id="32" name="Image 9" descr="preencoded.png">    </p:cNvPr>
          <p:cNvPicPr>
            <a:picLocks noChangeAspect="1"/>
          </p:cNvPicPr>
          <p:nvPr/>
        </p:nvPicPr>
        <p:blipFill>
          <a:blip r:embed="rId10"/>
          <a:stretch>
            <a:fillRect/>
          </a:stretch>
        </p:blipFill>
        <p:spPr>
          <a:xfrm>
            <a:off x="6035040" y="3703320"/>
            <a:ext cx="274320" cy="274320"/>
          </a:xfrm>
          <a:prstGeom prst="rect">
            <a:avLst/>
          </a:prstGeom>
        </p:spPr>
      </p:pic>
      <p:sp>
        <p:nvSpPr>
          <p:cNvPr id="33" name="Text 21"/>
          <p:cNvSpPr/>
          <p:nvPr/>
        </p:nvSpPr>
        <p:spPr>
          <a:xfrm>
            <a:off x="6400800" y="3666744"/>
            <a:ext cx="2240280" cy="640080"/>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Evaluate effectiveness &amp; usability at JKUAT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algn="l" indent="0" marL="0">
              <a:buNone/>
            </a:pPr>
            <a:r>
              <a:rPr lang="en-US" sz="1100" b="1" spc="400" kern="0" dirty="0">
                <a:solidFill>
                  <a:srgbClr val="1ABFBF"/>
                </a:solidFill>
                <a:latin typeface="Calibri" pitchFamily="34" charset="0"/>
                <a:ea typeface="Calibri" pitchFamily="34" charset="-122"/>
                <a:cs typeface="Calibri" pitchFamily="34" charset="-120"/>
              </a:rPr>
              <a:t>LITERATURE REVIEW &amp; RESEARCH GAPS</a:t>
            </a:r>
            <a:endParaRPr lang="en-US" sz="1100" dirty="0"/>
          </a:p>
        </p:txBody>
      </p:sp>
      <p:sp>
        <p:nvSpPr>
          <p:cNvPr id="4" name="Shape 2"/>
          <p:cNvSpPr/>
          <p:nvPr/>
        </p:nvSpPr>
        <p:spPr>
          <a:xfrm>
            <a:off x="320040" y="914400"/>
            <a:ext cx="2606040" cy="2743200"/>
          </a:xfrm>
          <a:prstGeom prst="roundRect">
            <a:avLst>
              <a:gd name="adj" fmla="val 350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5" name="Shape 3"/>
          <p:cNvSpPr/>
          <p:nvPr/>
        </p:nvSpPr>
        <p:spPr>
          <a:xfrm>
            <a:off x="320040" y="914400"/>
            <a:ext cx="2606040" cy="475488"/>
          </a:xfrm>
          <a:prstGeom prst="roundRect">
            <a:avLst>
              <a:gd name="adj" fmla="val 19231"/>
            </a:avLst>
          </a:prstGeom>
          <a:solidFill>
            <a:srgbClr val="6B7280"/>
          </a:solidFill>
          <a:ln w="12700">
            <a:solidFill>
              <a:srgbClr val="6B7280"/>
            </a:solidFill>
            <a:prstDash val="solid"/>
          </a:ln>
        </p:spPr>
      </p:sp>
      <p:sp>
        <p:nvSpPr>
          <p:cNvPr id="6" name="Shape 4"/>
          <p:cNvSpPr/>
          <p:nvPr/>
        </p:nvSpPr>
        <p:spPr>
          <a:xfrm>
            <a:off x="320040" y="1143000"/>
            <a:ext cx="2606040" cy="246888"/>
          </a:xfrm>
          <a:prstGeom prst="rect">
            <a:avLst/>
          </a:prstGeom>
          <a:solidFill>
            <a:srgbClr val="6B7280"/>
          </a:solidFill>
          <a:ln w="12700">
            <a:solidFill>
              <a:srgbClr val="6B7280"/>
            </a:solidFill>
            <a:prstDash val="solid"/>
          </a:ln>
        </p:spPr>
      </p:sp>
      <p:sp>
        <p:nvSpPr>
          <p:cNvPr id="7" name="Text 5"/>
          <p:cNvSpPr/>
          <p:nvPr/>
        </p:nvSpPr>
        <p:spPr>
          <a:xfrm>
            <a:off x="411480" y="923544"/>
            <a:ext cx="242316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Traditional — Paper-Based</a:t>
            </a:r>
            <a:endParaRPr lang="en-US" sz="1100" dirty="0"/>
          </a:p>
        </p:txBody>
      </p:sp>
      <p:pic>
        <p:nvPicPr>
          <p:cNvPr id="8" name="Image 0" descr="preencoded.png">    </p:cNvPr>
          <p:cNvPicPr>
            <a:picLocks noChangeAspect="1"/>
          </p:cNvPicPr>
          <p:nvPr/>
        </p:nvPicPr>
        <p:blipFill>
          <a:blip r:embed="rId1"/>
          <a:stretch>
            <a:fillRect/>
          </a:stretch>
        </p:blipFill>
        <p:spPr>
          <a:xfrm>
            <a:off x="457200" y="1508760"/>
            <a:ext cx="201168" cy="201168"/>
          </a:xfrm>
          <a:prstGeom prst="rect">
            <a:avLst/>
          </a:prstGeom>
        </p:spPr>
      </p:pic>
      <p:sp>
        <p:nvSpPr>
          <p:cNvPr id="9" name="Text 6"/>
          <p:cNvSpPr/>
          <p:nvPr/>
        </p:nvSpPr>
        <p:spPr>
          <a:xfrm>
            <a:off x="731520" y="14813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Suggestion boxes</a:t>
            </a:r>
            <a:endParaRPr lang="en-US" sz="1050" dirty="0"/>
          </a:p>
        </p:txBody>
      </p:sp>
      <p:pic>
        <p:nvPicPr>
          <p:cNvPr id="10" name="Image 1" descr="preencoded.png">    </p:cNvPr>
          <p:cNvPicPr>
            <a:picLocks noChangeAspect="1"/>
          </p:cNvPicPr>
          <p:nvPr/>
        </p:nvPicPr>
        <p:blipFill>
          <a:blip r:embed="rId2"/>
          <a:stretch>
            <a:fillRect/>
          </a:stretch>
        </p:blipFill>
        <p:spPr>
          <a:xfrm>
            <a:off x="457200" y="1965960"/>
            <a:ext cx="201168" cy="201168"/>
          </a:xfrm>
          <a:prstGeom prst="rect">
            <a:avLst/>
          </a:prstGeom>
        </p:spPr>
      </p:pic>
      <p:sp>
        <p:nvSpPr>
          <p:cNvPr id="11" name="Text 7"/>
          <p:cNvSpPr/>
          <p:nvPr/>
        </p:nvSpPr>
        <p:spPr>
          <a:xfrm>
            <a:off x="731520" y="19385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Printed memoranda</a:t>
            </a:r>
            <a:endParaRPr lang="en-US" sz="1050" dirty="0"/>
          </a:p>
        </p:txBody>
      </p:sp>
      <p:pic>
        <p:nvPicPr>
          <p:cNvPr id="12" name="Image 2" descr="preencoded.png">    </p:cNvPr>
          <p:cNvPicPr>
            <a:picLocks noChangeAspect="1"/>
          </p:cNvPicPr>
          <p:nvPr/>
        </p:nvPicPr>
        <p:blipFill>
          <a:blip r:embed="rId3"/>
          <a:stretch>
            <a:fillRect/>
          </a:stretch>
        </p:blipFill>
        <p:spPr>
          <a:xfrm>
            <a:off x="457200" y="2423160"/>
            <a:ext cx="201168" cy="201168"/>
          </a:xfrm>
          <a:prstGeom prst="rect">
            <a:avLst/>
          </a:prstGeom>
        </p:spPr>
      </p:pic>
      <p:sp>
        <p:nvSpPr>
          <p:cNvPr id="13" name="Text 8"/>
          <p:cNvSpPr/>
          <p:nvPr/>
        </p:nvSpPr>
        <p:spPr>
          <a:xfrm>
            <a:off x="731520" y="23957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Face-to-face forums</a:t>
            </a:r>
            <a:endParaRPr lang="en-US" sz="1050" dirty="0"/>
          </a:p>
        </p:txBody>
      </p:sp>
      <p:pic>
        <p:nvPicPr>
          <p:cNvPr id="14" name="Image 3" descr="preencoded.png">    </p:cNvPr>
          <p:cNvPicPr>
            <a:picLocks noChangeAspect="1"/>
          </p:cNvPicPr>
          <p:nvPr/>
        </p:nvPicPr>
        <p:blipFill>
          <a:blip r:embed="rId4"/>
          <a:stretch>
            <a:fillRect/>
          </a:stretch>
        </p:blipFill>
        <p:spPr>
          <a:xfrm>
            <a:off x="457200" y="2880360"/>
            <a:ext cx="201168" cy="201168"/>
          </a:xfrm>
          <a:prstGeom prst="rect">
            <a:avLst/>
          </a:prstGeom>
        </p:spPr>
      </p:pic>
      <p:sp>
        <p:nvSpPr>
          <p:cNvPr id="15" name="Text 9"/>
          <p:cNvSpPr/>
          <p:nvPr/>
        </p:nvSpPr>
        <p:spPr>
          <a:xfrm>
            <a:off x="731520" y="28529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Manual analysis</a:t>
            </a:r>
            <a:endParaRPr lang="en-US" sz="1050" dirty="0"/>
          </a:p>
        </p:txBody>
      </p:sp>
      <p:sp>
        <p:nvSpPr>
          <p:cNvPr id="16" name="Shape 10"/>
          <p:cNvSpPr/>
          <p:nvPr/>
        </p:nvSpPr>
        <p:spPr>
          <a:xfrm>
            <a:off x="3108960" y="914400"/>
            <a:ext cx="2606040" cy="2743200"/>
          </a:xfrm>
          <a:prstGeom prst="roundRect">
            <a:avLst>
              <a:gd name="adj" fmla="val 350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17" name="Shape 11"/>
          <p:cNvSpPr/>
          <p:nvPr/>
        </p:nvSpPr>
        <p:spPr>
          <a:xfrm>
            <a:off x="3108960" y="914400"/>
            <a:ext cx="2606040" cy="475488"/>
          </a:xfrm>
          <a:prstGeom prst="roundRect">
            <a:avLst>
              <a:gd name="adj" fmla="val 19231"/>
            </a:avLst>
          </a:prstGeom>
          <a:solidFill>
            <a:srgbClr val="0D7A8A"/>
          </a:solidFill>
          <a:ln w="12700">
            <a:solidFill>
              <a:srgbClr val="0D7A8A"/>
            </a:solidFill>
            <a:prstDash val="solid"/>
          </a:ln>
        </p:spPr>
      </p:sp>
      <p:sp>
        <p:nvSpPr>
          <p:cNvPr id="18" name="Shape 12"/>
          <p:cNvSpPr/>
          <p:nvPr/>
        </p:nvSpPr>
        <p:spPr>
          <a:xfrm>
            <a:off x="3108960" y="1143000"/>
            <a:ext cx="2606040" cy="246888"/>
          </a:xfrm>
          <a:prstGeom prst="rect">
            <a:avLst/>
          </a:prstGeom>
          <a:solidFill>
            <a:srgbClr val="0D7A8A"/>
          </a:solidFill>
          <a:ln w="12700">
            <a:solidFill>
              <a:srgbClr val="0D7A8A"/>
            </a:solidFill>
            <a:prstDash val="solid"/>
          </a:ln>
        </p:spPr>
      </p:sp>
      <p:sp>
        <p:nvSpPr>
          <p:cNvPr id="19" name="Text 13"/>
          <p:cNvSpPr/>
          <p:nvPr/>
        </p:nvSpPr>
        <p:spPr>
          <a:xfrm>
            <a:off x="3200400" y="923544"/>
            <a:ext cx="242316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Digital — Web Platforms</a:t>
            </a:r>
            <a:endParaRPr lang="en-US" sz="1100" dirty="0"/>
          </a:p>
        </p:txBody>
      </p:sp>
      <p:pic>
        <p:nvPicPr>
          <p:cNvPr id="20" name="Image 4" descr="preencoded.png">    </p:cNvPr>
          <p:cNvPicPr>
            <a:picLocks noChangeAspect="1"/>
          </p:cNvPicPr>
          <p:nvPr/>
        </p:nvPicPr>
        <p:blipFill>
          <a:blip r:embed="rId5"/>
          <a:stretch>
            <a:fillRect/>
          </a:stretch>
        </p:blipFill>
        <p:spPr>
          <a:xfrm>
            <a:off x="3246120" y="1508760"/>
            <a:ext cx="201168" cy="201168"/>
          </a:xfrm>
          <a:prstGeom prst="rect">
            <a:avLst/>
          </a:prstGeom>
        </p:spPr>
      </p:pic>
      <p:sp>
        <p:nvSpPr>
          <p:cNvPr id="21" name="Text 14"/>
          <p:cNvSpPr/>
          <p:nvPr/>
        </p:nvSpPr>
        <p:spPr>
          <a:xfrm>
            <a:off x="3520440" y="14813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eCitizen portals</a:t>
            </a:r>
            <a:endParaRPr lang="en-US" sz="1050" dirty="0"/>
          </a:p>
        </p:txBody>
      </p:sp>
      <p:pic>
        <p:nvPicPr>
          <p:cNvPr id="22" name="Image 5" descr="preencoded.png">    </p:cNvPr>
          <p:cNvPicPr>
            <a:picLocks noChangeAspect="1"/>
          </p:cNvPicPr>
          <p:nvPr/>
        </p:nvPicPr>
        <p:blipFill>
          <a:blip r:embed="rId6"/>
          <a:stretch>
            <a:fillRect/>
          </a:stretch>
        </p:blipFill>
        <p:spPr>
          <a:xfrm>
            <a:off x="3246120" y="1965960"/>
            <a:ext cx="201168" cy="201168"/>
          </a:xfrm>
          <a:prstGeom prst="rect">
            <a:avLst/>
          </a:prstGeom>
        </p:spPr>
      </p:pic>
      <p:sp>
        <p:nvSpPr>
          <p:cNvPr id="23" name="Text 15"/>
          <p:cNvSpPr/>
          <p:nvPr/>
        </p:nvSpPr>
        <p:spPr>
          <a:xfrm>
            <a:off x="3520440" y="19385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Online forms</a:t>
            </a:r>
            <a:endParaRPr lang="en-US" sz="1050" dirty="0"/>
          </a:p>
        </p:txBody>
      </p:sp>
      <p:pic>
        <p:nvPicPr>
          <p:cNvPr id="24" name="Image 6" descr="preencoded.png">    </p:cNvPr>
          <p:cNvPicPr>
            <a:picLocks noChangeAspect="1"/>
          </p:cNvPicPr>
          <p:nvPr/>
        </p:nvPicPr>
        <p:blipFill>
          <a:blip r:embed="rId7"/>
          <a:stretch>
            <a:fillRect/>
          </a:stretch>
        </p:blipFill>
        <p:spPr>
          <a:xfrm>
            <a:off x="3246120" y="2423160"/>
            <a:ext cx="201168" cy="201168"/>
          </a:xfrm>
          <a:prstGeom prst="rect">
            <a:avLst/>
          </a:prstGeom>
        </p:spPr>
      </p:pic>
      <p:sp>
        <p:nvSpPr>
          <p:cNvPr id="25" name="Text 16"/>
          <p:cNvSpPr/>
          <p:nvPr/>
        </p:nvSpPr>
        <p:spPr>
          <a:xfrm>
            <a:off x="3520440" y="23957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Increased reach</a:t>
            </a:r>
            <a:endParaRPr lang="en-US" sz="1050" dirty="0"/>
          </a:p>
        </p:txBody>
      </p:sp>
      <p:pic>
        <p:nvPicPr>
          <p:cNvPr id="26" name="Image 7" descr="preencoded.png">    </p:cNvPr>
          <p:cNvPicPr>
            <a:picLocks noChangeAspect="1"/>
          </p:cNvPicPr>
          <p:nvPr/>
        </p:nvPicPr>
        <p:blipFill>
          <a:blip r:embed="rId8"/>
          <a:stretch>
            <a:fillRect/>
          </a:stretch>
        </p:blipFill>
        <p:spPr>
          <a:xfrm>
            <a:off x="3246120" y="2880360"/>
            <a:ext cx="201168" cy="201168"/>
          </a:xfrm>
          <a:prstGeom prst="rect">
            <a:avLst/>
          </a:prstGeom>
        </p:spPr>
      </p:pic>
      <p:sp>
        <p:nvSpPr>
          <p:cNvPr id="27" name="Text 17"/>
          <p:cNvSpPr/>
          <p:nvPr/>
        </p:nvSpPr>
        <p:spPr>
          <a:xfrm>
            <a:off x="3520440" y="28529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Unstructured data</a:t>
            </a:r>
            <a:endParaRPr lang="en-US" sz="1050" dirty="0"/>
          </a:p>
        </p:txBody>
      </p:sp>
      <p:sp>
        <p:nvSpPr>
          <p:cNvPr id="28" name="Shape 18"/>
          <p:cNvSpPr/>
          <p:nvPr/>
        </p:nvSpPr>
        <p:spPr>
          <a:xfrm>
            <a:off x="5897880" y="914400"/>
            <a:ext cx="2606040" cy="2743200"/>
          </a:xfrm>
          <a:prstGeom prst="roundRect">
            <a:avLst>
              <a:gd name="adj" fmla="val 350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29" name="Shape 19"/>
          <p:cNvSpPr/>
          <p:nvPr/>
        </p:nvSpPr>
        <p:spPr>
          <a:xfrm>
            <a:off x="5897880" y="914400"/>
            <a:ext cx="2606040" cy="475488"/>
          </a:xfrm>
          <a:prstGeom prst="roundRect">
            <a:avLst>
              <a:gd name="adj" fmla="val 19231"/>
            </a:avLst>
          </a:prstGeom>
          <a:solidFill>
            <a:srgbClr val="F5A623"/>
          </a:solidFill>
          <a:ln w="12700">
            <a:solidFill>
              <a:srgbClr val="F5A623"/>
            </a:solidFill>
            <a:prstDash val="solid"/>
          </a:ln>
        </p:spPr>
      </p:sp>
      <p:sp>
        <p:nvSpPr>
          <p:cNvPr id="30" name="Shape 20"/>
          <p:cNvSpPr/>
          <p:nvPr/>
        </p:nvSpPr>
        <p:spPr>
          <a:xfrm>
            <a:off x="5897880" y="1143000"/>
            <a:ext cx="2606040" cy="246888"/>
          </a:xfrm>
          <a:prstGeom prst="rect">
            <a:avLst/>
          </a:prstGeom>
          <a:solidFill>
            <a:srgbClr val="F5A623"/>
          </a:solidFill>
          <a:ln w="12700">
            <a:solidFill>
              <a:srgbClr val="F5A623"/>
            </a:solidFill>
            <a:prstDash val="solid"/>
          </a:ln>
        </p:spPr>
      </p:sp>
      <p:sp>
        <p:nvSpPr>
          <p:cNvPr id="31" name="Text 21"/>
          <p:cNvSpPr/>
          <p:nvPr/>
        </p:nvSpPr>
        <p:spPr>
          <a:xfrm>
            <a:off x="5989320" y="923544"/>
            <a:ext cx="242316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Intelligent — AI-Driven</a:t>
            </a:r>
            <a:endParaRPr lang="en-US" sz="1100" dirty="0"/>
          </a:p>
        </p:txBody>
      </p:sp>
      <p:pic>
        <p:nvPicPr>
          <p:cNvPr id="32" name="Image 8" descr="preencoded.png">    </p:cNvPr>
          <p:cNvPicPr>
            <a:picLocks noChangeAspect="1"/>
          </p:cNvPicPr>
          <p:nvPr/>
        </p:nvPicPr>
        <p:blipFill>
          <a:blip r:embed="rId9"/>
          <a:stretch>
            <a:fillRect/>
          </a:stretch>
        </p:blipFill>
        <p:spPr>
          <a:xfrm>
            <a:off x="6035040" y="1508760"/>
            <a:ext cx="201168" cy="201168"/>
          </a:xfrm>
          <a:prstGeom prst="rect">
            <a:avLst/>
          </a:prstGeom>
        </p:spPr>
      </p:pic>
      <p:sp>
        <p:nvSpPr>
          <p:cNvPr id="33" name="Text 22"/>
          <p:cNvSpPr/>
          <p:nvPr/>
        </p:nvSpPr>
        <p:spPr>
          <a:xfrm>
            <a:off x="6309360" y="14813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NLP analysis</a:t>
            </a:r>
            <a:endParaRPr lang="en-US" sz="1050" dirty="0"/>
          </a:p>
        </p:txBody>
      </p:sp>
      <p:pic>
        <p:nvPicPr>
          <p:cNvPr id="34" name="Image 9" descr="preencoded.png">    </p:cNvPr>
          <p:cNvPicPr>
            <a:picLocks noChangeAspect="1"/>
          </p:cNvPicPr>
          <p:nvPr/>
        </p:nvPicPr>
        <p:blipFill>
          <a:blip r:embed="rId10"/>
          <a:stretch>
            <a:fillRect/>
          </a:stretch>
        </p:blipFill>
        <p:spPr>
          <a:xfrm>
            <a:off x="6035040" y="1965960"/>
            <a:ext cx="201168" cy="201168"/>
          </a:xfrm>
          <a:prstGeom prst="rect">
            <a:avLst/>
          </a:prstGeom>
        </p:spPr>
      </p:pic>
      <p:sp>
        <p:nvSpPr>
          <p:cNvPr id="35" name="Text 23"/>
          <p:cNvSpPr/>
          <p:nvPr/>
        </p:nvSpPr>
        <p:spPr>
          <a:xfrm>
            <a:off x="6309360" y="19385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Sentiment detection</a:t>
            </a:r>
            <a:endParaRPr lang="en-US" sz="1050" dirty="0"/>
          </a:p>
        </p:txBody>
      </p:sp>
      <p:pic>
        <p:nvPicPr>
          <p:cNvPr id="36" name="Image 10" descr="preencoded.png">    </p:cNvPr>
          <p:cNvPicPr>
            <a:picLocks noChangeAspect="1"/>
          </p:cNvPicPr>
          <p:nvPr/>
        </p:nvPicPr>
        <p:blipFill>
          <a:blip r:embed="rId11"/>
          <a:stretch>
            <a:fillRect/>
          </a:stretch>
        </p:blipFill>
        <p:spPr>
          <a:xfrm>
            <a:off x="6035040" y="2423160"/>
            <a:ext cx="201168" cy="201168"/>
          </a:xfrm>
          <a:prstGeom prst="rect">
            <a:avLst/>
          </a:prstGeom>
        </p:spPr>
      </p:pic>
      <p:sp>
        <p:nvSpPr>
          <p:cNvPr id="37" name="Text 24"/>
          <p:cNvSpPr/>
          <p:nvPr/>
        </p:nvSpPr>
        <p:spPr>
          <a:xfrm>
            <a:off x="6309360" y="23957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Topic modelling</a:t>
            </a:r>
            <a:endParaRPr lang="en-US" sz="1050" dirty="0"/>
          </a:p>
        </p:txBody>
      </p:sp>
      <p:pic>
        <p:nvPicPr>
          <p:cNvPr id="38" name="Image 11" descr="preencoded.png">    </p:cNvPr>
          <p:cNvPicPr>
            <a:picLocks noChangeAspect="1"/>
          </p:cNvPicPr>
          <p:nvPr/>
        </p:nvPicPr>
        <p:blipFill>
          <a:blip r:embed="rId12"/>
          <a:stretch>
            <a:fillRect/>
          </a:stretch>
        </p:blipFill>
        <p:spPr>
          <a:xfrm>
            <a:off x="6035040" y="2880360"/>
            <a:ext cx="201168" cy="201168"/>
          </a:xfrm>
          <a:prstGeom prst="rect">
            <a:avLst/>
          </a:prstGeom>
        </p:spPr>
      </p:pic>
      <p:sp>
        <p:nvSpPr>
          <p:cNvPr id="39" name="Text 25"/>
          <p:cNvSpPr/>
          <p:nvPr/>
        </p:nvSpPr>
        <p:spPr>
          <a:xfrm>
            <a:off x="6309360" y="2852928"/>
            <a:ext cx="2057400" cy="347472"/>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Real-time dashboards</a:t>
            </a:r>
            <a:endParaRPr lang="en-US" sz="1050" dirty="0"/>
          </a:p>
        </p:txBody>
      </p:sp>
      <p:sp>
        <p:nvSpPr>
          <p:cNvPr id="40" name="Shape 26"/>
          <p:cNvSpPr/>
          <p:nvPr/>
        </p:nvSpPr>
        <p:spPr>
          <a:xfrm>
            <a:off x="2944368" y="2267712"/>
            <a:ext cx="201168" cy="0"/>
          </a:xfrm>
          <a:prstGeom prst="line">
            <a:avLst/>
          </a:prstGeom>
          <a:noFill/>
          <a:ln w="25400">
            <a:solidFill>
              <a:srgbClr val="0D7A8A"/>
            </a:solidFill>
            <a:prstDash val="solid"/>
          </a:ln>
        </p:spPr>
      </p:sp>
      <p:sp>
        <p:nvSpPr>
          <p:cNvPr id="41" name="Shape 27"/>
          <p:cNvSpPr/>
          <p:nvPr/>
        </p:nvSpPr>
        <p:spPr>
          <a:xfrm>
            <a:off x="5724144" y="2267712"/>
            <a:ext cx="201168" cy="0"/>
          </a:xfrm>
          <a:prstGeom prst="line">
            <a:avLst/>
          </a:prstGeom>
          <a:noFill/>
          <a:ln w="25400">
            <a:solidFill>
              <a:srgbClr val="F5A623"/>
            </a:solidFill>
            <a:prstDash val="solid"/>
          </a:ln>
        </p:spPr>
      </p:sp>
      <p:sp>
        <p:nvSpPr>
          <p:cNvPr id="42" name="Text 28"/>
          <p:cNvSpPr/>
          <p:nvPr/>
        </p:nvSpPr>
        <p:spPr>
          <a:xfrm>
            <a:off x="320040" y="3822192"/>
            <a:ext cx="8503920" cy="347472"/>
          </a:xfrm>
          <a:prstGeom prst="rect">
            <a:avLst/>
          </a:prstGeom>
          <a:noFill/>
          <a:ln/>
        </p:spPr>
        <p:txBody>
          <a:bodyPr wrap="square" lIns="0" tIns="0" rIns="0" bIns="0" rtlCol="0" anchor="ctr"/>
          <a:lstStyle/>
          <a:p>
            <a:pPr algn="l" indent="0" marL="0">
              <a:buNone/>
            </a:pPr>
            <a:r>
              <a:rPr lang="en-US" sz="1300" b="1" dirty="0">
                <a:solidFill>
                  <a:srgbClr val="0A1628"/>
                </a:solidFill>
                <a:latin typeface="Cambria" pitchFamily="34" charset="0"/>
                <a:ea typeface="Cambria" pitchFamily="34" charset="-122"/>
                <a:cs typeface="Cambria" pitchFamily="34" charset="-120"/>
              </a:rPr>
              <a:t>5 Research Gaps SautiYetu Closes:</a:t>
            </a:r>
            <a:endParaRPr lang="en-US" sz="1300" dirty="0"/>
          </a:p>
        </p:txBody>
      </p:sp>
      <p:sp>
        <p:nvSpPr>
          <p:cNvPr id="43" name="Shape 29"/>
          <p:cNvSpPr/>
          <p:nvPr/>
        </p:nvSpPr>
        <p:spPr>
          <a:xfrm>
            <a:off x="320040" y="4251960"/>
            <a:ext cx="2743200" cy="320040"/>
          </a:xfrm>
          <a:prstGeom prst="roundRect">
            <a:avLst>
              <a:gd name="adj" fmla="val 17143"/>
            </a:avLst>
          </a:prstGeom>
          <a:solidFill>
            <a:srgbClr val="0D7A8A">
              <a:alpha val="15000"/>
            </a:srgbClr>
          </a:solidFill>
          <a:ln w="12700">
            <a:solidFill>
              <a:srgbClr val="0D7A8A"/>
            </a:solidFill>
            <a:prstDash val="solid"/>
          </a:ln>
        </p:spPr>
      </p:sp>
      <p:sp>
        <p:nvSpPr>
          <p:cNvPr id="44" name="Text 30"/>
          <p:cNvSpPr/>
          <p:nvPr/>
        </p:nvSpPr>
        <p:spPr>
          <a:xfrm>
            <a:off x="411480" y="4251960"/>
            <a:ext cx="2606040" cy="320040"/>
          </a:xfrm>
          <a:prstGeom prst="rect">
            <a:avLst/>
          </a:prstGeom>
          <a:noFill/>
          <a:ln/>
        </p:spPr>
        <p:txBody>
          <a:bodyPr wrap="square" lIns="0" tIns="0" rIns="0" bIns="0" rtlCol="0" anchor="ctr"/>
          <a:lstStyle/>
          <a:p>
            <a:pPr algn="l" indent="0" marL="0">
              <a:buNone/>
            </a:pPr>
            <a:r>
              <a:rPr lang="en-US" sz="950" b="1" dirty="0">
                <a:solidFill>
                  <a:srgbClr val="0A1628"/>
                </a:solidFill>
                <a:latin typeface="Calibri" pitchFamily="34" charset="0"/>
                <a:ea typeface="Calibri" pitchFamily="34" charset="-122"/>
                <a:cs typeface="Calibri" pitchFamily="34" charset="-120"/>
              </a:rPr>
              <a:t>Gap 1: No AI-powered analysis in Kenyan universities</a:t>
            </a:r>
            <a:endParaRPr lang="en-US" sz="950" dirty="0"/>
          </a:p>
        </p:txBody>
      </p:sp>
      <p:sp>
        <p:nvSpPr>
          <p:cNvPr id="45" name="Shape 31"/>
          <p:cNvSpPr/>
          <p:nvPr/>
        </p:nvSpPr>
        <p:spPr>
          <a:xfrm>
            <a:off x="3246120" y="4251960"/>
            <a:ext cx="2743200" cy="320040"/>
          </a:xfrm>
          <a:prstGeom prst="roundRect">
            <a:avLst>
              <a:gd name="adj" fmla="val 17143"/>
            </a:avLst>
          </a:prstGeom>
          <a:solidFill>
            <a:srgbClr val="0D7A8A">
              <a:alpha val="15000"/>
            </a:srgbClr>
          </a:solidFill>
          <a:ln w="12700">
            <a:solidFill>
              <a:srgbClr val="0D7A8A"/>
            </a:solidFill>
            <a:prstDash val="solid"/>
          </a:ln>
        </p:spPr>
      </p:sp>
      <p:sp>
        <p:nvSpPr>
          <p:cNvPr id="46" name="Text 32"/>
          <p:cNvSpPr/>
          <p:nvPr/>
        </p:nvSpPr>
        <p:spPr>
          <a:xfrm>
            <a:off x="3337560" y="4251960"/>
            <a:ext cx="2606040" cy="320040"/>
          </a:xfrm>
          <a:prstGeom prst="rect">
            <a:avLst/>
          </a:prstGeom>
          <a:noFill/>
          <a:ln/>
        </p:spPr>
        <p:txBody>
          <a:bodyPr wrap="square" lIns="0" tIns="0" rIns="0" bIns="0" rtlCol="0" anchor="ctr"/>
          <a:lstStyle/>
          <a:p>
            <a:pPr algn="l" indent="0" marL="0">
              <a:buNone/>
            </a:pPr>
            <a:r>
              <a:rPr lang="en-US" sz="950" b="1" dirty="0">
                <a:solidFill>
                  <a:srgbClr val="0A1628"/>
                </a:solidFill>
                <a:latin typeface="Calibri" pitchFamily="34" charset="0"/>
                <a:ea typeface="Calibri" pitchFamily="34" charset="-122"/>
                <a:cs typeface="Calibri" pitchFamily="34" charset="-120"/>
              </a:rPr>
              <a:t>Gap 2: NLP not adapted to Swahili / code-switched text</a:t>
            </a:r>
            <a:endParaRPr lang="en-US" sz="950" dirty="0"/>
          </a:p>
        </p:txBody>
      </p:sp>
      <p:sp>
        <p:nvSpPr>
          <p:cNvPr id="47" name="Shape 33"/>
          <p:cNvSpPr/>
          <p:nvPr/>
        </p:nvSpPr>
        <p:spPr>
          <a:xfrm>
            <a:off x="6172200" y="4251960"/>
            <a:ext cx="2743200" cy="320040"/>
          </a:xfrm>
          <a:prstGeom prst="roundRect">
            <a:avLst>
              <a:gd name="adj" fmla="val 17143"/>
            </a:avLst>
          </a:prstGeom>
          <a:solidFill>
            <a:srgbClr val="0D7A8A">
              <a:alpha val="15000"/>
            </a:srgbClr>
          </a:solidFill>
          <a:ln w="12700">
            <a:solidFill>
              <a:srgbClr val="0D7A8A"/>
            </a:solidFill>
            <a:prstDash val="solid"/>
          </a:ln>
        </p:spPr>
      </p:sp>
      <p:sp>
        <p:nvSpPr>
          <p:cNvPr id="48" name="Text 34"/>
          <p:cNvSpPr/>
          <p:nvPr/>
        </p:nvSpPr>
        <p:spPr>
          <a:xfrm>
            <a:off x="6263640" y="4251960"/>
            <a:ext cx="2606040" cy="320040"/>
          </a:xfrm>
          <a:prstGeom prst="rect">
            <a:avLst/>
          </a:prstGeom>
          <a:noFill/>
          <a:ln/>
        </p:spPr>
        <p:txBody>
          <a:bodyPr wrap="square" lIns="0" tIns="0" rIns="0" bIns="0" rtlCol="0" anchor="ctr"/>
          <a:lstStyle/>
          <a:p>
            <a:pPr algn="l" indent="0" marL="0">
              <a:buNone/>
            </a:pPr>
            <a:r>
              <a:rPr lang="en-US" sz="950" b="1" dirty="0">
                <a:solidFill>
                  <a:srgbClr val="0A1628"/>
                </a:solidFill>
                <a:latin typeface="Calibri" pitchFamily="34" charset="0"/>
                <a:ea typeface="Calibri" pitchFamily="34" charset="-122"/>
                <a:cs typeface="Calibri" pitchFamily="34" charset="-120"/>
              </a:rPr>
              <a:t>Gap 3: Exclusion of non-smartphone users</a:t>
            </a:r>
            <a:endParaRPr lang="en-US" sz="950" dirty="0"/>
          </a:p>
        </p:txBody>
      </p:sp>
      <p:sp>
        <p:nvSpPr>
          <p:cNvPr id="49" name="Shape 35"/>
          <p:cNvSpPr/>
          <p:nvPr/>
        </p:nvSpPr>
        <p:spPr>
          <a:xfrm>
            <a:off x="320040" y="4663440"/>
            <a:ext cx="2743200" cy="320040"/>
          </a:xfrm>
          <a:prstGeom prst="roundRect">
            <a:avLst>
              <a:gd name="adj" fmla="val 17143"/>
            </a:avLst>
          </a:prstGeom>
          <a:solidFill>
            <a:srgbClr val="F5A623">
              <a:alpha val="15000"/>
            </a:srgbClr>
          </a:solidFill>
          <a:ln w="12700">
            <a:solidFill>
              <a:srgbClr val="F5A623"/>
            </a:solidFill>
            <a:prstDash val="solid"/>
          </a:ln>
        </p:spPr>
      </p:sp>
      <p:sp>
        <p:nvSpPr>
          <p:cNvPr id="50" name="Text 36"/>
          <p:cNvSpPr/>
          <p:nvPr/>
        </p:nvSpPr>
        <p:spPr>
          <a:xfrm>
            <a:off x="411480" y="4663440"/>
            <a:ext cx="2606040" cy="320040"/>
          </a:xfrm>
          <a:prstGeom prst="rect">
            <a:avLst/>
          </a:prstGeom>
          <a:noFill/>
          <a:ln/>
        </p:spPr>
        <p:txBody>
          <a:bodyPr wrap="square" lIns="0" tIns="0" rIns="0" bIns="0" rtlCol="0" anchor="ctr"/>
          <a:lstStyle/>
          <a:p>
            <a:pPr algn="l" indent="0" marL="0">
              <a:buNone/>
            </a:pPr>
            <a:r>
              <a:rPr lang="en-US" sz="950" b="1" dirty="0">
                <a:solidFill>
                  <a:srgbClr val="0A1628"/>
                </a:solidFill>
                <a:latin typeface="Calibri" pitchFamily="34" charset="0"/>
                <a:ea typeface="Calibri" pitchFamily="34" charset="-122"/>
                <a:cs typeface="Calibri" pitchFamily="34" charset="-120"/>
              </a:rPr>
              <a:t>Gap 4: No real-time sentiment dashboards</a:t>
            </a:r>
            <a:endParaRPr lang="en-US" sz="950" dirty="0"/>
          </a:p>
        </p:txBody>
      </p:sp>
      <p:sp>
        <p:nvSpPr>
          <p:cNvPr id="51" name="Shape 37"/>
          <p:cNvSpPr/>
          <p:nvPr/>
        </p:nvSpPr>
        <p:spPr>
          <a:xfrm>
            <a:off x="3246120" y="4663440"/>
            <a:ext cx="2743200" cy="320040"/>
          </a:xfrm>
          <a:prstGeom prst="roundRect">
            <a:avLst>
              <a:gd name="adj" fmla="val 17143"/>
            </a:avLst>
          </a:prstGeom>
          <a:solidFill>
            <a:srgbClr val="F5A623">
              <a:alpha val="15000"/>
            </a:srgbClr>
          </a:solidFill>
          <a:ln w="12700">
            <a:solidFill>
              <a:srgbClr val="F5A623"/>
            </a:solidFill>
            <a:prstDash val="solid"/>
          </a:ln>
        </p:spPr>
      </p:sp>
      <p:sp>
        <p:nvSpPr>
          <p:cNvPr id="52" name="Text 38"/>
          <p:cNvSpPr/>
          <p:nvPr/>
        </p:nvSpPr>
        <p:spPr>
          <a:xfrm>
            <a:off x="3337560" y="4663440"/>
            <a:ext cx="2606040" cy="320040"/>
          </a:xfrm>
          <a:prstGeom prst="rect">
            <a:avLst/>
          </a:prstGeom>
          <a:noFill/>
          <a:ln/>
        </p:spPr>
        <p:txBody>
          <a:bodyPr wrap="square" lIns="0" tIns="0" rIns="0" bIns="0" rtlCol="0" anchor="ctr"/>
          <a:lstStyle/>
          <a:p>
            <a:pPr algn="l" indent="0" marL="0">
              <a:buNone/>
            </a:pPr>
            <a:r>
              <a:rPr lang="en-US" sz="950" b="1" dirty="0">
                <a:solidFill>
                  <a:srgbClr val="0A1628"/>
                </a:solidFill>
                <a:latin typeface="Calibri" pitchFamily="34" charset="0"/>
                <a:ea typeface="Calibri" pitchFamily="34" charset="-122"/>
                <a:cs typeface="Calibri" pitchFamily="34" charset="-120"/>
              </a:rPr>
              <a:t>Gap 5: Insufficient ethics focus in African e-participation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F38"/>
          </a:solidFill>
          <a:ln w="12700">
            <a:solidFill>
              <a:srgbClr val="0D1F3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algn="l" indent="0" marL="0">
              <a:buNone/>
            </a:pPr>
            <a:r>
              <a:rPr lang="en-US" sz="1100" b="1" spc="400" kern="0" dirty="0">
                <a:solidFill>
                  <a:srgbClr val="1ABFBF"/>
                </a:solidFill>
                <a:latin typeface="Calibri" pitchFamily="34" charset="0"/>
                <a:ea typeface="Calibri" pitchFamily="34" charset="-122"/>
                <a:cs typeface="Calibri" pitchFamily="34" charset="-120"/>
              </a:rPr>
              <a:t>SYSTEM DEVELOPMENT METHODOLOGY</a:t>
            </a:r>
            <a:endParaRPr lang="en-US" sz="1100" dirty="0"/>
          </a:p>
        </p:txBody>
      </p:sp>
      <p:sp>
        <p:nvSpPr>
          <p:cNvPr id="4" name="Text 2"/>
          <p:cNvSpPr/>
          <p:nvPr/>
        </p:nvSpPr>
        <p:spPr>
          <a:xfrm>
            <a:off x="457200" y="822960"/>
            <a:ext cx="8229600" cy="45720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Hybrid Agile + CRISP-DM Approach</a:t>
            </a:r>
            <a:endParaRPr lang="en-US" sz="2200" dirty="0"/>
          </a:p>
        </p:txBody>
      </p:sp>
      <p:sp>
        <p:nvSpPr>
          <p:cNvPr id="5" name="Shape 3"/>
          <p:cNvSpPr/>
          <p:nvPr/>
        </p:nvSpPr>
        <p:spPr>
          <a:xfrm>
            <a:off x="320040" y="1417320"/>
            <a:ext cx="3931920" cy="3474720"/>
          </a:xfrm>
          <a:prstGeom prst="roundRect">
            <a:avLst>
              <a:gd name="adj" fmla="val 2632"/>
            </a:avLst>
          </a:prstGeom>
          <a:solidFill>
            <a:srgbClr val="0D1F38"/>
          </a:solidFill>
          <a:ln w="19050">
            <a:solidFill>
              <a:srgbClr val="0D7A8A"/>
            </a:solidFill>
            <a:prstDash val="solid"/>
          </a:ln>
        </p:spPr>
      </p:sp>
      <p:sp>
        <p:nvSpPr>
          <p:cNvPr id="6" name="Text 4"/>
          <p:cNvSpPr/>
          <p:nvPr/>
        </p:nvSpPr>
        <p:spPr>
          <a:xfrm>
            <a:off x="320040" y="1417320"/>
            <a:ext cx="3931920" cy="475488"/>
          </a:xfrm>
          <a:prstGeom prst="rect">
            <a:avLst/>
          </a:prstGeom>
          <a:noFill/>
          <a:ln/>
        </p:spPr>
        <p:txBody>
          <a:bodyPr wrap="square" lIns="0" tIns="0" rIns="0" bIns="0" rtlCol="0" anchor="ctr"/>
          <a:lstStyle/>
          <a:p>
            <a:pPr algn="ctr" indent="0" marL="0">
              <a:buNone/>
            </a:pPr>
            <a:r>
              <a:rPr lang="en-US" sz="1400" b="1" spc="300" kern="0" dirty="0">
                <a:solidFill>
                  <a:srgbClr val="0D7A8A"/>
                </a:solidFill>
                <a:latin typeface="Calibri" pitchFamily="34" charset="0"/>
                <a:ea typeface="Calibri" pitchFamily="34" charset="-122"/>
                <a:cs typeface="Calibri" pitchFamily="34" charset="-120"/>
              </a:rPr>
              <a:t>AGILE</a:t>
            </a:r>
            <a:endParaRPr lang="en-US" sz="1400" dirty="0"/>
          </a:p>
        </p:txBody>
      </p:sp>
      <p:sp>
        <p:nvSpPr>
          <p:cNvPr id="7" name="Text 5"/>
          <p:cNvSpPr/>
          <p:nvPr/>
        </p:nvSpPr>
        <p:spPr>
          <a:xfrm>
            <a:off x="411480" y="1920240"/>
            <a:ext cx="3749040" cy="274320"/>
          </a:xfrm>
          <a:prstGeom prst="rect">
            <a:avLst/>
          </a:prstGeom>
          <a:noFill/>
          <a:ln/>
        </p:spPr>
        <p:txBody>
          <a:bodyPr wrap="square" lIns="0" tIns="0" rIns="0" bIns="0" rtlCol="0" anchor="ctr"/>
          <a:lstStyle/>
          <a:p>
            <a:pPr algn="ctr" indent="0" marL="0">
              <a:buNone/>
            </a:pPr>
            <a:r>
              <a:rPr lang="en-US" sz="1000" dirty="0">
                <a:solidFill>
                  <a:srgbClr val="8BA3B0"/>
                </a:solidFill>
                <a:latin typeface="Calibri" pitchFamily="34" charset="0"/>
                <a:ea typeface="Calibri" pitchFamily="34" charset="-122"/>
                <a:cs typeface="Calibri" pitchFamily="34" charset="-120"/>
              </a:rPr>
              <a:t>For system design, UI &amp; deployment</a:t>
            </a:r>
            <a:endParaRPr lang="en-US" sz="1000" dirty="0"/>
          </a:p>
        </p:txBody>
      </p:sp>
      <p:sp>
        <p:nvSpPr>
          <p:cNvPr id="8" name="Shape 6"/>
          <p:cNvSpPr/>
          <p:nvPr/>
        </p:nvSpPr>
        <p:spPr>
          <a:xfrm>
            <a:off x="502920" y="2304288"/>
            <a:ext cx="256032" cy="256032"/>
          </a:xfrm>
          <a:prstGeom prst="ellipse">
            <a:avLst/>
          </a:prstGeom>
          <a:solidFill>
            <a:srgbClr val="0D7A8A"/>
          </a:solidFill>
          <a:ln w="12700">
            <a:solidFill>
              <a:srgbClr val="0D7A8A"/>
            </a:solidFill>
            <a:prstDash val="solid"/>
          </a:ln>
        </p:spPr>
      </p:sp>
      <p:sp>
        <p:nvSpPr>
          <p:cNvPr id="9" name="Text 7"/>
          <p:cNvSpPr/>
          <p:nvPr/>
        </p:nvSpPr>
        <p:spPr>
          <a:xfrm>
            <a:off x="822960" y="2286000"/>
            <a:ext cx="329184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Requirements Analysis</a:t>
            </a:r>
            <a:endParaRPr lang="en-US" sz="1100" dirty="0"/>
          </a:p>
        </p:txBody>
      </p:sp>
      <p:sp>
        <p:nvSpPr>
          <p:cNvPr id="10" name="Shape 8"/>
          <p:cNvSpPr/>
          <p:nvPr/>
        </p:nvSpPr>
        <p:spPr>
          <a:xfrm>
            <a:off x="502920" y="2761488"/>
            <a:ext cx="256032" cy="256032"/>
          </a:xfrm>
          <a:prstGeom prst="ellipse">
            <a:avLst/>
          </a:prstGeom>
          <a:solidFill>
            <a:srgbClr val="0D7A8A"/>
          </a:solidFill>
          <a:ln w="12700">
            <a:solidFill>
              <a:srgbClr val="0D7A8A"/>
            </a:solidFill>
            <a:prstDash val="solid"/>
          </a:ln>
        </p:spPr>
      </p:sp>
      <p:sp>
        <p:nvSpPr>
          <p:cNvPr id="11" name="Text 9"/>
          <p:cNvSpPr/>
          <p:nvPr/>
        </p:nvSpPr>
        <p:spPr>
          <a:xfrm>
            <a:off x="822960" y="2743200"/>
            <a:ext cx="329184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System Design</a:t>
            </a:r>
            <a:endParaRPr lang="en-US" sz="1100" dirty="0"/>
          </a:p>
        </p:txBody>
      </p:sp>
      <p:sp>
        <p:nvSpPr>
          <p:cNvPr id="12" name="Shape 10"/>
          <p:cNvSpPr/>
          <p:nvPr/>
        </p:nvSpPr>
        <p:spPr>
          <a:xfrm>
            <a:off x="502920" y="3218688"/>
            <a:ext cx="256032" cy="256032"/>
          </a:xfrm>
          <a:prstGeom prst="ellipse">
            <a:avLst/>
          </a:prstGeom>
          <a:solidFill>
            <a:srgbClr val="0D7A8A"/>
          </a:solidFill>
          <a:ln w="12700">
            <a:solidFill>
              <a:srgbClr val="0D7A8A"/>
            </a:solidFill>
            <a:prstDash val="solid"/>
          </a:ln>
        </p:spPr>
      </p:sp>
      <p:sp>
        <p:nvSpPr>
          <p:cNvPr id="13" name="Text 11"/>
          <p:cNvSpPr/>
          <p:nvPr/>
        </p:nvSpPr>
        <p:spPr>
          <a:xfrm>
            <a:off x="822960" y="3200400"/>
            <a:ext cx="329184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Development Iterations</a:t>
            </a:r>
            <a:endParaRPr lang="en-US" sz="1100" dirty="0"/>
          </a:p>
        </p:txBody>
      </p:sp>
      <p:sp>
        <p:nvSpPr>
          <p:cNvPr id="14" name="Shape 12"/>
          <p:cNvSpPr/>
          <p:nvPr/>
        </p:nvSpPr>
        <p:spPr>
          <a:xfrm>
            <a:off x="502920" y="3675888"/>
            <a:ext cx="256032" cy="256032"/>
          </a:xfrm>
          <a:prstGeom prst="ellipse">
            <a:avLst/>
          </a:prstGeom>
          <a:solidFill>
            <a:srgbClr val="0D7A8A"/>
          </a:solidFill>
          <a:ln w="12700">
            <a:solidFill>
              <a:srgbClr val="0D7A8A"/>
            </a:solidFill>
            <a:prstDash val="solid"/>
          </a:ln>
        </p:spPr>
      </p:sp>
      <p:sp>
        <p:nvSpPr>
          <p:cNvPr id="15" name="Text 13"/>
          <p:cNvSpPr/>
          <p:nvPr/>
        </p:nvSpPr>
        <p:spPr>
          <a:xfrm>
            <a:off x="822960" y="3657600"/>
            <a:ext cx="329184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Testing &amp; Evaluation</a:t>
            </a:r>
            <a:endParaRPr lang="en-US" sz="1100" dirty="0"/>
          </a:p>
        </p:txBody>
      </p:sp>
      <p:sp>
        <p:nvSpPr>
          <p:cNvPr id="16" name="Shape 14"/>
          <p:cNvSpPr/>
          <p:nvPr/>
        </p:nvSpPr>
        <p:spPr>
          <a:xfrm>
            <a:off x="502920" y="4133088"/>
            <a:ext cx="256032" cy="256032"/>
          </a:xfrm>
          <a:prstGeom prst="ellipse">
            <a:avLst/>
          </a:prstGeom>
          <a:solidFill>
            <a:srgbClr val="0D7A8A"/>
          </a:solidFill>
          <a:ln w="12700">
            <a:solidFill>
              <a:srgbClr val="0D7A8A"/>
            </a:solidFill>
            <a:prstDash val="solid"/>
          </a:ln>
        </p:spPr>
      </p:sp>
      <p:sp>
        <p:nvSpPr>
          <p:cNvPr id="17" name="Text 15"/>
          <p:cNvSpPr/>
          <p:nvPr/>
        </p:nvSpPr>
        <p:spPr>
          <a:xfrm>
            <a:off x="822960" y="4114800"/>
            <a:ext cx="329184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Deployment</a:t>
            </a:r>
            <a:endParaRPr lang="en-US" sz="1100" dirty="0"/>
          </a:p>
        </p:txBody>
      </p:sp>
      <p:sp>
        <p:nvSpPr>
          <p:cNvPr id="18" name="Shape 16"/>
          <p:cNvSpPr/>
          <p:nvPr/>
        </p:nvSpPr>
        <p:spPr>
          <a:xfrm>
            <a:off x="4892040" y="1417320"/>
            <a:ext cx="3931920" cy="3474720"/>
          </a:xfrm>
          <a:prstGeom prst="roundRect">
            <a:avLst>
              <a:gd name="adj" fmla="val 2632"/>
            </a:avLst>
          </a:prstGeom>
          <a:solidFill>
            <a:srgbClr val="0D1F38"/>
          </a:solidFill>
          <a:ln w="19050">
            <a:solidFill>
              <a:srgbClr val="F5A623"/>
            </a:solidFill>
            <a:prstDash val="solid"/>
          </a:ln>
        </p:spPr>
      </p:sp>
      <p:sp>
        <p:nvSpPr>
          <p:cNvPr id="19" name="Text 17"/>
          <p:cNvSpPr/>
          <p:nvPr/>
        </p:nvSpPr>
        <p:spPr>
          <a:xfrm>
            <a:off x="4892040" y="1417320"/>
            <a:ext cx="3931920" cy="475488"/>
          </a:xfrm>
          <a:prstGeom prst="rect">
            <a:avLst/>
          </a:prstGeom>
          <a:noFill/>
          <a:ln/>
        </p:spPr>
        <p:txBody>
          <a:bodyPr wrap="square" lIns="0" tIns="0" rIns="0" bIns="0" rtlCol="0" anchor="ctr"/>
          <a:lstStyle/>
          <a:p>
            <a:pPr algn="ctr" indent="0" marL="0">
              <a:buNone/>
            </a:pPr>
            <a:r>
              <a:rPr lang="en-US" sz="1400" b="1" spc="300" kern="0" dirty="0">
                <a:solidFill>
                  <a:srgbClr val="F5A623"/>
                </a:solidFill>
                <a:latin typeface="Calibri" pitchFamily="34" charset="0"/>
                <a:ea typeface="Calibri" pitchFamily="34" charset="-122"/>
                <a:cs typeface="Calibri" pitchFamily="34" charset="-120"/>
              </a:rPr>
              <a:t>CRISP-DM</a:t>
            </a:r>
            <a:endParaRPr lang="en-US" sz="1400" dirty="0"/>
          </a:p>
        </p:txBody>
      </p:sp>
      <p:sp>
        <p:nvSpPr>
          <p:cNvPr id="20" name="Text 18"/>
          <p:cNvSpPr/>
          <p:nvPr/>
        </p:nvSpPr>
        <p:spPr>
          <a:xfrm>
            <a:off x="4983480" y="1920240"/>
            <a:ext cx="3749040" cy="274320"/>
          </a:xfrm>
          <a:prstGeom prst="rect">
            <a:avLst/>
          </a:prstGeom>
          <a:noFill/>
          <a:ln/>
        </p:spPr>
        <p:txBody>
          <a:bodyPr wrap="square" lIns="0" tIns="0" rIns="0" bIns="0" rtlCol="0" anchor="ctr"/>
          <a:lstStyle/>
          <a:p>
            <a:pPr algn="ctr" indent="0" marL="0">
              <a:buNone/>
            </a:pPr>
            <a:r>
              <a:rPr lang="en-US" sz="1000" dirty="0">
                <a:solidFill>
                  <a:srgbClr val="8BA3B0"/>
                </a:solidFill>
                <a:latin typeface="Calibri" pitchFamily="34" charset="0"/>
                <a:ea typeface="Calibri" pitchFamily="34" charset="-122"/>
                <a:cs typeface="Calibri" pitchFamily="34" charset="-120"/>
              </a:rPr>
              <a:t>For AI/NLP data mining pipeline</a:t>
            </a:r>
            <a:endParaRPr lang="en-US" sz="1000" dirty="0"/>
          </a:p>
        </p:txBody>
      </p:sp>
      <p:sp>
        <p:nvSpPr>
          <p:cNvPr id="21" name="Shape 19"/>
          <p:cNvSpPr/>
          <p:nvPr/>
        </p:nvSpPr>
        <p:spPr>
          <a:xfrm>
            <a:off x="5074920" y="2304288"/>
            <a:ext cx="256032" cy="256032"/>
          </a:xfrm>
          <a:prstGeom prst="ellipse">
            <a:avLst/>
          </a:prstGeom>
          <a:solidFill>
            <a:srgbClr val="F5A623"/>
          </a:solidFill>
          <a:ln w="12700">
            <a:solidFill>
              <a:srgbClr val="F5A623"/>
            </a:solidFill>
            <a:prstDash val="solid"/>
          </a:ln>
        </p:spPr>
      </p:sp>
      <p:sp>
        <p:nvSpPr>
          <p:cNvPr id="22" name="Text 20"/>
          <p:cNvSpPr/>
          <p:nvPr/>
        </p:nvSpPr>
        <p:spPr>
          <a:xfrm>
            <a:off x="5394960" y="2286000"/>
            <a:ext cx="329184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Business Understanding</a:t>
            </a:r>
            <a:endParaRPr lang="en-US" sz="1100" dirty="0"/>
          </a:p>
        </p:txBody>
      </p:sp>
      <p:sp>
        <p:nvSpPr>
          <p:cNvPr id="23" name="Shape 21"/>
          <p:cNvSpPr/>
          <p:nvPr/>
        </p:nvSpPr>
        <p:spPr>
          <a:xfrm>
            <a:off x="5074920" y="2761488"/>
            <a:ext cx="256032" cy="256032"/>
          </a:xfrm>
          <a:prstGeom prst="ellipse">
            <a:avLst/>
          </a:prstGeom>
          <a:solidFill>
            <a:srgbClr val="F5A623"/>
          </a:solidFill>
          <a:ln w="12700">
            <a:solidFill>
              <a:srgbClr val="F5A623"/>
            </a:solidFill>
            <a:prstDash val="solid"/>
          </a:ln>
        </p:spPr>
      </p:sp>
      <p:sp>
        <p:nvSpPr>
          <p:cNvPr id="24" name="Text 22"/>
          <p:cNvSpPr/>
          <p:nvPr/>
        </p:nvSpPr>
        <p:spPr>
          <a:xfrm>
            <a:off x="5394960" y="2743200"/>
            <a:ext cx="329184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Data Understanding</a:t>
            </a:r>
            <a:endParaRPr lang="en-US" sz="1100" dirty="0"/>
          </a:p>
        </p:txBody>
      </p:sp>
      <p:sp>
        <p:nvSpPr>
          <p:cNvPr id="25" name="Shape 23"/>
          <p:cNvSpPr/>
          <p:nvPr/>
        </p:nvSpPr>
        <p:spPr>
          <a:xfrm>
            <a:off x="5074920" y="3218688"/>
            <a:ext cx="256032" cy="256032"/>
          </a:xfrm>
          <a:prstGeom prst="ellipse">
            <a:avLst/>
          </a:prstGeom>
          <a:solidFill>
            <a:srgbClr val="F5A623"/>
          </a:solidFill>
          <a:ln w="12700">
            <a:solidFill>
              <a:srgbClr val="F5A623"/>
            </a:solidFill>
            <a:prstDash val="solid"/>
          </a:ln>
        </p:spPr>
      </p:sp>
      <p:sp>
        <p:nvSpPr>
          <p:cNvPr id="26" name="Text 24"/>
          <p:cNvSpPr/>
          <p:nvPr/>
        </p:nvSpPr>
        <p:spPr>
          <a:xfrm>
            <a:off x="5394960" y="3200400"/>
            <a:ext cx="329184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Data Preparation</a:t>
            </a:r>
            <a:endParaRPr lang="en-US" sz="1100" dirty="0"/>
          </a:p>
        </p:txBody>
      </p:sp>
      <p:sp>
        <p:nvSpPr>
          <p:cNvPr id="27" name="Shape 25"/>
          <p:cNvSpPr/>
          <p:nvPr/>
        </p:nvSpPr>
        <p:spPr>
          <a:xfrm>
            <a:off x="5074920" y="3675888"/>
            <a:ext cx="256032" cy="256032"/>
          </a:xfrm>
          <a:prstGeom prst="ellipse">
            <a:avLst/>
          </a:prstGeom>
          <a:solidFill>
            <a:srgbClr val="F5A623"/>
          </a:solidFill>
          <a:ln w="12700">
            <a:solidFill>
              <a:srgbClr val="F5A623"/>
            </a:solidFill>
            <a:prstDash val="solid"/>
          </a:ln>
        </p:spPr>
      </p:sp>
      <p:sp>
        <p:nvSpPr>
          <p:cNvPr id="28" name="Text 26"/>
          <p:cNvSpPr/>
          <p:nvPr/>
        </p:nvSpPr>
        <p:spPr>
          <a:xfrm>
            <a:off x="5394960" y="3657600"/>
            <a:ext cx="329184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Modeling (NLP)</a:t>
            </a:r>
            <a:endParaRPr lang="en-US" sz="1100" dirty="0"/>
          </a:p>
        </p:txBody>
      </p:sp>
      <p:sp>
        <p:nvSpPr>
          <p:cNvPr id="29" name="Shape 27"/>
          <p:cNvSpPr/>
          <p:nvPr/>
        </p:nvSpPr>
        <p:spPr>
          <a:xfrm>
            <a:off x="5074920" y="4133088"/>
            <a:ext cx="256032" cy="256032"/>
          </a:xfrm>
          <a:prstGeom prst="ellipse">
            <a:avLst/>
          </a:prstGeom>
          <a:solidFill>
            <a:srgbClr val="F5A623"/>
          </a:solidFill>
          <a:ln w="12700">
            <a:solidFill>
              <a:srgbClr val="F5A623"/>
            </a:solidFill>
            <a:prstDash val="solid"/>
          </a:ln>
        </p:spPr>
      </p:sp>
      <p:sp>
        <p:nvSpPr>
          <p:cNvPr id="30" name="Text 28"/>
          <p:cNvSpPr/>
          <p:nvPr/>
        </p:nvSpPr>
        <p:spPr>
          <a:xfrm>
            <a:off x="5394960" y="4114800"/>
            <a:ext cx="329184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Evaluation</a:t>
            </a:r>
            <a:endParaRPr lang="en-US" sz="1100" dirty="0"/>
          </a:p>
        </p:txBody>
      </p:sp>
      <p:sp>
        <p:nvSpPr>
          <p:cNvPr id="31" name="Shape 29"/>
          <p:cNvSpPr/>
          <p:nvPr/>
        </p:nvSpPr>
        <p:spPr>
          <a:xfrm>
            <a:off x="5074920" y="4590288"/>
            <a:ext cx="256032" cy="256032"/>
          </a:xfrm>
          <a:prstGeom prst="ellipse">
            <a:avLst/>
          </a:prstGeom>
          <a:solidFill>
            <a:srgbClr val="F5A623"/>
          </a:solidFill>
          <a:ln w="12700">
            <a:solidFill>
              <a:srgbClr val="F5A623"/>
            </a:solidFill>
            <a:prstDash val="solid"/>
          </a:ln>
        </p:spPr>
      </p:sp>
      <p:sp>
        <p:nvSpPr>
          <p:cNvPr id="32" name="Text 30"/>
          <p:cNvSpPr/>
          <p:nvPr/>
        </p:nvSpPr>
        <p:spPr>
          <a:xfrm>
            <a:off x="5394960" y="4572000"/>
            <a:ext cx="329184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Deployment</a:t>
            </a:r>
            <a:endParaRPr lang="en-US" sz="1100" dirty="0"/>
          </a:p>
        </p:txBody>
      </p:sp>
      <p:sp>
        <p:nvSpPr>
          <p:cNvPr id="33" name="Text 31"/>
          <p:cNvSpPr/>
          <p:nvPr/>
        </p:nvSpPr>
        <p:spPr>
          <a:xfrm>
            <a:off x="457200" y="4800600"/>
            <a:ext cx="8229600" cy="274320"/>
          </a:xfrm>
          <a:prstGeom prst="rect">
            <a:avLst/>
          </a:prstGeom>
          <a:noFill/>
          <a:ln/>
        </p:spPr>
        <p:txBody>
          <a:bodyPr wrap="square" lIns="0" tIns="0" rIns="0" bIns="0" rtlCol="0" anchor="ctr"/>
          <a:lstStyle/>
          <a:p>
            <a:pPr algn="ctr" indent="0" marL="0">
              <a:buNone/>
            </a:pPr>
            <a:r>
              <a:rPr lang="en-US" sz="1050" dirty="0">
                <a:solidFill>
                  <a:srgbClr val="8BA3B0"/>
                </a:solidFill>
                <a:latin typeface="Calibri" pitchFamily="34" charset="0"/>
                <a:ea typeface="Calibri" pitchFamily="34" charset="-122"/>
                <a:cs typeface="Calibri" pitchFamily="34" charset="-120"/>
              </a:rPr>
              <a:t>⟷  Combined for rapid prototyping with structured AI pipeline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algn="l" indent="0" marL="0">
              <a:buNone/>
            </a:pPr>
            <a:r>
              <a:rPr lang="en-US" sz="1100" b="1" spc="400" kern="0" dirty="0">
                <a:solidFill>
                  <a:srgbClr val="1ABFBF"/>
                </a:solidFill>
                <a:latin typeface="Calibri" pitchFamily="34" charset="0"/>
                <a:ea typeface="Calibri" pitchFamily="34" charset="-122"/>
                <a:cs typeface="Calibri" pitchFamily="34" charset="-120"/>
              </a:rPr>
              <a:t>SYSTEM ARCHITECTURE</a:t>
            </a:r>
            <a:endParaRPr lang="en-US" sz="1100" dirty="0"/>
          </a:p>
        </p:txBody>
      </p:sp>
      <p:sp>
        <p:nvSpPr>
          <p:cNvPr id="4" name="Shape 2"/>
          <p:cNvSpPr/>
          <p:nvPr/>
        </p:nvSpPr>
        <p:spPr>
          <a:xfrm>
            <a:off x="320040" y="914400"/>
            <a:ext cx="8503920" cy="1325880"/>
          </a:xfrm>
          <a:prstGeom prst="roundRect">
            <a:avLst>
              <a:gd name="adj" fmla="val 6897"/>
            </a:avLst>
          </a:prstGeom>
          <a:solidFill>
            <a:srgbClr val="0D7A8A"/>
          </a:solidFill>
          <a:ln w="12700">
            <a:solidFill>
              <a:srgbClr val="0D7A8A"/>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457200" y="960120"/>
            <a:ext cx="8229600" cy="32004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PRESENTATION TIER</a:t>
            </a:r>
            <a:endParaRPr lang="en-US" sz="1100" dirty="0"/>
          </a:p>
        </p:txBody>
      </p:sp>
      <p:sp>
        <p:nvSpPr>
          <p:cNvPr id="6" name="Shape 4"/>
          <p:cNvSpPr/>
          <p:nvPr/>
        </p:nvSpPr>
        <p:spPr>
          <a:xfrm>
            <a:off x="457200" y="1371600"/>
            <a:ext cx="1965960" cy="685800"/>
          </a:xfrm>
          <a:prstGeom prst="roundRect">
            <a:avLst>
              <a:gd name="adj" fmla="val 9333"/>
            </a:avLst>
          </a:prstGeom>
          <a:solidFill>
            <a:srgbClr val="FFFFFF">
              <a:alpha val="12000"/>
            </a:srgbClr>
          </a:solidFill>
          <a:ln w="12700">
            <a:solidFill>
              <a:srgbClr val="FFFFFF">
                <a:alpha val="40000"/>
              </a:srgbClr>
            </a:solidFill>
            <a:prstDash val="solid"/>
          </a:ln>
        </p:spPr>
      </p:sp>
      <p:sp>
        <p:nvSpPr>
          <p:cNvPr id="7" name="Text 5"/>
          <p:cNvSpPr/>
          <p:nvPr/>
        </p:nvSpPr>
        <p:spPr>
          <a:xfrm>
            <a:off x="502920" y="1371600"/>
            <a:ext cx="1874520" cy="68580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Bootstrap 5 (Responsive UI)</a:t>
            </a:r>
            <a:endParaRPr lang="en-US" sz="950" dirty="0"/>
          </a:p>
        </p:txBody>
      </p:sp>
      <p:sp>
        <p:nvSpPr>
          <p:cNvPr id="8" name="Shape 6"/>
          <p:cNvSpPr/>
          <p:nvPr/>
        </p:nvSpPr>
        <p:spPr>
          <a:xfrm>
            <a:off x="2514600" y="1371600"/>
            <a:ext cx="1965960" cy="685800"/>
          </a:xfrm>
          <a:prstGeom prst="roundRect">
            <a:avLst>
              <a:gd name="adj" fmla="val 9333"/>
            </a:avLst>
          </a:prstGeom>
          <a:solidFill>
            <a:srgbClr val="FFFFFF">
              <a:alpha val="12000"/>
            </a:srgbClr>
          </a:solidFill>
          <a:ln w="12700">
            <a:solidFill>
              <a:srgbClr val="FFFFFF">
                <a:alpha val="40000"/>
              </a:srgbClr>
            </a:solidFill>
            <a:prstDash val="solid"/>
          </a:ln>
        </p:spPr>
      </p:sp>
      <p:sp>
        <p:nvSpPr>
          <p:cNvPr id="9" name="Text 7"/>
          <p:cNvSpPr/>
          <p:nvPr/>
        </p:nvSpPr>
        <p:spPr>
          <a:xfrm>
            <a:off x="2560320" y="1371600"/>
            <a:ext cx="1874520" cy="68580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Chart.js (Interactive Charts)</a:t>
            </a:r>
            <a:endParaRPr lang="en-US" sz="950" dirty="0"/>
          </a:p>
        </p:txBody>
      </p:sp>
      <p:sp>
        <p:nvSpPr>
          <p:cNvPr id="10" name="Shape 8"/>
          <p:cNvSpPr/>
          <p:nvPr/>
        </p:nvSpPr>
        <p:spPr>
          <a:xfrm>
            <a:off x="4572000" y="1371600"/>
            <a:ext cx="1965960" cy="685800"/>
          </a:xfrm>
          <a:prstGeom prst="roundRect">
            <a:avLst>
              <a:gd name="adj" fmla="val 9333"/>
            </a:avLst>
          </a:prstGeom>
          <a:solidFill>
            <a:srgbClr val="FFFFFF">
              <a:alpha val="12000"/>
            </a:srgbClr>
          </a:solidFill>
          <a:ln w="12700">
            <a:solidFill>
              <a:srgbClr val="FFFFFF">
                <a:alpha val="40000"/>
              </a:srgbClr>
            </a:solidFill>
            <a:prstDash val="solid"/>
          </a:ln>
        </p:spPr>
      </p:sp>
      <p:sp>
        <p:nvSpPr>
          <p:cNvPr id="11" name="Text 9"/>
          <p:cNvSpPr/>
          <p:nvPr/>
        </p:nvSpPr>
        <p:spPr>
          <a:xfrm>
            <a:off x="4617720" y="1371600"/>
            <a:ext cx="1874520" cy="68580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Jinja2 Templating</a:t>
            </a:r>
            <a:endParaRPr lang="en-US" sz="950" dirty="0"/>
          </a:p>
        </p:txBody>
      </p:sp>
      <p:sp>
        <p:nvSpPr>
          <p:cNvPr id="12" name="Shape 10"/>
          <p:cNvSpPr/>
          <p:nvPr/>
        </p:nvSpPr>
        <p:spPr>
          <a:xfrm>
            <a:off x="6629400" y="1371600"/>
            <a:ext cx="1965960" cy="685800"/>
          </a:xfrm>
          <a:prstGeom prst="roundRect">
            <a:avLst>
              <a:gd name="adj" fmla="val 9333"/>
            </a:avLst>
          </a:prstGeom>
          <a:solidFill>
            <a:srgbClr val="FFFFFF">
              <a:alpha val="12000"/>
            </a:srgbClr>
          </a:solidFill>
          <a:ln w="12700">
            <a:solidFill>
              <a:srgbClr val="FFFFFF">
                <a:alpha val="40000"/>
              </a:srgbClr>
            </a:solidFill>
            <a:prstDash val="solid"/>
          </a:ln>
        </p:spPr>
      </p:sp>
      <p:sp>
        <p:nvSpPr>
          <p:cNvPr id="13" name="Text 11"/>
          <p:cNvSpPr/>
          <p:nvPr/>
        </p:nvSpPr>
        <p:spPr>
          <a:xfrm>
            <a:off x="6675120" y="1371600"/>
            <a:ext cx="1874520" cy="68580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HTML5 / CSS3 / JavaScript</a:t>
            </a:r>
            <a:endParaRPr lang="en-US" sz="950" dirty="0"/>
          </a:p>
        </p:txBody>
      </p:sp>
      <p:sp>
        <p:nvSpPr>
          <p:cNvPr id="14" name="Shape 12"/>
          <p:cNvSpPr/>
          <p:nvPr/>
        </p:nvSpPr>
        <p:spPr>
          <a:xfrm>
            <a:off x="320040" y="2423160"/>
            <a:ext cx="8503920" cy="1325880"/>
          </a:xfrm>
          <a:prstGeom prst="roundRect">
            <a:avLst>
              <a:gd name="adj" fmla="val 6897"/>
            </a:avLst>
          </a:prstGeom>
          <a:solidFill>
            <a:srgbClr val="0A1628"/>
          </a:solidFill>
          <a:ln w="12700">
            <a:solidFill>
              <a:srgbClr val="0A1628"/>
            </a:solidFill>
            <a:prstDash val="solid"/>
          </a:ln>
          <a:effectLst>
            <a:outerShdw sx="100000" sy="100000" kx="0" ky="0" algn="bl" rotWithShape="0" blurRad="101600" dist="38100" dir="2700000">
              <a:srgbClr val="000000">
                <a:alpha val="18000"/>
              </a:srgbClr>
            </a:outerShdw>
          </a:effectLst>
        </p:spPr>
      </p:sp>
      <p:sp>
        <p:nvSpPr>
          <p:cNvPr id="15" name="Text 13"/>
          <p:cNvSpPr/>
          <p:nvPr/>
        </p:nvSpPr>
        <p:spPr>
          <a:xfrm>
            <a:off x="457200" y="2468880"/>
            <a:ext cx="8229600" cy="32004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APPLICATION TIER (Flask / Python)</a:t>
            </a:r>
            <a:endParaRPr lang="en-US" sz="1100" dirty="0"/>
          </a:p>
        </p:txBody>
      </p:sp>
      <p:sp>
        <p:nvSpPr>
          <p:cNvPr id="16" name="Shape 14"/>
          <p:cNvSpPr/>
          <p:nvPr/>
        </p:nvSpPr>
        <p:spPr>
          <a:xfrm>
            <a:off x="457200" y="2880360"/>
            <a:ext cx="1965960" cy="685800"/>
          </a:xfrm>
          <a:prstGeom prst="roundRect">
            <a:avLst>
              <a:gd name="adj" fmla="val 9333"/>
            </a:avLst>
          </a:prstGeom>
          <a:solidFill>
            <a:srgbClr val="FFFFFF">
              <a:alpha val="12000"/>
            </a:srgbClr>
          </a:solidFill>
          <a:ln w="12700">
            <a:solidFill>
              <a:srgbClr val="FFFFFF">
                <a:alpha val="40000"/>
              </a:srgbClr>
            </a:solidFill>
            <a:prstDash val="solid"/>
          </a:ln>
        </p:spPr>
      </p:sp>
      <p:sp>
        <p:nvSpPr>
          <p:cNvPr id="17" name="Text 15"/>
          <p:cNvSpPr/>
          <p:nvPr/>
        </p:nvSpPr>
        <p:spPr>
          <a:xfrm>
            <a:off x="502920" y="2880360"/>
            <a:ext cx="1874520" cy="68580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FeedbackController — Web &amp; SMS input</a:t>
            </a:r>
            <a:endParaRPr lang="en-US" sz="950" dirty="0"/>
          </a:p>
        </p:txBody>
      </p:sp>
      <p:sp>
        <p:nvSpPr>
          <p:cNvPr id="18" name="Shape 16"/>
          <p:cNvSpPr/>
          <p:nvPr/>
        </p:nvSpPr>
        <p:spPr>
          <a:xfrm>
            <a:off x="2514600" y="2880360"/>
            <a:ext cx="1965960" cy="685800"/>
          </a:xfrm>
          <a:prstGeom prst="roundRect">
            <a:avLst>
              <a:gd name="adj" fmla="val 9333"/>
            </a:avLst>
          </a:prstGeom>
          <a:solidFill>
            <a:srgbClr val="FFFFFF">
              <a:alpha val="12000"/>
            </a:srgbClr>
          </a:solidFill>
          <a:ln w="12700">
            <a:solidFill>
              <a:srgbClr val="FFFFFF">
                <a:alpha val="40000"/>
              </a:srgbClr>
            </a:solidFill>
            <a:prstDash val="solid"/>
          </a:ln>
        </p:spPr>
      </p:sp>
      <p:sp>
        <p:nvSpPr>
          <p:cNvPr id="19" name="Text 17"/>
          <p:cNvSpPr/>
          <p:nvPr/>
        </p:nvSpPr>
        <p:spPr>
          <a:xfrm>
            <a:off x="2560320" y="2880360"/>
            <a:ext cx="1874520" cy="68580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NLP Module — TextBlob + LDA (scikit-learn)</a:t>
            </a:r>
            <a:endParaRPr lang="en-US" sz="950" dirty="0"/>
          </a:p>
        </p:txBody>
      </p:sp>
      <p:sp>
        <p:nvSpPr>
          <p:cNvPr id="20" name="Shape 18"/>
          <p:cNvSpPr/>
          <p:nvPr/>
        </p:nvSpPr>
        <p:spPr>
          <a:xfrm>
            <a:off x="4572000" y="2880360"/>
            <a:ext cx="1965960" cy="685800"/>
          </a:xfrm>
          <a:prstGeom prst="roundRect">
            <a:avLst>
              <a:gd name="adj" fmla="val 9333"/>
            </a:avLst>
          </a:prstGeom>
          <a:solidFill>
            <a:srgbClr val="FFFFFF">
              <a:alpha val="12000"/>
            </a:srgbClr>
          </a:solidFill>
          <a:ln w="12700">
            <a:solidFill>
              <a:srgbClr val="FFFFFF">
                <a:alpha val="40000"/>
              </a:srgbClr>
            </a:solidFill>
            <a:prstDash val="solid"/>
          </a:ln>
        </p:spPr>
      </p:sp>
      <p:sp>
        <p:nvSpPr>
          <p:cNvPr id="21" name="Text 19"/>
          <p:cNvSpPr/>
          <p:nvPr/>
        </p:nvSpPr>
        <p:spPr>
          <a:xfrm>
            <a:off x="4617720" y="2880360"/>
            <a:ext cx="1874520" cy="68580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Dashboard Generator — JSON aggregation</a:t>
            </a:r>
            <a:endParaRPr lang="en-US" sz="950" dirty="0"/>
          </a:p>
        </p:txBody>
      </p:sp>
      <p:sp>
        <p:nvSpPr>
          <p:cNvPr id="22" name="Shape 20"/>
          <p:cNvSpPr/>
          <p:nvPr/>
        </p:nvSpPr>
        <p:spPr>
          <a:xfrm>
            <a:off x="6629400" y="2880360"/>
            <a:ext cx="1965960" cy="685800"/>
          </a:xfrm>
          <a:prstGeom prst="roundRect">
            <a:avLst>
              <a:gd name="adj" fmla="val 9333"/>
            </a:avLst>
          </a:prstGeom>
          <a:solidFill>
            <a:srgbClr val="FFFFFF">
              <a:alpha val="12000"/>
            </a:srgbClr>
          </a:solidFill>
          <a:ln w="12700">
            <a:solidFill>
              <a:srgbClr val="FFFFFF">
                <a:alpha val="40000"/>
              </a:srgbClr>
            </a:solidFill>
            <a:prstDash val="solid"/>
          </a:ln>
        </p:spPr>
      </p:sp>
      <p:sp>
        <p:nvSpPr>
          <p:cNvPr id="23" name="Text 21"/>
          <p:cNvSpPr/>
          <p:nvPr/>
        </p:nvSpPr>
        <p:spPr>
          <a:xfrm>
            <a:off x="6675120" y="2880360"/>
            <a:ext cx="1874520" cy="68580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Storage Service — SQLAlchemy ORM</a:t>
            </a:r>
            <a:endParaRPr lang="en-US" sz="950" dirty="0"/>
          </a:p>
        </p:txBody>
      </p:sp>
      <p:sp>
        <p:nvSpPr>
          <p:cNvPr id="24" name="Shape 22"/>
          <p:cNvSpPr/>
          <p:nvPr/>
        </p:nvSpPr>
        <p:spPr>
          <a:xfrm>
            <a:off x="320040" y="3931920"/>
            <a:ext cx="8503920" cy="960120"/>
          </a:xfrm>
          <a:prstGeom prst="roundRect">
            <a:avLst>
              <a:gd name="adj" fmla="val 9524"/>
            </a:avLst>
          </a:prstGeom>
          <a:solidFill>
            <a:srgbClr val="4B5563"/>
          </a:solidFill>
          <a:ln w="12700">
            <a:solidFill>
              <a:srgbClr val="4B5563"/>
            </a:solidFill>
            <a:prstDash val="solid"/>
          </a:ln>
          <a:effectLst>
            <a:outerShdw sx="100000" sy="100000" kx="0" ky="0" algn="bl" rotWithShape="0" blurRad="101600" dist="38100" dir="2700000">
              <a:srgbClr val="000000">
                <a:alpha val="18000"/>
              </a:srgbClr>
            </a:outerShdw>
          </a:effectLst>
        </p:spPr>
      </p:sp>
      <p:sp>
        <p:nvSpPr>
          <p:cNvPr id="25" name="Text 23"/>
          <p:cNvSpPr/>
          <p:nvPr/>
        </p:nvSpPr>
        <p:spPr>
          <a:xfrm>
            <a:off x="457200" y="3977640"/>
            <a:ext cx="8229600" cy="32004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DATA TIER</a:t>
            </a:r>
            <a:endParaRPr lang="en-US" sz="1100" dirty="0"/>
          </a:p>
        </p:txBody>
      </p:sp>
      <p:sp>
        <p:nvSpPr>
          <p:cNvPr id="26" name="Shape 24"/>
          <p:cNvSpPr/>
          <p:nvPr/>
        </p:nvSpPr>
        <p:spPr>
          <a:xfrm>
            <a:off x="457200" y="4389120"/>
            <a:ext cx="4023360" cy="384048"/>
          </a:xfrm>
          <a:prstGeom prst="roundRect">
            <a:avLst>
              <a:gd name="adj" fmla="val 16667"/>
            </a:avLst>
          </a:prstGeom>
          <a:solidFill>
            <a:srgbClr val="FFFFFF">
              <a:alpha val="12000"/>
            </a:srgbClr>
          </a:solidFill>
          <a:ln w="12700">
            <a:solidFill>
              <a:srgbClr val="FFFFFF">
                <a:alpha val="40000"/>
              </a:srgbClr>
            </a:solidFill>
            <a:prstDash val="solid"/>
          </a:ln>
        </p:spPr>
      </p:sp>
      <p:sp>
        <p:nvSpPr>
          <p:cNvPr id="27" name="Text 25"/>
          <p:cNvSpPr/>
          <p:nvPr/>
        </p:nvSpPr>
        <p:spPr>
          <a:xfrm>
            <a:off x="502920" y="4389120"/>
            <a:ext cx="3931920" cy="38404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SQLite (dev) → PostgreSQL (prod)</a:t>
            </a:r>
            <a:endParaRPr lang="en-US" sz="950" dirty="0"/>
          </a:p>
        </p:txBody>
      </p:sp>
      <p:sp>
        <p:nvSpPr>
          <p:cNvPr id="28" name="Shape 26"/>
          <p:cNvSpPr/>
          <p:nvPr/>
        </p:nvSpPr>
        <p:spPr>
          <a:xfrm>
            <a:off x="4572000" y="4389120"/>
            <a:ext cx="4023360" cy="384048"/>
          </a:xfrm>
          <a:prstGeom prst="roundRect">
            <a:avLst>
              <a:gd name="adj" fmla="val 16667"/>
            </a:avLst>
          </a:prstGeom>
          <a:solidFill>
            <a:srgbClr val="FFFFFF">
              <a:alpha val="12000"/>
            </a:srgbClr>
          </a:solidFill>
          <a:ln w="12700">
            <a:solidFill>
              <a:srgbClr val="FFFFFF">
                <a:alpha val="40000"/>
              </a:srgbClr>
            </a:solidFill>
            <a:prstDash val="solid"/>
          </a:ln>
        </p:spPr>
      </p:sp>
      <p:sp>
        <p:nvSpPr>
          <p:cNvPr id="29" name="Text 27"/>
          <p:cNvSpPr/>
          <p:nvPr/>
        </p:nvSpPr>
        <p:spPr>
          <a:xfrm>
            <a:off x="4617720" y="4389120"/>
            <a:ext cx="3931920" cy="38404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Tables: Users, Feedback, AnalysisResult, AuditLog</a:t>
            </a:r>
            <a:endParaRPr lang="en-US" sz="950" dirty="0"/>
          </a:p>
        </p:txBody>
      </p:sp>
      <p:sp>
        <p:nvSpPr>
          <p:cNvPr id="30" name="Shape 28"/>
          <p:cNvSpPr/>
          <p:nvPr/>
        </p:nvSpPr>
        <p:spPr>
          <a:xfrm>
            <a:off x="4434840" y="2240280"/>
            <a:ext cx="0" cy="201168"/>
          </a:xfrm>
          <a:prstGeom prst="line">
            <a:avLst/>
          </a:prstGeom>
          <a:noFill/>
          <a:ln w="25400">
            <a:solidFill>
              <a:srgbClr val="1ABFBF"/>
            </a:solidFill>
            <a:prstDash val="solid"/>
          </a:ln>
        </p:spPr>
      </p:sp>
      <p:sp>
        <p:nvSpPr>
          <p:cNvPr id="31" name="Shape 29"/>
          <p:cNvSpPr/>
          <p:nvPr/>
        </p:nvSpPr>
        <p:spPr>
          <a:xfrm>
            <a:off x="4434840" y="3749040"/>
            <a:ext cx="0" cy="201168"/>
          </a:xfrm>
          <a:prstGeom prst="line">
            <a:avLst/>
          </a:prstGeom>
          <a:noFill/>
          <a:ln w="25400">
            <a:solidFill>
              <a:srgbClr val="1ABFBF"/>
            </a:solidFill>
            <a:prstDash val="solid"/>
          </a:ln>
        </p:spPr>
      </p:sp>
      <p:sp>
        <p:nvSpPr>
          <p:cNvPr id="32" name="Text 30"/>
          <p:cNvSpPr/>
          <p:nvPr/>
        </p:nvSpPr>
        <p:spPr>
          <a:xfrm>
            <a:off x="4572000" y="2267712"/>
            <a:ext cx="2286000" cy="182880"/>
          </a:xfrm>
          <a:prstGeom prst="rect">
            <a:avLst/>
          </a:prstGeom>
          <a:noFill/>
          <a:ln/>
        </p:spPr>
        <p:txBody>
          <a:bodyPr wrap="square" lIns="0" tIns="0" rIns="0" bIns="0" rtlCol="0" anchor="ctr"/>
          <a:lstStyle/>
          <a:p>
            <a:pPr indent="0" marL="0">
              <a:buNone/>
            </a:pPr>
            <a:r>
              <a:rPr lang="en-US" sz="800" dirty="0">
                <a:solidFill>
                  <a:srgbClr val="8BA3B0"/>
                </a:solidFill>
                <a:latin typeface="Calibri" pitchFamily="34" charset="0"/>
                <a:ea typeface="Calibri" pitchFamily="34" charset="-122"/>
                <a:cs typeface="Calibri" pitchFamily="34" charset="-120"/>
              </a:rPr>
              <a:t>REST APIs / HTTP-HTTPS</a:t>
            </a:r>
            <a:endParaRPr lang="en-US" sz="800" dirty="0"/>
          </a:p>
        </p:txBody>
      </p:sp>
      <p:sp>
        <p:nvSpPr>
          <p:cNvPr id="33" name="Text 31"/>
          <p:cNvSpPr/>
          <p:nvPr/>
        </p:nvSpPr>
        <p:spPr>
          <a:xfrm>
            <a:off x="4572000" y="3767328"/>
            <a:ext cx="2286000" cy="182880"/>
          </a:xfrm>
          <a:prstGeom prst="rect">
            <a:avLst/>
          </a:prstGeom>
          <a:noFill/>
          <a:ln/>
        </p:spPr>
        <p:txBody>
          <a:bodyPr wrap="square" lIns="0" tIns="0" rIns="0" bIns="0" rtlCol="0" anchor="ctr"/>
          <a:lstStyle/>
          <a:p>
            <a:pPr indent="0" marL="0">
              <a:buNone/>
            </a:pPr>
            <a:r>
              <a:rPr lang="en-US" sz="800" dirty="0">
                <a:solidFill>
                  <a:srgbClr val="8BA3B0"/>
                </a:solidFill>
                <a:latin typeface="Calibri" pitchFamily="34" charset="0"/>
                <a:ea typeface="Calibri" pitchFamily="34" charset="-122"/>
                <a:cs typeface="Calibri" pitchFamily="34" charset="-120"/>
              </a:rPr>
              <a:t>SQL (SQLAlchemy ORM)</a:t>
            </a:r>
            <a:endParaRPr lang="en-US" sz="800" dirty="0"/>
          </a:p>
        </p:txBody>
      </p:sp>
      <p:sp>
        <p:nvSpPr>
          <p:cNvPr id="34" name="Shape 32"/>
          <p:cNvSpPr/>
          <p:nvPr/>
        </p:nvSpPr>
        <p:spPr>
          <a:xfrm>
            <a:off x="320040" y="4681728"/>
            <a:ext cx="2011680" cy="320040"/>
          </a:xfrm>
          <a:prstGeom prst="roundRect">
            <a:avLst>
              <a:gd name="adj" fmla="val 17143"/>
            </a:avLst>
          </a:prstGeom>
          <a:solidFill>
            <a:srgbClr val="F5A623">
              <a:alpha val="80000"/>
            </a:srgbClr>
          </a:solidFill>
          <a:ln w="12700">
            <a:solidFill>
              <a:srgbClr val="F5A623"/>
            </a:solidFill>
            <a:prstDash val="solid"/>
          </a:ln>
        </p:spPr>
      </p:sp>
      <p:sp>
        <p:nvSpPr>
          <p:cNvPr id="35" name="Text 33"/>
          <p:cNvSpPr/>
          <p:nvPr/>
        </p:nvSpPr>
        <p:spPr>
          <a:xfrm>
            <a:off x="320040" y="4681728"/>
            <a:ext cx="2011680" cy="320040"/>
          </a:xfrm>
          <a:prstGeom prst="rect">
            <a:avLst/>
          </a:prstGeom>
          <a:noFill/>
          <a:ln/>
        </p:spPr>
        <p:txBody>
          <a:bodyPr wrap="square" lIns="0" tIns="0" rIns="0" bIns="0" rtlCol="0" anchor="ctr"/>
          <a:lstStyle/>
          <a:p>
            <a:pPr algn="ctr" indent="0" marL="0">
              <a:buNone/>
            </a:pPr>
            <a:r>
              <a:rPr lang="en-US" sz="950" b="1" dirty="0">
                <a:solidFill>
                  <a:srgbClr val="0A1628"/>
                </a:solidFill>
                <a:latin typeface="Calibri" pitchFamily="34" charset="0"/>
                <a:ea typeface="Calibri" pitchFamily="34" charset="-122"/>
                <a:cs typeface="Calibri" pitchFamily="34" charset="-120"/>
              </a:rPr>
              <a:t>⬆  Africa's Talking SMS</a:t>
            </a:r>
            <a:endParaRPr lang="en-US" sz="950" dirty="0"/>
          </a:p>
        </p:txBody>
      </p:sp>
      <p:sp>
        <p:nvSpPr>
          <p:cNvPr id="36" name="Shape 34"/>
          <p:cNvSpPr/>
          <p:nvPr/>
        </p:nvSpPr>
        <p:spPr>
          <a:xfrm>
            <a:off x="5074920" y="4681728"/>
            <a:ext cx="2011680" cy="320040"/>
          </a:xfrm>
          <a:prstGeom prst="roundRect">
            <a:avLst>
              <a:gd name="adj" fmla="val 17143"/>
            </a:avLst>
          </a:prstGeom>
          <a:solidFill>
            <a:srgbClr val="F5A623">
              <a:alpha val="80000"/>
            </a:srgbClr>
          </a:solidFill>
          <a:ln w="12700">
            <a:solidFill>
              <a:srgbClr val="F5A623"/>
            </a:solidFill>
            <a:prstDash val="solid"/>
          </a:ln>
        </p:spPr>
      </p:sp>
      <p:sp>
        <p:nvSpPr>
          <p:cNvPr id="37" name="Text 35"/>
          <p:cNvSpPr/>
          <p:nvPr/>
        </p:nvSpPr>
        <p:spPr>
          <a:xfrm>
            <a:off x="5074920" y="4681728"/>
            <a:ext cx="2011680" cy="320040"/>
          </a:xfrm>
          <a:prstGeom prst="rect">
            <a:avLst/>
          </a:prstGeom>
          <a:noFill/>
          <a:ln/>
        </p:spPr>
        <p:txBody>
          <a:bodyPr wrap="square" lIns="0" tIns="0" rIns="0" bIns="0" rtlCol="0" anchor="ctr"/>
          <a:lstStyle/>
          <a:p>
            <a:pPr algn="ctr" indent="0" marL="0">
              <a:buNone/>
            </a:pPr>
            <a:r>
              <a:rPr lang="en-US" sz="950" b="1" dirty="0">
                <a:solidFill>
                  <a:srgbClr val="0A1628"/>
                </a:solidFill>
                <a:latin typeface="Calibri" pitchFamily="34" charset="0"/>
                <a:ea typeface="Calibri" pitchFamily="34" charset="-122"/>
                <a:cs typeface="Calibri" pitchFamily="34" charset="-120"/>
              </a:rPr>
              <a:t>⬆  OpenAI Whisper Audio</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F38"/>
          </a:solidFill>
          <a:ln w="12700">
            <a:solidFill>
              <a:srgbClr val="0D1F3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algn="l" indent="0" marL="0">
              <a:buNone/>
            </a:pPr>
            <a:r>
              <a:rPr lang="en-US" sz="1100" b="1" spc="400" kern="0" dirty="0">
                <a:solidFill>
                  <a:srgbClr val="1ABFBF"/>
                </a:solidFill>
                <a:latin typeface="Calibri" pitchFamily="34" charset="0"/>
                <a:ea typeface="Calibri" pitchFamily="34" charset="-122"/>
                <a:cs typeface="Calibri" pitchFamily="34" charset="-120"/>
              </a:rPr>
              <a:t>AI / NLP ANALYSIS PIPELINE</a:t>
            </a:r>
            <a:endParaRPr lang="en-US" sz="1100" dirty="0"/>
          </a:p>
        </p:txBody>
      </p:sp>
      <p:sp>
        <p:nvSpPr>
          <p:cNvPr id="4" name="Shape 2"/>
          <p:cNvSpPr/>
          <p:nvPr/>
        </p:nvSpPr>
        <p:spPr>
          <a:xfrm>
            <a:off x="274320" y="914400"/>
            <a:ext cx="1508760" cy="1554480"/>
          </a:xfrm>
          <a:prstGeom prst="roundRect">
            <a:avLst>
              <a:gd name="adj" fmla="val 6061"/>
            </a:avLst>
          </a:prstGeom>
          <a:solidFill>
            <a:srgbClr val="0D7A8A"/>
          </a:solidFill>
          <a:ln w="12700">
            <a:solidFill>
              <a:srgbClr val="0D7A8A"/>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274320" y="960120"/>
            <a:ext cx="150876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Input</a:t>
            </a:r>
            <a:endParaRPr lang="en-US" sz="1150" dirty="0"/>
          </a:p>
        </p:txBody>
      </p:sp>
      <p:sp>
        <p:nvSpPr>
          <p:cNvPr id="6" name="Text 4"/>
          <p:cNvSpPr/>
          <p:nvPr/>
        </p:nvSpPr>
        <p:spPr>
          <a:xfrm>
            <a:off x="347472" y="1481328"/>
            <a:ext cx="1371600" cy="914400"/>
          </a:xfrm>
          <a:prstGeom prst="rect">
            <a:avLst/>
          </a:prstGeom>
          <a:noFill/>
          <a:ln/>
        </p:spPr>
        <p:txBody>
          <a:bodyPr wrap="square" lIns="0" tIns="0" rIns="0" bIns="0" rtlCol="0" anchor="ctr"/>
          <a:lstStyle/>
          <a:p>
            <a:pPr algn="ctr" indent="0" marL="0">
              <a:buNone/>
            </a:pPr>
            <a:r>
              <a:rPr lang="en-US" sz="950" dirty="0">
                <a:solidFill>
                  <a:srgbClr val="B8E0E8"/>
                </a:solidFill>
                <a:latin typeface="Calibri" pitchFamily="34" charset="0"/>
                <a:ea typeface="Calibri" pitchFamily="34" charset="-122"/>
                <a:cs typeface="Calibri" pitchFamily="34" charset="-120"/>
              </a:rPr>
              <a:t>Web form</a:t>
            </a:r>
            <a:endParaRPr lang="en-US" sz="950" dirty="0"/>
          </a:p>
          <a:p>
            <a:pPr algn="ctr" indent="0" marL="0">
              <a:buNone/>
            </a:pPr>
            <a:r>
              <a:rPr lang="en-US" sz="950" dirty="0">
                <a:solidFill>
                  <a:srgbClr val="B8E0E8"/>
                </a:solidFill>
                <a:latin typeface="Calibri" pitchFamily="34" charset="0"/>
                <a:ea typeface="Calibri" pitchFamily="34" charset="-122"/>
                <a:cs typeface="Calibri" pitchFamily="34" charset="-120"/>
              </a:rPr>
              <a:t>SMS</a:t>
            </a:r>
            <a:endParaRPr lang="en-US" sz="950" dirty="0"/>
          </a:p>
          <a:p>
            <a:pPr algn="ctr" indent="0" marL="0">
              <a:buNone/>
            </a:pPr>
            <a:r>
              <a:rPr lang="en-US" sz="950" dirty="0">
                <a:solidFill>
                  <a:srgbClr val="B8E0E8"/>
                </a:solidFill>
                <a:latin typeface="Calibri" pitchFamily="34" charset="0"/>
                <a:ea typeface="Calibri" pitchFamily="34" charset="-122"/>
                <a:cs typeface="Calibri" pitchFamily="34" charset="-120"/>
              </a:rPr>
              <a:t>Audio (Whisper)</a:t>
            </a:r>
            <a:endParaRPr lang="en-US" sz="950" dirty="0"/>
          </a:p>
        </p:txBody>
      </p:sp>
      <p:sp>
        <p:nvSpPr>
          <p:cNvPr id="7" name="Shape 5"/>
          <p:cNvSpPr/>
          <p:nvPr/>
        </p:nvSpPr>
        <p:spPr>
          <a:xfrm>
            <a:off x="1810512" y="1664208"/>
            <a:ext cx="164592" cy="0"/>
          </a:xfrm>
          <a:prstGeom prst="line">
            <a:avLst/>
          </a:prstGeom>
          <a:noFill/>
          <a:ln w="25400">
            <a:solidFill>
              <a:srgbClr val="F5A623"/>
            </a:solidFill>
            <a:prstDash val="solid"/>
          </a:ln>
        </p:spPr>
      </p:sp>
      <p:sp>
        <p:nvSpPr>
          <p:cNvPr id="8" name="Shape 6"/>
          <p:cNvSpPr/>
          <p:nvPr/>
        </p:nvSpPr>
        <p:spPr>
          <a:xfrm>
            <a:off x="2011680" y="914400"/>
            <a:ext cx="1508760" cy="1554480"/>
          </a:xfrm>
          <a:prstGeom prst="roundRect">
            <a:avLst>
              <a:gd name="adj" fmla="val 6061"/>
            </a:avLst>
          </a:prstGeom>
          <a:solidFill>
            <a:srgbClr val="1E6B7A"/>
          </a:solidFill>
          <a:ln w="12700">
            <a:solidFill>
              <a:srgbClr val="1E6B7A"/>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2011680" y="960120"/>
            <a:ext cx="150876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Pre-process</a:t>
            </a:r>
            <a:endParaRPr lang="en-US" sz="1150" dirty="0"/>
          </a:p>
        </p:txBody>
      </p:sp>
      <p:sp>
        <p:nvSpPr>
          <p:cNvPr id="10" name="Text 8"/>
          <p:cNvSpPr/>
          <p:nvPr/>
        </p:nvSpPr>
        <p:spPr>
          <a:xfrm>
            <a:off x="2084832" y="1481328"/>
            <a:ext cx="1371600" cy="914400"/>
          </a:xfrm>
          <a:prstGeom prst="rect">
            <a:avLst/>
          </a:prstGeom>
          <a:noFill/>
          <a:ln/>
        </p:spPr>
        <p:txBody>
          <a:bodyPr wrap="square" lIns="0" tIns="0" rIns="0" bIns="0" rtlCol="0" anchor="ctr"/>
          <a:lstStyle/>
          <a:p>
            <a:pPr algn="ctr" indent="0" marL="0">
              <a:buNone/>
            </a:pPr>
            <a:r>
              <a:rPr lang="en-US" sz="950" dirty="0">
                <a:solidFill>
                  <a:srgbClr val="B8E0E8"/>
                </a:solidFill>
                <a:latin typeface="Calibri" pitchFamily="34" charset="0"/>
                <a:ea typeface="Calibri" pitchFamily="34" charset="-122"/>
                <a:cs typeface="Calibri" pitchFamily="34" charset="-120"/>
              </a:rPr>
              <a:t>Lowercase</a:t>
            </a:r>
            <a:endParaRPr lang="en-US" sz="950" dirty="0"/>
          </a:p>
          <a:p>
            <a:pPr algn="ctr" indent="0" marL="0">
              <a:buNone/>
            </a:pPr>
            <a:r>
              <a:rPr lang="en-US" sz="950" dirty="0">
                <a:solidFill>
                  <a:srgbClr val="B8E0E8"/>
                </a:solidFill>
                <a:latin typeface="Calibri" pitchFamily="34" charset="0"/>
                <a:ea typeface="Calibri" pitchFamily="34" charset="-122"/>
                <a:cs typeface="Calibri" pitchFamily="34" charset="-120"/>
              </a:rPr>
              <a:t>Remove noise</a:t>
            </a:r>
            <a:endParaRPr lang="en-US" sz="950" dirty="0"/>
          </a:p>
          <a:p>
            <a:pPr algn="ctr" indent="0" marL="0">
              <a:buNone/>
            </a:pPr>
            <a:r>
              <a:rPr lang="en-US" sz="950" dirty="0">
                <a:solidFill>
                  <a:srgbClr val="B8E0E8"/>
                </a:solidFill>
                <a:latin typeface="Calibri" pitchFamily="34" charset="0"/>
                <a:ea typeface="Calibri" pitchFamily="34" charset="-122"/>
                <a:cs typeface="Calibri" pitchFamily="34" charset="-120"/>
              </a:rPr>
              <a:t>Tokenise</a:t>
            </a:r>
            <a:endParaRPr lang="en-US" sz="950" dirty="0"/>
          </a:p>
        </p:txBody>
      </p:sp>
      <p:sp>
        <p:nvSpPr>
          <p:cNvPr id="11" name="Shape 9"/>
          <p:cNvSpPr/>
          <p:nvPr/>
        </p:nvSpPr>
        <p:spPr>
          <a:xfrm>
            <a:off x="3547872" y="1664208"/>
            <a:ext cx="164592" cy="0"/>
          </a:xfrm>
          <a:prstGeom prst="line">
            <a:avLst/>
          </a:prstGeom>
          <a:noFill/>
          <a:ln w="25400">
            <a:solidFill>
              <a:srgbClr val="F5A623"/>
            </a:solidFill>
            <a:prstDash val="solid"/>
          </a:ln>
        </p:spPr>
      </p:sp>
      <p:sp>
        <p:nvSpPr>
          <p:cNvPr id="12" name="Shape 10"/>
          <p:cNvSpPr/>
          <p:nvPr/>
        </p:nvSpPr>
        <p:spPr>
          <a:xfrm>
            <a:off x="3749040" y="914400"/>
            <a:ext cx="1508760" cy="1554480"/>
          </a:xfrm>
          <a:prstGeom prst="roundRect">
            <a:avLst>
              <a:gd name="adj" fmla="val 6061"/>
            </a:avLst>
          </a:prstGeom>
          <a:solidFill>
            <a:srgbClr val="0D7A8A"/>
          </a:solidFill>
          <a:ln w="12700">
            <a:solidFill>
              <a:srgbClr val="0D7A8A"/>
            </a:solidFill>
            <a:prstDash val="solid"/>
          </a:ln>
          <a:effectLst>
            <a:outerShdw sx="100000" sy="100000" kx="0" ky="0" algn="bl" rotWithShape="0" blurRad="101600" dist="38100" dir="2700000">
              <a:srgbClr val="000000">
                <a:alpha val="18000"/>
              </a:srgbClr>
            </a:outerShdw>
          </a:effectLst>
        </p:spPr>
      </p:sp>
      <p:sp>
        <p:nvSpPr>
          <p:cNvPr id="13" name="Text 11"/>
          <p:cNvSpPr/>
          <p:nvPr/>
        </p:nvSpPr>
        <p:spPr>
          <a:xfrm>
            <a:off x="3749040" y="960120"/>
            <a:ext cx="150876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Sentiment</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Classify</a:t>
            </a:r>
            <a:endParaRPr lang="en-US" sz="1150" dirty="0"/>
          </a:p>
        </p:txBody>
      </p:sp>
      <p:sp>
        <p:nvSpPr>
          <p:cNvPr id="14" name="Text 12"/>
          <p:cNvSpPr/>
          <p:nvPr/>
        </p:nvSpPr>
        <p:spPr>
          <a:xfrm>
            <a:off x="3822192" y="1481328"/>
            <a:ext cx="1371600" cy="914400"/>
          </a:xfrm>
          <a:prstGeom prst="rect">
            <a:avLst/>
          </a:prstGeom>
          <a:noFill/>
          <a:ln/>
        </p:spPr>
        <p:txBody>
          <a:bodyPr wrap="square" lIns="0" tIns="0" rIns="0" bIns="0" rtlCol="0" anchor="ctr"/>
          <a:lstStyle/>
          <a:p>
            <a:pPr algn="ctr" indent="0" marL="0">
              <a:buNone/>
            </a:pPr>
            <a:r>
              <a:rPr lang="en-US" sz="950" dirty="0">
                <a:solidFill>
                  <a:srgbClr val="B8E0E8"/>
                </a:solidFill>
                <a:latin typeface="Calibri" pitchFamily="34" charset="0"/>
                <a:ea typeface="Calibri" pitchFamily="34" charset="-122"/>
                <a:cs typeface="Calibri" pitchFamily="34" charset="-120"/>
              </a:rPr>
              <a:t>TextBlob polarity</a:t>
            </a:r>
            <a:endParaRPr lang="en-US" sz="950" dirty="0"/>
          </a:p>
          <a:p>
            <a:pPr algn="ctr" indent="0" marL="0">
              <a:buNone/>
            </a:pPr>
            <a:r>
              <a:rPr lang="en-US" sz="950" dirty="0">
                <a:solidFill>
                  <a:srgbClr val="B8E0E8"/>
                </a:solidFill>
                <a:latin typeface="Calibri" pitchFamily="34" charset="0"/>
                <a:ea typeface="Calibri" pitchFamily="34" charset="-122"/>
                <a:cs typeface="Calibri" pitchFamily="34" charset="-120"/>
              </a:rPr>
              <a:t>Threshold: ±0.45</a:t>
            </a:r>
            <a:endParaRPr lang="en-US" sz="950" dirty="0"/>
          </a:p>
          <a:p>
            <a:pPr algn="ctr" indent="0" marL="0">
              <a:buNone/>
            </a:pPr>
            <a:r>
              <a:rPr lang="en-US" sz="950" dirty="0">
                <a:solidFill>
                  <a:srgbClr val="B8E0E8"/>
                </a:solidFill>
                <a:latin typeface="Calibri" pitchFamily="34" charset="0"/>
                <a:ea typeface="Calibri" pitchFamily="34" charset="-122"/>
                <a:cs typeface="Calibri" pitchFamily="34" charset="-120"/>
              </a:rPr>
              <a:t>+ Keyword boost</a:t>
            </a:r>
            <a:endParaRPr lang="en-US" sz="950" dirty="0"/>
          </a:p>
        </p:txBody>
      </p:sp>
      <p:sp>
        <p:nvSpPr>
          <p:cNvPr id="15" name="Shape 13"/>
          <p:cNvSpPr/>
          <p:nvPr/>
        </p:nvSpPr>
        <p:spPr>
          <a:xfrm>
            <a:off x="5285232" y="1664208"/>
            <a:ext cx="164592" cy="0"/>
          </a:xfrm>
          <a:prstGeom prst="line">
            <a:avLst/>
          </a:prstGeom>
          <a:noFill/>
          <a:ln w="25400">
            <a:solidFill>
              <a:srgbClr val="F5A623"/>
            </a:solidFill>
            <a:prstDash val="solid"/>
          </a:ln>
        </p:spPr>
      </p:sp>
      <p:sp>
        <p:nvSpPr>
          <p:cNvPr id="16" name="Shape 14"/>
          <p:cNvSpPr/>
          <p:nvPr/>
        </p:nvSpPr>
        <p:spPr>
          <a:xfrm>
            <a:off x="5486400" y="914400"/>
            <a:ext cx="1508760" cy="1554480"/>
          </a:xfrm>
          <a:prstGeom prst="roundRect">
            <a:avLst>
              <a:gd name="adj" fmla="val 6061"/>
            </a:avLst>
          </a:prstGeom>
          <a:solidFill>
            <a:srgbClr val="1E6B7A"/>
          </a:solidFill>
          <a:ln w="12700">
            <a:solidFill>
              <a:srgbClr val="1E6B7A"/>
            </a:solidFill>
            <a:prstDash val="solid"/>
          </a:ln>
          <a:effectLst>
            <a:outerShdw sx="100000" sy="100000" kx="0" ky="0" algn="bl" rotWithShape="0" blurRad="101600" dist="38100" dir="2700000">
              <a:srgbClr val="000000">
                <a:alpha val="18000"/>
              </a:srgbClr>
            </a:outerShdw>
          </a:effectLst>
        </p:spPr>
      </p:sp>
      <p:sp>
        <p:nvSpPr>
          <p:cNvPr id="17" name="Text 15"/>
          <p:cNvSpPr/>
          <p:nvPr/>
        </p:nvSpPr>
        <p:spPr>
          <a:xfrm>
            <a:off x="5486400" y="960120"/>
            <a:ext cx="150876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Topic</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Model (LDA)</a:t>
            </a:r>
            <a:endParaRPr lang="en-US" sz="1150" dirty="0"/>
          </a:p>
        </p:txBody>
      </p:sp>
      <p:sp>
        <p:nvSpPr>
          <p:cNvPr id="18" name="Text 16"/>
          <p:cNvSpPr/>
          <p:nvPr/>
        </p:nvSpPr>
        <p:spPr>
          <a:xfrm>
            <a:off x="5559552" y="1481328"/>
            <a:ext cx="1371600" cy="914400"/>
          </a:xfrm>
          <a:prstGeom prst="rect">
            <a:avLst/>
          </a:prstGeom>
          <a:noFill/>
          <a:ln/>
        </p:spPr>
        <p:txBody>
          <a:bodyPr wrap="square" lIns="0" tIns="0" rIns="0" bIns="0" rtlCol="0" anchor="ctr"/>
          <a:lstStyle/>
          <a:p>
            <a:pPr algn="ctr" indent="0" marL="0">
              <a:buNone/>
            </a:pPr>
            <a:r>
              <a:rPr lang="en-US" sz="950" dirty="0">
                <a:solidFill>
                  <a:srgbClr val="B8E0E8"/>
                </a:solidFill>
                <a:latin typeface="Calibri" pitchFamily="34" charset="0"/>
                <a:ea typeface="Calibri" pitchFamily="34" charset="-122"/>
                <a:cs typeface="Calibri" pitchFamily="34" charset="-120"/>
              </a:rPr>
              <a:t>scikit-learn LDA</a:t>
            </a:r>
            <a:endParaRPr lang="en-US" sz="950" dirty="0"/>
          </a:p>
          <a:p>
            <a:pPr algn="ctr" indent="0" marL="0">
              <a:buNone/>
            </a:pPr>
            <a:r>
              <a:rPr lang="en-US" sz="950" dirty="0">
                <a:solidFill>
                  <a:srgbClr val="B8E0E8"/>
                </a:solidFill>
                <a:latin typeface="Calibri" pitchFamily="34" charset="0"/>
                <a:ea typeface="Calibri" pitchFamily="34" charset="-122"/>
                <a:cs typeface="Calibri" pitchFamily="34" charset="-120"/>
              </a:rPr>
              <a:t>5 institutional</a:t>
            </a:r>
            <a:endParaRPr lang="en-US" sz="950" dirty="0"/>
          </a:p>
          <a:p>
            <a:pPr algn="ctr" indent="0" marL="0">
              <a:buNone/>
            </a:pPr>
            <a:r>
              <a:rPr lang="en-US" sz="950" dirty="0">
                <a:solidFill>
                  <a:srgbClr val="B8E0E8"/>
                </a:solidFill>
                <a:latin typeface="Calibri" pitchFamily="34" charset="0"/>
                <a:ea typeface="Calibri" pitchFamily="34" charset="-122"/>
                <a:cs typeface="Calibri" pitchFamily="34" charset="-120"/>
              </a:rPr>
              <a:t>categories</a:t>
            </a:r>
            <a:endParaRPr lang="en-US" sz="950" dirty="0"/>
          </a:p>
        </p:txBody>
      </p:sp>
      <p:sp>
        <p:nvSpPr>
          <p:cNvPr id="19" name="Shape 17"/>
          <p:cNvSpPr/>
          <p:nvPr/>
        </p:nvSpPr>
        <p:spPr>
          <a:xfrm>
            <a:off x="7022592" y="1664208"/>
            <a:ext cx="164592" cy="0"/>
          </a:xfrm>
          <a:prstGeom prst="line">
            <a:avLst/>
          </a:prstGeom>
          <a:noFill/>
          <a:ln w="25400">
            <a:solidFill>
              <a:srgbClr val="F5A623"/>
            </a:solidFill>
            <a:prstDash val="solid"/>
          </a:ln>
        </p:spPr>
      </p:sp>
      <p:sp>
        <p:nvSpPr>
          <p:cNvPr id="20" name="Shape 18"/>
          <p:cNvSpPr/>
          <p:nvPr/>
        </p:nvSpPr>
        <p:spPr>
          <a:xfrm>
            <a:off x="7223760" y="914400"/>
            <a:ext cx="1508760" cy="1554480"/>
          </a:xfrm>
          <a:prstGeom prst="roundRect">
            <a:avLst>
              <a:gd name="adj" fmla="val 6061"/>
            </a:avLst>
          </a:prstGeom>
          <a:solidFill>
            <a:srgbClr val="0D7A8A"/>
          </a:solidFill>
          <a:ln w="12700">
            <a:solidFill>
              <a:srgbClr val="0D7A8A"/>
            </a:solidFill>
            <a:prstDash val="solid"/>
          </a:ln>
          <a:effectLst>
            <a:outerShdw sx="100000" sy="100000" kx="0" ky="0" algn="bl" rotWithShape="0" blurRad="101600" dist="38100" dir="2700000">
              <a:srgbClr val="000000">
                <a:alpha val="18000"/>
              </a:srgbClr>
            </a:outerShdw>
          </a:effectLst>
        </p:spPr>
      </p:sp>
      <p:sp>
        <p:nvSpPr>
          <p:cNvPr id="21" name="Text 19"/>
          <p:cNvSpPr/>
          <p:nvPr/>
        </p:nvSpPr>
        <p:spPr>
          <a:xfrm>
            <a:off x="7223760" y="960120"/>
            <a:ext cx="150876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Dashboard</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&amp; Alerts</a:t>
            </a:r>
            <a:endParaRPr lang="en-US" sz="1150" dirty="0"/>
          </a:p>
        </p:txBody>
      </p:sp>
      <p:sp>
        <p:nvSpPr>
          <p:cNvPr id="22" name="Text 20"/>
          <p:cNvSpPr/>
          <p:nvPr/>
        </p:nvSpPr>
        <p:spPr>
          <a:xfrm>
            <a:off x="7296912" y="1481328"/>
            <a:ext cx="1371600" cy="914400"/>
          </a:xfrm>
          <a:prstGeom prst="rect">
            <a:avLst/>
          </a:prstGeom>
          <a:noFill/>
          <a:ln/>
        </p:spPr>
        <p:txBody>
          <a:bodyPr wrap="square" lIns="0" tIns="0" rIns="0" bIns="0" rtlCol="0" anchor="ctr"/>
          <a:lstStyle/>
          <a:p>
            <a:pPr algn="ctr" indent="0" marL="0">
              <a:buNone/>
            </a:pPr>
            <a:r>
              <a:rPr lang="en-US" sz="950" dirty="0">
                <a:solidFill>
                  <a:srgbClr val="B8E0E8"/>
                </a:solidFill>
                <a:latin typeface="Calibri" pitchFamily="34" charset="0"/>
                <a:ea typeface="Calibri" pitchFamily="34" charset="-122"/>
                <a:cs typeface="Calibri" pitchFamily="34" charset="-120"/>
              </a:rPr>
              <a:t>Chart.js charts</a:t>
            </a:r>
            <a:endParaRPr lang="en-US" sz="950" dirty="0"/>
          </a:p>
          <a:p>
            <a:pPr algn="ctr" indent="0" marL="0">
              <a:buNone/>
            </a:pPr>
            <a:r>
              <a:rPr lang="en-US" sz="950" dirty="0">
                <a:solidFill>
                  <a:srgbClr val="B8E0E8"/>
                </a:solidFill>
                <a:latin typeface="Calibri" pitchFamily="34" charset="0"/>
                <a:ea typeface="Calibri" pitchFamily="34" charset="-122"/>
                <a:cs typeface="Calibri" pitchFamily="34" charset="-120"/>
              </a:rPr>
              <a:t>Email alerts</a:t>
            </a:r>
            <a:endParaRPr lang="en-US" sz="950" dirty="0"/>
          </a:p>
          <a:p>
            <a:pPr algn="ctr" indent="0" marL="0">
              <a:buNone/>
            </a:pPr>
            <a:r>
              <a:rPr lang="en-US" sz="950" dirty="0">
                <a:solidFill>
                  <a:srgbClr val="B8E0E8"/>
                </a:solidFill>
                <a:latin typeface="Calibri" pitchFamily="34" charset="0"/>
                <a:ea typeface="Calibri" pitchFamily="34" charset="-122"/>
                <a:cs typeface="Calibri" pitchFamily="34" charset="-120"/>
              </a:rPr>
              <a:t>CSV/PDF export</a:t>
            </a:r>
            <a:endParaRPr lang="en-US" sz="950" dirty="0"/>
          </a:p>
        </p:txBody>
      </p:sp>
      <p:sp>
        <p:nvSpPr>
          <p:cNvPr id="23" name="Text 21"/>
          <p:cNvSpPr/>
          <p:nvPr/>
        </p:nvSpPr>
        <p:spPr>
          <a:xfrm>
            <a:off x="320040" y="2743200"/>
            <a:ext cx="4114800" cy="347472"/>
          </a:xfrm>
          <a:prstGeom prst="rect">
            <a:avLst/>
          </a:prstGeom>
          <a:noFill/>
          <a:ln/>
        </p:spPr>
        <p:txBody>
          <a:bodyPr wrap="square" lIns="0" tIns="0" rIns="0" bIns="0" rtlCol="0" anchor="ctr"/>
          <a:lstStyle/>
          <a:p>
            <a:pPr algn="l" indent="0" marL="0">
              <a:buNone/>
            </a:pPr>
            <a:r>
              <a:rPr lang="en-US" sz="1400" b="1" dirty="0">
                <a:solidFill>
                  <a:srgbClr val="FFFFFF"/>
                </a:solidFill>
                <a:latin typeface="Cambria" pitchFamily="34" charset="0"/>
                <a:ea typeface="Cambria" pitchFamily="34" charset="-122"/>
                <a:cs typeface="Cambria" pitchFamily="34" charset="-120"/>
              </a:rPr>
              <a:t>Sentiment Output Distribution</a:t>
            </a:r>
            <a:endParaRPr lang="en-US" sz="1400" dirty="0"/>
          </a:p>
        </p:txBody>
      </p:sp>
      <p:graphicFrame>
        <p:nvGraphicFramePr>
          <p:cNvPr id="24" name="Chart 0" descr=""/>
          <p:cNvGraphicFramePr/>
          <p:nvPr/>
        </p:nvGraphicFramePr>
        <p:xfrm>
          <a:off x="320040" y="3063240"/>
          <a:ext cx="3200400" cy="1920240"/>
        </p:xfrm>
        <a:graphic xmlns:a="http://schemas.openxmlformats.org/drawingml/2006/main">
          <a:graphicData uri="http://schemas.openxmlformats.org/drawingml/2006/chart">
            <c:chart xmlns:c="http://schemas.openxmlformats.org/drawingml/2006/chart" r:id="rId1"/>
          </a:graphicData>
        </a:graphic>
      </p:graphicFrame>
      <p:sp>
        <p:nvSpPr>
          <p:cNvPr id="25" name="Text 22"/>
          <p:cNvSpPr/>
          <p:nvPr/>
        </p:nvSpPr>
        <p:spPr>
          <a:xfrm>
            <a:off x="4114800" y="2743200"/>
            <a:ext cx="4663440" cy="347472"/>
          </a:xfrm>
          <a:prstGeom prst="rect">
            <a:avLst/>
          </a:prstGeom>
          <a:noFill/>
          <a:ln/>
        </p:spPr>
        <p:txBody>
          <a:bodyPr wrap="square" lIns="0" tIns="0" rIns="0" bIns="0" rtlCol="0" anchor="ctr"/>
          <a:lstStyle/>
          <a:p>
            <a:pPr algn="l" indent="0" marL="0">
              <a:buNone/>
            </a:pPr>
            <a:r>
              <a:rPr lang="en-US" sz="1400" b="1" dirty="0">
                <a:solidFill>
                  <a:srgbClr val="FFFFFF"/>
                </a:solidFill>
                <a:latin typeface="Cambria" pitchFamily="34" charset="0"/>
                <a:ea typeface="Cambria" pitchFamily="34" charset="-122"/>
                <a:cs typeface="Cambria" pitchFamily="34" charset="-120"/>
              </a:rPr>
              <a:t>LDA Topic Categories</a:t>
            </a:r>
            <a:endParaRPr lang="en-US" sz="1400" dirty="0"/>
          </a:p>
        </p:txBody>
      </p:sp>
      <p:sp>
        <p:nvSpPr>
          <p:cNvPr id="26" name="Shape 23"/>
          <p:cNvSpPr/>
          <p:nvPr/>
        </p:nvSpPr>
        <p:spPr>
          <a:xfrm>
            <a:off x="4114800" y="3154680"/>
            <a:ext cx="3200400" cy="256032"/>
          </a:xfrm>
          <a:prstGeom prst="roundRect">
            <a:avLst>
              <a:gd name="adj" fmla="val 17857"/>
            </a:avLst>
          </a:prstGeom>
          <a:solidFill>
            <a:srgbClr val="0D7A8A">
              <a:alpha val="70000"/>
            </a:srgbClr>
          </a:solidFill>
          <a:ln w="12700">
            <a:solidFill>
              <a:srgbClr val="0D7A8A"/>
            </a:solidFill>
            <a:prstDash val="solid"/>
          </a:ln>
        </p:spPr>
      </p:sp>
      <p:sp>
        <p:nvSpPr>
          <p:cNvPr id="27" name="Text 24"/>
          <p:cNvSpPr/>
          <p:nvPr/>
        </p:nvSpPr>
        <p:spPr>
          <a:xfrm>
            <a:off x="4114800" y="3154680"/>
            <a:ext cx="3200400" cy="256032"/>
          </a:xfrm>
          <a:prstGeom prst="rect">
            <a:avLst/>
          </a:prstGeom>
          <a:noFill/>
          <a:ln/>
        </p:spPr>
        <p:txBody>
          <a:bodyPr wrap="square"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Infrastructure</a:t>
            </a:r>
            <a:endParaRPr lang="en-US" sz="950" dirty="0"/>
          </a:p>
        </p:txBody>
      </p:sp>
      <p:sp>
        <p:nvSpPr>
          <p:cNvPr id="28" name="Shape 25"/>
          <p:cNvSpPr/>
          <p:nvPr/>
        </p:nvSpPr>
        <p:spPr>
          <a:xfrm>
            <a:off x="4114800" y="3502152"/>
            <a:ext cx="2560320" cy="256032"/>
          </a:xfrm>
          <a:prstGeom prst="roundRect">
            <a:avLst>
              <a:gd name="adj" fmla="val 17857"/>
            </a:avLst>
          </a:prstGeom>
          <a:solidFill>
            <a:srgbClr val="0D7A8A">
              <a:alpha val="70000"/>
            </a:srgbClr>
          </a:solidFill>
          <a:ln w="12700">
            <a:solidFill>
              <a:srgbClr val="0D7A8A"/>
            </a:solidFill>
            <a:prstDash val="solid"/>
          </a:ln>
        </p:spPr>
      </p:sp>
      <p:sp>
        <p:nvSpPr>
          <p:cNvPr id="29" name="Text 26"/>
          <p:cNvSpPr/>
          <p:nvPr/>
        </p:nvSpPr>
        <p:spPr>
          <a:xfrm>
            <a:off x="4114800" y="3502152"/>
            <a:ext cx="2560320" cy="256032"/>
          </a:xfrm>
          <a:prstGeom prst="rect">
            <a:avLst/>
          </a:prstGeom>
          <a:noFill/>
          <a:ln/>
        </p:spPr>
        <p:txBody>
          <a:bodyPr wrap="square"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Student Welfare</a:t>
            </a:r>
            <a:endParaRPr lang="en-US" sz="950" dirty="0"/>
          </a:p>
        </p:txBody>
      </p:sp>
      <p:sp>
        <p:nvSpPr>
          <p:cNvPr id="30" name="Shape 27"/>
          <p:cNvSpPr/>
          <p:nvPr/>
        </p:nvSpPr>
        <p:spPr>
          <a:xfrm>
            <a:off x="4114800" y="3849624"/>
            <a:ext cx="2834640" cy="256032"/>
          </a:xfrm>
          <a:prstGeom prst="roundRect">
            <a:avLst>
              <a:gd name="adj" fmla="val 17857"/>
            </a:avLst>
          </a:prstGeom>
          <a:solidFill>
            <a:srgbClr val="0D7A8A">
              <a:alpha val="70000"/>
            </a:srgbClr>
          </a:solidFill>
          <a:ln w="12700">
            <a:solidFill>
              <a:srgbClr val="0D7A8A"/>
            </a:solidFill>
            <a:prstDash val="solid"/>
          </a:ln>
        </p:spPr>
      </p:sp>
      <p:sp>
        <p:nvSpPr>
          <p:cNvPr id="31" name="Text 28"/>
          <p:cNvSpPr/>
          <p:nvPr/>
        </p:nvSpPr>
        <p:spPr>
          <a:xfrm>
            <a:off x="4114800" y="3849624"/>
            <a:ext cx="2834640" cy="256032"/>
          </a:xfrm>
          <a:prstGeom prst="rect">
            <a:avLst/>
          </a:prstGeom>
          <a:noFill/>
          <a:ln/>
        </p:spPr>
        <p:txBody>
          <a:bodyPr wrap="square"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Academic Services</a:t>
            </a:r>
            <a:endParaRPr lang="en-US" sz="950" dirty="0"/>
          </a:p>
        </p:txBody>
      </p:sp>
      <p:sp>
        <p:nvSpPr>
          <p:cNvPr id="32" name="Shape 29"/>
          <p:cNvSpPr/>
          <p:nvPr/>
        </p:nvSpPr>
        <p:spPr>
          <a:xfrm>
            <a:off x="4114800" y="4197096"/>
            <a:ext cx="2286000" cy="256032"/>
          </a:xfrm>
          <a:prstGeom prst="roundRect">
            <a:avLst>
              <a:gd name="adj" fmla="val 17857"/>
            </a:avLst>
          </a:prstGeom>
          <a:solidFill>
            <a:srgbClr val="0D7A8A">
              <a:alpha val="70000"/>
            </a:srgbClr>
          </a:solidFill>
          <a:ln w="12700">
            <a:solidFill>
              <a:srgbClr val="0D7A8A"/>
            </a:solidFill>
            <a:prstDash val="solid"/>
          </a:ln>
        </p:spPr>
      </p:sp>
      <p:sp>
        <p:nvSpPr>
          <p:cNvPr id="33" name="Text 30"/>
          <p:cNvSpPr/>
          <p:nvPr/>
        </p:nvSpPr>
        <p:spPr>
          <a:xfrm>
            <a:off x="4114800" y="4197096"/>
            <a:ext cx="2286000" cy="256032"/>
          </a:xfrm>
          <a:prstGeom prst="rect">
            <a:avLst/>
          </a:prstGeom>
          <a:noFill/>
          <a:ln/>
        </p:spPr>
        <p:txBody>
          <a:bodyPr wrap="square"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Administrative Efficiency</a:t>
            </a:r>
            <a:endParaRPr lang="en-US" sz="950" dirty="0"/>
          </a:p>
        </p:txBody>
      </p:sp>
      <p:sp>
        <p:nvSpPr>
          <p:cNvPr id="34" name="Shape 31"/>
          <p:cNvSpPr/>
          <p:nvPr/>
        </p:nvSpPr>
        <p:spPr>
          <a:xfrm>
            <a:off x="4114800" y="4544568"/>
            <a:ext cx="1828800" cy="256032"/>
          </a:xfrm>
          <a:prstGeom prst="roundRect">
            <a:avLst>
              <a:gd name="adj" fmla="val 17857"/>
            </a:avLst>
          </a:prstGeom>
          <a:solidFill>
            <a:srgbClr val="0D7A8A">
              <a:alpha val="70000"/>
            </a:srgbClr>
          </a:solidFill>
          <a:ln w="12700">
            <a:solidFill>
              <a:srgbClr val="0D7A8A"/>
            </a:solidFill>
            <a:prstDash val="solid"/>
          </a:ln>
        </p:spPr>
      </p:sp>
      <p:sp>
        <p:nvSpPr>
          <p:cNvPr id="35" name="Text 32"/>
          <p:cNvSpPr/>
          <p:nvPr/>
        </p:nvSpPr>
        <p:spPr>
          <a:xfrm>
            <a:off x="4114800" y="4544568"/>
            <a:ext cx="1828800" cy="256032"/>
          </a:xfrm>
          <a:prstGeom prst="rect">
            <a:avLst/>
          </a:prstGeom>
          <a:noFill/>
          <a:ln/>
        </p:spPr>
        <p:txBody>
          <a:bodyPr wrap="square"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Connectivity &amp; Digital Access</a:t>
            </a:r>
            <a:endParaRPr lang="en-US" sz="950" dirty="0"/>
          </a:p>
        </p:txBody>
      </p:sp>
      <p:sp>
        <p:nvSpPr>
          <p:cNvPr id="36" name="Shape 33"/>
          <p:cNvSpPr/>
          <p:nvPr/>
        </p:nvSpPr>
        <p:spPr>
          <a:xfrm>
            <a:off x="4114800" y="4526280"/>
            <a:ext cx="4663440" cy="457200"/>
          </a:xfrm>
          <a:prstGeom prst="roundRect">
            <a:avLst>
              <a:gd name="adj" fmla="val 16000"/>
            </a:avLst>
          </a:prstGeom>
          <a:solidFill>
            <a:srgbClr val="F5A623">
              <a:alpha val="75000"/>
            </a:srgbClr>
          </a:solidFill>
          <a:ln w="12700">
            <a:solidFill>
              <a:srgbClr val="F5A623"/>
            </a:solidFill>
            <a:prstDash val="solid"/>
          </a:ln>
        </p:spPr>
      </p:sp>
      <p:sp>
        <p:nvSpPr>
          <p:cNvPr id="37" name="Text 34"/>
          <p:cNvSpPr/>
          <p:nvPr/>
        </p:nvSpPr>
        <p:spPr>
          <a:xfrm>
            <a:off x="4160520" y="4526280"/>
            <a:ext cx="4572000" cy="457200"/>
          </a:xfrm>
          <a:prstGeom prst="rect">
            <a:avLst/>
          </a:prstGeom>
          <a:noFill/>
          <a:ln/>
        </p:spPr>
        <p:txBody>
          <a:bodyPr wrap="square" lIns="0" tIns="0" rIns="0" bIns="0" rtlCol="0" anchor="ctr"/>
          <a:lstStyle/>
          <a:p>
            <a:pPr algn="l" indent="0" marL="0">
              <a:buNone/>
            </a:pPr>
            <a:r>
              <a:rPr lang="en-US" sz="950" b="1" dirty="0">
                <a:solidFill>
                  <a:srgbClr val="0A1628"/>
                </a:solidFill>
                <a:latin typeface="Calibri" pitchFamily="34" charset="0"/>
                <a:ea typeface="Calibri" pitchFamily="34" charset="-122"/>
                <a:cs typeface="Calibri" pitchFamily="34" charset="-120"/>
              </a:rPr>
              <a:t>Threshold calibrated to 0.45 (from default 0.1) after testing 20 JKUAT-context sentences — corrected misclassification of neutral statements.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algn="l" indent="0" marL="0">
              <a:buNone/>
            </a:pPr>
            <a:r>
              <a:rPr lang="en-US" sz="1100" b="1" spc="400" kern="0" dirty="0">
                <a:solidFill>
                  <a:srgbClr val="1ABFBF"/>
                </a:solidFill>
                <a:latin typeface="Calibri" pitchFamily="34" charset="0"/>
                <a:ea typeface="Calibri" pitchFamily="34" charset="-122"/>
                <a:cs typeface="Calibri" pitchFamily="34" charset="-120"/>
              </a:rPr>
              <a:t>DATA COLLECTION &amp; REQUIREMENTS FINDINGS</a:t>
            </a:r>
            <a:endParaRPr lang="en-US" sz="1100" dirty="0"/>
          </a:p>
        </p:txBody>
      </p:sp>
      <p:sp>
        <p:nvSpPr>
          <p:cNvPr id="4" name="Text 2"/>
          <p:cNvSpPr/>
          <p:nvPr/>
        </p:nvSpPr>
        <p:spPr>
          <a:xfrm>
            <a:off x="457200" y="822960"/>
            <a:ext cx="8229600" cy="320040"/>
          </a:xfrm>
          <a:prstGeom prst="rect">
            <a:avLst/>
          </a:prstGeom>
          <a:noFill/>
          <a:ln/>
        </p:spPr>
        <p:txBody>
          <a:bodyPr wrap="square" lIns="0" tIns="0" rIns="0" bIns="0" rtlCol="0" anchor="ctr"/>
          <a:lstStyle/>
          <a:p>
            <a:pPr algn="l" indent="0" marL="0">
              <a:buNone/>
            </a:pPr>
            <a:r>
              <a:rPr lang="en-US" sz="1100" dirty="0">
                <a:solidFill>
                  <a:srgbClr val="8BA3B0"/>
                </a:solidFill>
                <a:latin typeface="Calibri" pitchFamily="34" charset="0"/>
                <a:ea typeface="Calibri" pitchFamily="34" charset="-122"/>
                <a:cs typeface="Calibri" pitchFamily="34" charset="-120"/>
              </a:rPr>
              <a:t>n = 80 respondents | Questionnaires + Interviews + Observation</a:t>
            </a:r>
            <a:endParaRPr lang="en-US" sz="1100" dirty="0"/>
          </a:p>
        </p:txBody>
      </p:sp>
      <p:sp>
        <p:nvSpPr>
          <p:cNvPr id="5" name="Shape 3"/>
          <p:cNvSpPr/>
          <p:nvPr/>
        </p:nvSpPr>
        <p:spPr>
          <a:xfrm>
            <a:off x="320040" y="1234440"/>
            <a:ext cx="1965960" cy="15544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6" name="Text 4"/>
          <p:cNvSpPr/>
          <p:nvPr/>
        </p:nvSpPr>
        <p:spPr>
          <a:xfrm>
            <a:off x="320040" y="1298448"/>
            <a:ext cx="1965960" cy="777240"/>
          </a:xfrm>
          <a:prstGeom prst="rect">
            <a:avLst/>
          </a:prstGeom>
          <a:noFill/>
          <a:ln/>
        </p:spPr>
        <p:txBody>
          <a:bodyPr wrap="square" lIns="0" tIns="0" rIns="0" bIns="0" rtlCol="0" anchor="ctr"/>
          <a:lstStyle/>
          <a:p>
            <a:pPr algn="ctr" indent="0" marL="0">
              <a:buNone/>
            </a:pPr>
            <a:r>
              <a:rPr lang="en-US" sz="4400" b="1" dirty="0">
                <a:solidFill>
                  <a:srgbClr val="E74C3C"/>
                </a:solidFill>
                <a:latin typeface="Cambria" pitchFamily="34" charset="0"/>
                <a:ea typeface="Cambria" pitchFamily="34" charset="-122"/>
                <a:cs typeface="Cambria" pitchFamily="34" charset="-120"/>
              </a:rPr>
              <a:t>55%</a:t>
            </a:r>
            <a:endParaRPr lang="en-US" sz="4400" dirty="0"/>
          </a:p>
        </p:txBody>
      </p:sp>
      <p:sp>
        <p:nvSpPr>
          <p:cNvPr id="7" name="Text 5"/>
          <p:cNvSpPr/>
          <p:nvPr/>
        </p:nvSpPr>
        <p:spPr>
          <a:xfrm>
            <a:off x="411480" y="2057400"/>
            <a:ext cx="1783080" cy="640080"/>
          </a:xfrm>
          <a:prstGeom prst="rect">
            <a:avLst/>
          </a:prstGeom>
          <a:noFill/>
          <a:ln/>
        </p:spPr>
        <p:txBody>
          <a:bodyPr wrap="square" lIns="0" tIns="0" rIns="0" bIns="0" rtlCol="0" anchor="ctr"/>
          <a:lstStyle/>
          <a:p>
            <a:pPr algn="ctr" indent="0" marL="0">
              <a:buNone/>
            </a:pPr>
            <a:r>
              <a:rPr lang="en-US" sz="1000" dirty="0">
                <a:solidFill>
                  <a:srgbClr val="8BA3B0"/>
                </a:solidFill>
                <a:latin typeface="Calibri" pitchFamily="34" charset="0"/>
                <a:ea typeface="Calibri" pitchFamily="34" charset="-122"/>
                <a:cs typeface="Calibri" pitchFamily="34" charset="-120"/>
              </a:rPr>
              <a:t>Rarely / never give feedback</a:t>
            </a:r>
            <a:endParaRPr lang="en-US" sz="1000" dirty="0"/>
          </a:p>
        </p:txBody>
      </p:sp>
      <p:sp>
        <p:nvSpPr>
          <p:cNvPr id="8" name="Shape 6"/>
          <p:cNvSpPr/>
          <p:nvPr/>
        </p:nvSpPr>
        <p:spPr>
          <a:xfrm>
            <a:off x="2468880" y="1234440"/>
            <a:ext cx="1965960" cy="15544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2468880" y="1298448"/>
            <a:ext cx="1965960" cy="777240"/>
          </a:xfrm>
          <a:prstGeom prst="rect">
            <a:avLst/>
          </a:prstGeom>
          <a:noFill/>
          <a:ln/>
        </p:spPr>
        <p:txBody>
          <a:bodyPr wrap="square" lIns="0" tIns="0" rIns="0" bIns="0" rtlCol="0" anchor="ctr"/>
          <a:lstStyle/>
          <a:p>
            <a:pPr algn="ctr" indent="0" marL="0">
              <a:buNone/>
            </a:pPr>
            <a:r>
              <a:rPr lang="en-US" sz="4400" b="1" dirty="0">
                <a:solidFill>
                  <a:srgbClr val="27AE60"/>
                </a:solidFill>
                <a:latin typeface="Cambria" pitchFamily="34" charset="0"/>
                <a:ea typeface="Cambria" pitchFamily="34" charset="-122"/>
                <a:cs typeface="Cambria" pitchFamily="34" charset="-120"/>
              </a:rPr>
              <a:t>75%</a:t>
            </a:r>
            <a:endParaRPr lang="en-US" sz="4400" dirty="0"/>
          </a:p>
        </p:txBody>
      </p:sp>
      <p:sp>
        <p:nvSpPr>
          <p:cNvPr id="10" name="Text 8"/>
          <p:cNvSpPr/>
          <p:nvPr/>
        </p:nvSpPr>
        <p:spPr>
          <a:xfrm>
            <a:off x="2560320" y="2057400"/>
            <a:ext cx="1783080" cy="640080"/>
          </a:xfrm>
          <a:prstGeom prst="rect">
            <a:avLst/>
          </a:prstGeom>
          <a:noFill/>
          <a:ln/>
        </p:spPr>
        <p:txBody>
          <a:bodyPr wrap="square" lIns="0" tIns="0" rIns="0" bIns="0" rtlCol="0" anchor="ctr"/>
          <a:lstStyle/>
          <a:p>
            <a:pPr algn="ctr" indent="0" marL="0">
              <a:buNone/>
            </a:pPr>
            <a:r>
              <a:rPr lang="en-US" sz="1000" dirty="0">
                <a:solidFill>
                  <a:srgbClr val="8BA3B0"/>
                </a:solidFill>
                <a:latin typeface="Calibri" pitchFamily="34" charset="0"/>
                <a:ea typeface="Calibri" pitchFamily="34" charset="-122"/>
                <a:cs typeface="Calibri" pitchFamily="34" charset="-120"/>
              </a:rPr>
              <a:t>Willing to use AI system</a:t>
            </a:r>
            <a:endParaRPr lang="en-US" sz="1000" dirty="0"/>
          </a:p>
        </p:txBody>
      </p:sp>
      <p:sp>
        <p:nvSpPr>
          <p:cNvPr id="11" name="Shape 9"/>
          <p:cNvSpPr/>
          <p:nvPr/>
        </p:nvSpPr>
        <p:spPr>
          <a:xfrm>
            <a:off x="4617720" y="1234440"/>
            <a:ext cx="1965960" cy="15544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4617720" y="1298448"/>
            <a:ext cx="1965960" cy="777240"/>
          </a:xfrm>
          <a:prstGeom prst="rect">
            <a:avLst/>
          </a:prstGeom>
          <a:noFill/>
          <a:ln/>
        </p:spPr>
        <p:txBody>
          <a:bodyPr wrap="square" lIns="0" tIns="0" rIns="0" bIns="0" rtlCol="0" anchor="ctr"/>
          <a:lstStyle/>
          <a:p>
            <a:pPr algn="ctr" indent="0" marL="0">
              <a:buNone/>
            </a:pPr>
            <a:r>
              <a:rPr lang="en-US" sz="4400" b="1" dirty="0">
                <a:solidFill>
                  <a:srgbClr val="0D7A8A"/>
                </a:solidFill>
                <a:latin typeface="Cambria" pitchFamily="34" charset="0"/>
                <a:ea typeface="Cambria" pitchFamily="34" charset="-122"/>
                <a:cs typeface="Cambria" pitchFamily="34" charset="-120"/>
              </a:rPr>
              <a:t>70%</a:t>
            </a:r>
            <a:endParaRPr lang="en-US" sz="4400" dirty="0"/>
          </a:p>
        </p:txBody>
      </p:sp>
      <p:sp>
        <p:nvSpPr>
          <p:cNvPr id="13" name="Text 11"/>
          <p:cNvSpPr/>
          <p:nvPr/>
        </p:nvSpPr>
        <p:spPr>
          <a:xfrm>
            <a:off x="4709160" y="2057400"/>
            <a:ext cx="1783080" cy="640080"/>
          </a:xfrm>
          <a:prstGeom prst="rect">
            <a:avLst/>
          </a:prstGeom>
          <a:noFill/>
          <a:ln/>
        </p:spPr>
        <p:txBody>
          <a:bodyPr wrap="square" lIns="0" tIns="0" rIns="0" bIns="0" rtlCol="0" anchor="ctr"/>
          <a:lstStyle/>
          <a:p>
            <a:pPr algn="ctr" indent="0" marL="0">
              <a:buNone/>
            </a:pPr>
            <a:r>
              <a:rPr lang="en-US" sz="1000" dirty="0">
                <a:solidFill>
                  <a:srgbClr val="8BA3B0"/>
                </a:solidFill>
                <a:latin typeface="Calibri" pitchFamily="34" charset="0"/>
                <a:ea typeface="Calibri" pitchFamily="34" charset="-122"/>
                <a:cs typeface="Calibri" pitchFamily="34" charset="-120"/>
              </a:rPr>
              <a:t>Cite lack of follow-up as top barrier</a:t>
            </a:r>
            <a:endParaRPr lang="en-US" sz="1000" dirty="0"/>
          </a:p>
        </p:txBody>
      </p:sp>
      <p:sp>
        <p:nvSpPr>
          <p:cNvPr id="14" name="Shape 12"/>
          <p:cNvSpPr/>
          <p:nvPr/>
        </p:nvSpPr>
        <p:spPr>
          <a:xfrm>
            <a:off x="6766560" y="1234440"/>
            <a:ext cx="1965960" cy="15544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15" name="Text 13"/>
          <p:cNvSpPr/>
          <p:nvPr/>
        </p:nvSpPr>
        <p:spPr>
          <a:xfrm>
            <a:off x="6766560" y="1298448"/>
            <a:ext cx="1965960" cy="777240"/>
          </a:xfrm>
          <a:prstGeom prst="rect">
            <a:avLst/>
          </a:prstGeom>
          <a:noFill/>
          <a:ln/>
        </p:spPr>
        <p:txBody>
          <a:bodyPr wrap="square" lIns="0" tIns="0" rIns="0" bIns="0" rtlCol="0" anchor="ctr"/>
          <a:lstStyle/>
          <a:p>
            <a:pPr algn="ctr" indent="0" marL="0">
              <a:buNone/>
            </a:pPr>
            <a:r>
              <a:rPr lang="en-US" sz="4400" b="1" dirty="0">
                <a:solidFill>
                  <a:srgbClr val="F5A623"/>
                </a:solidFill>
                <a:latin typeface="Cambria" pitchFamily="34" charset="0"/>
                <a:ea typeface="Cambria" pitchFamily="34" charset="-122"/>
                <a:cs typeface="Cambria" pitchFamily="34" charset="-120"/>
              </a:rPr>
              <a:t>80%</a:t>
            </a:r>
            <a:endParaRPr lang="en-US" sz="4400" dirty="0"/>
          </a:p>
        </p:txBody>
      </p:sp>
      <p:sp>
        <p:nvSpPr>
          <p:cNvPr id="16" name="Text 14"/>
          <p:cNvSpPr/>
          <p:nvPr/>
        </p:nvSpPr>
        <p:spPr>
          <a:xfrm>
            <a:off x="6858000" y="2057400"/>
            <a:ext cx="1783080" cy="640080"/>
          </a:xfrm>
          <a:prstGeom prst="rect">
            <a:avLst/>
          </a:prstGeom>
          <a:noFill/>
          <a:ln/>
        </p:spPr>
        <p:txBody>
          <a:bodyPr wrap="square" lIns="0" tIns="0" rIns="0" bIns="0" rtlCol="0" anchor="ctr"/>
          <a:lstStyle/>
          <a:p>
            <a:pPr algn="ctr" indent="0" marL="0">
              <a:buNone/>
            </a:pPr>
            <a:r>
              <a:rPr lang="en-US" sz="1000" dirty="0">
                <a:solidFill>
                  <a:srgbClr val="8BA3B0"/>
                </a:solidFill>
                <a:latin typeface="Calibri" pitchFamily="34" charset="0"/>
                <a:ea typeface="Calibri" pitchFamily="34" charset="-122"/>
                <a:cs typeface="Calibri" pitchFamily="34" charset="-120"/>
              </a:rPr>
              <a:t>Concerned about data privacy</a:t>
            </a:r>
            <a:endParaRPr lang="en-US" sz="1000" dirty="0"/>
          </a:p>
        </p:txBody>
      </p:sp>
      <p:sp>
        <p:nvSpPr>
          <p:cNvPr id="17" name="Text 15"/>
          <p:cNvSpPr/>
          <p:nvPr/>
        </p:nvSpPr>
        <p:spPr>
          <a:xfrm>
            <a:off x="320040" y="2971800"/>
            <a:ext cx="5029200" cy="320040"/>
          </a:xfrm>
          <a:prstGeom prst="rect">
            <a:avLst/>
          </a:prstGeom>
          <a:noFill/>
          <a:ln/>
        </p:spPr>
        <p:txBody>
          <a:bodyPr wrap="square" lIns="0" tIns="0" rIns="0" bIns="0" rtlCol="0" anchor="ctr"/>
          <a:lstStyle/>
          <a:p>
            <a:pPr algn="l" indent="0" marL="0">
              <a:buNone/>
            </a:pPr>
            <a:r>
              <a:rPr lang="en-US" sz="1400" b="1" dirty="0">
                <a:solidFill>
                  <a:srgbClr val="0A1628"/>
                </a:solidFill>
                <a:latin typeface="Cambria" pitchFamily="34" charset="0"/>
                <a:ea typeface="Cambria" pitchFamily="34" charset="-122"/>
                <a:cs typeface="Cambria" pitchFamily="34" charset="-120"/>
              </a:rPr>
              <a:t>Most Desired System Features</a:t>
            </a:r>
            <a:endParaRPr lang="en-US" sz="1400" dirty="0"/>
          </a:p>
        </p:txBody>
      </p:sp>
      <p:graphicFrame>
        <p:nvGraphicFramePr>
          <p:cNvPr id="18" name="Chart 0" descr=""/>
          <p:cNvGraphicFramePr/>
          <p:nvPr/>
        </p:nvGraphicFramePr>
        <p:xfrm>
          <a:off x="320040" y="3291840"/>
          <a:ext cx="5029200" cy="164592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5577840" y="2971800"/>
            <a:ext cx="3246120" cy="1965960"/>
          </a:xfrm>
          <a:prstGeom prst="roundRect">
            <a:avLst>
              <a:gd name="adj" fmla="val 4651"/>
            </a:avLst>
          </a:prstGeom>
          <a:solidFill>
            <a:srgbClr val="0A1628"/>
          </a:solidFill>
          <a:ln w="12700">
            <a:solidFill>
              <a:srgbClr val="0A1628"/>
            </a:solidFill>
            <a:prstDash val="solid"/>
          </a:ln>
          <a:effectLst>
            <a:outerShdw sx="100000" sy="100000" kx="0" ky="0" algn="bl" rotWithShape="0" blurRad="101600" dist="38100" dir="2700000">
              <a:srgbClr val="000000">
                <a:alpha val="18000"/>
              </a:srgbClr>
            </a:outerShdw>
          </a:effectLst>
        </p:spPr>
      </p:sp>
      <p:sp>
        <p:nvSpPr>
          <p:cNvPr id="20" name="Text 17"/>
          <p:cNvSpPr/>
          <p:nvPr/>
        </p:nvSpPr>
        <p:spPr>
          <a:xfrm>
            <a:off x="5669280" y="3017520"/>
            <a:ext cx="3063240" cy="347472"/>
          </a:xfrm>
          <a:prstGeom prst="rect">
            <a:avLst/>
          </a:prstGeom>
          <a:noFill/>
          <a:ln/>
        </p:spPr>
        <p:txBody>
          <a:bodyPr wrap="square" lIns="0" tIns="0" rIns="0" bIns="0" rtlCol="0" anchor="ctr"/>
          <a:lstStyle/>
          <a:p>
            <a:pPr algn="ctr" indent="0" marL="0">
              <a:buNone/>
            </a:pPr>
            <a:r>
              <a:rPr lang="en-US" sz="1200" b="1" dirty="0">
                <a:solidFill>
                  <a:srgbClr val="1ABFBF"/>
                </a:solidFill>
                <a:latin typeface="Calibri" pitchFamily="34" charset="0"/>
                <a:ea typeface="Calibri" pitchFamily="34" charset="-122"/>
                <a:cs typeface="Calibri" pitchFamily="34" charset="-120"/>
              </a:rPr>
              <a:t>Sample Breakdown</a:t>
            </a:r>
            <a:endParaRPr lang="en-US" sz="1200" dirty="0"/>
          </a:p>
        </p:txBody>
      </p:sp>
      <p:sp>
        <p:nvSpPr>
          <p:cNvPr id="21" name="Text 18"/>
          <p:cNvSpPr/>
          <p:nvPr/>
        </p:nvSpPr>
        <p:spPr>
          <a:xfrm>
            <a:off x="5669280" y="3456432"/>
            <a:ext cx="1645920" cy="274320"/>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JKUAT Students</a:t>
            </a:r>
            <a:endParaRPr lang="en-US" sz="1000" dirty="0"/>
          </a:p>
        </p:txBody>
      </p:sp>
      <p:sp>
        <p:nvSpPr>
          <p:cNvPr id="22" name="Text 19"/>
          <p:cNvSpPr/>
          <p:nvPr/>
        </p:nvSpPr>
        <p:spPr>
          <a:xfrm>
            <a:off x="7315200" y="3456432"/>
            <a:ext cx="1371600" cy="274320"/>
          </a:xfrm>
          <a:prstGeom prst="rect">
            <a:avLst/>
          </a:prstGeom>
          <a:noFill/>
          <a:ln/>
        </p:spPr>
        <p:txBody>
          <a:bodyPr wrap="square" lIns="0" tIns="0" rIns="0" bIns="0" rtlCol="0" anchor="ctr"/>
          <a:lstStyle/>
          <a:p>
            <a:pPr algn="r" indent="0" marL="0">
              <a:buNone/>
            </a:pPr>
            <a:r>
              <a:rPr lang="en-US" sz="1000" b="1" dirty="0">
                <a:solidFill>
                  <a:srgbClr val="F5A623"/>
                </a:solidFill>
                <a:latin typeface="Calibri" pitchFamily="34" charset="0"/>
                <a:ea typeface="Calibri" pitchFamily="34" charset="-122"/>
                <a:cs typeface="Calibri" pitchFamily="34" charset="-120"/>
              </a:rPr>
              <a:t>50 (62.5%)</a:t>
            </a:r>
            <a:endParaRPr lang="en-US" sz="1000" dirty="0"/>
          </a:p>
        </p:txBody>
      </p:sp>
      <p:sp>
        <p:nvSpPr>
          <p:cNvPr id="23" name="Text 20"/>
          <p:cNvSpPr/>
          <p:nvPr/>
        </p:nvSpPr>
        <p:spPr>
          <a:xfrm>
            <a:off x="5669280" y="3694176"/>
            <a:ext cx="3063240" cy="201168"/>
          </a:xfrm>
          <a:prstGeom prst="rect">
            <a:avLst/>
          </a:prstGeom>
          <a:noFill/>
          <a:ln/>
        </p:spPr>
        <p:txBody>
          <a:bodyPr wrap="square" lIns="0" tIns="0" rIns="0" bIns="0" rtlCol="0" anchor="ctr"/>
          <a:lstStyle/>
          <a:p>
            <a:pPr algn="l" indent="0" marL="0">
              <a:buNone/>
            </a:pPr>
            <a:r>
              <a:rPr lang="en-US" sz="900" dirty="0">
                <a:solidFill>
                  <a:srgbClr val="8BA3B0"/>
                </a:solidFill>
                <a:latin typeface="Calibri" pitchFamily="34" charset="0"/>
                <a:ea typeface="Calibri" pitchFamily="34" charset="-122"/>
                <a:cs typeface="Calibri" pitchFamily="34" charset="-120"/>
              </a:rPr>
              <a:t>Convenience</a:t>
            </a:r>
            <a:endParaRPr lang="en-US" sz="900" dirty="0"/>
          </a:p>
        </p:txBody>
      </p:sp>
      <p:sp>
        <p:nvSpPr>
          <p:cNvPr id="24" name="Text 21"/>
          <p:cNvSpPr/>
          <p:nvPr/>
        </p:nvSpPr>
        <p:spPr>
          <a:xfrm>
            <a:off x="5669280" y="3959352"/>
            <a:ext cx="1645920" cy="274320"/>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Student Leaders</a:t>
            </a:r>
            <a:endParaRPr lang="en-US" sz="1000" dirty="0"/>
          </a:p>
        </p:txBody>
      </p:sp>
      <p:sp>
        <p:nvSpPr>
          <p:cNvPr id="25" name="Text 22"/>
          <p:cNvSpPr/>
          <p:nvPr/>
        </p:nvSpPr>
        <p:spPr>
          <a:xfrm>
            <a:off x="7315200" y="3959352"/>
            <a:ext cx="1371600" cy="274320"/>
          </a:xfrm>
          <a:prstGeom prst="rect">
            <a:avLst/>
          </a:prstGeom>
          <a:noFill/>
          <a:ln/>
        </p:spPr>
        <p:txBody>
          <a:bodyPr wrap="square" lIns="0" tIns="0" rIns="0" bIns="0" rtlCol="0" anchor="ctr"/>
          <a:lstStyle/>
          <a:p>
            <a:pPr algn="r" indent="0" marL="0">
              <a:buNone/>
            </a:pPr>
            <a:r>
              <a:rPr lang="en-US" sz="1000" b="1" dirty="0">
                <a:solidFill>
                  <a:srgbClr val="F5A623"/>
                </a:solidFill>
                <a:latin typeface="Calibri" pitchFamily="34" charset="0"/>
                <a:ea typeface="Calibri" pitchFamily="34" charset="-122"/>
                <a:cs typeface="Calibri" pitchFamily="34" charset="-120"/>
              </a:rPr>
              <a:t>20 (25.0%)</a:t>
            </a:r>
            <a:endParaRPr lang="en-US" sz="1000" dirty="0"/>
          </a:p>
        </p:txBody>
      </p:sp>
      <p:sp>
        <p:nvSpPr>
          <p:cNvPr id="26" name="Text 23"/>
          <p:cNvSpPr/>
          <p:nvPr/>
        </p:nvSpPr>
        <p:spPr>
          <a:xfrm>
            <a:off x="5669280" y="4197096"/>
            <a:ext cx="3063240" cy="201168"/>
          </a:xfrm>
          <a:prstGeom prst="rect">
            <a:avLst/>
          </a:prstGeom>
          <a:noFill/>
          <a:ln/>
        </p:spPr>
        <p:txBody>
          <a:bodyPr wrap="square" lIns="0" tIns="0" rIns="0" bIns="0" rtlCol="0" anchor="ctr"/>
          <a:lstStyle/>
          <a:p>
            <a:pPr algn="l" indent="0" marL="0">
              <a:buNone/>
            </a:pPr>
            <a:r>
              <a:rPr lang="en-US" sz="900" dirty="0">
                <a:solidFill>
                  <a:srgbClr val="8BA3B0"/>
                </a:solidFill>
                <a:latin typeface="Calibri" pitchFamily="34" charset="0"/>
                <a:ea typeface="Calibri" pitchFamily="34" charset="-122"/>
                <a:cs typeface="Calibri" pitchFamily="34" charset="-120"/>
              </a:rPr>
              <a:t>Purposive</a:t>
            </a:r>
            <a:endParaRPr lang="en-US" sz="900" dirty="0"/>
          </a:p>
        </p:txBody>
      </p:sp>
      <p:sp>
        <p:nvSpPr>
          <p:cNvPr id="27" name="Text 24"/>
          <p:cNvSpPr/>
          <p:nvPr/>
        </p:nvSpPr>
        <p:spPr>
          <a:xfrm>
            <a:off x="5669280" y="4462272"/>
            <a:ext cx="1645920" cy="274320"/>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Council President/Deputies</a:t>
            </a:r>
            <a:endParaRPr lang="en-US" sz="1000" dirty="0"/>
          </a:p>
        </p:txBody>
      </p:sp>
      <p:sp>
        <p:nvSpPr>
          <p:cNvPr id="28" name="Text 25"/>
          <p:cNvSpPr/>
          <p:nvPr/>
        </p:nvSpPr>
        <p:spPr>
          <a:xfrm>
            <a:off x="7315200" y="4462272"/>
            <a:ext cx="1371600" cy="274320"/>
          </a:xfrm>
          <a:prstGeom prst="rect">
            <a:avLst/>
          </a:prstGeom>
          <a:noFill/>
          <a:ln/>
        </p:spPr>
        <p:txBody>
          <a:bodyPr wrap="square" lIns="0" tIns="0" rIns="0" bIns="0" rtlCol="0" anchor="ctr"/>
          <a:lstStyle/>
          <a:p>
            <a:pPr algn="r" indent="0" marL="0">
              <a:buNone/>
            </a:pPr>
            <a:r>
              <a:rPr lang="en-US" sz="1000" b="1" dirty="0">
                <a:solidFill>
                  <a:srgbClr val="F5A623"/>
                </a:solidFill>
                <a:latin typeface="Calibri" pitchFamily="34" charset="0"/>
                <a:ea typeface="Calibri" pitchFamily="34" charset="-122"/>
                <a:cs typeface="Calibri" pitchFamily="34" charset="-120"/>
              </a:rPr>
              <a:t>10 (12.5%)</a:t>
            </a:r>
            <a:endParaRPr lang="en-US" sz="1000" dirty="0"/>
          </a:p>
        </p:txBody>
      </p:sp>
      <p:sp>
        <p:nvSpPr>
          <p:cNvPr id="29" name="Text 26"/>
          <p:cNvSpPr/>
          <p:nvPr/>
        </p:nvSpPr>
        <p:spPr>
          <a:xfrm>
            <a:off x="5669280" y="4700016"/>
            <a:ext cx="3063240" cy="201168"/>
          </a:xfrm>
          <a:prstGeom prst="rect">
            <a:avLst/>
          </a:prstGeom>
          <a:noFill/>
          <a:ln/>
        </p:spPr>
        <p:txBody>
          <a:bodyPr wrap="square" lIns="0" tIns="0" rIns="0" bIns="0" rtlCol="0" anchor="ctr"/>
          <a:lstStyle/>
          <a:p>
            <a:pPr algn="l" indent="0" marL="0">
              <a:buNone/>
            </a:pPr>
            <a:r>
              <a:rPr lang="en-US" sz="900" dirty="0">
                <a:solidFill>
                  <a:srgbClr val="8BA3B0"/>
                </a:solidFill>
                <a:latin typeface="Calibri" pitchFamily="34" charset="0"/>
                <a:ea typeface="Calibri" pitchFamily="34" charset="-122"/>
                <a:cs typeface="Calibri" pitchFamily="34" charset="-120"/>
              </a:rPr>
              <a:t>Purposive</a:t>
            </a:r>
            <a:endParaRPr lang="en-US" sz="900" dirty="0"/>
          </a:p>
        </p:txBody>
      </p:sp>
      <p:sp>
        <p:nvSpPr>
          <p:cNvPr id="30" name="Text 27"/>
          <p:cNvSpPr/>
          <p:nvPr/>
        </p:nvSpPr>
        <p:spPr>
          <a:xfrm>
            <a:off x="5669280" y="4645152"/>
            <a:ext cx="3063240" cy="256032"/>
          </a:xfrm>
          <a:prstGeom prst="rect">
            <a:avLst/>
          </a:prstGeom>
          <a:noFill/>
          <a:ln/>
        </p:spPr>
        <p:txBody>
          <a:bodyPr wrap="square" lIns="0" tIns="0" rIns="0" bIns="0" rtlCol="0" anchor="ctr"/>
          <a:lstStyle/>
          <a:p>
            <a:pPr algn="ctr" indent="0" marL="0">
              <a:buNone/>
            </a:pPr>
            <a:r>
              <a:rPr lang="en-US" sz="1100" b="1" dirty="0">
                <a:solidFill>
                  <a:srgbClr val="0D7A8A"/>
                </a:solidFill>
                <a:latin typeface="Calibri" pitchFamily="34" charset="0"/>
                <a:ea typeface="Calibri" pitchFamily="34" charset="-122"/>
                <a:cs typeface="Calibri" pitchFamily="34" charset="-120"/>
              </a:rPr>
              <a:t>Total: 80 respondents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F38"/>
          </a:solidFill>
          <a:ln w="12700">
            <a:solidFill>
              <a:srgbClr val="0D1F3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algn="l" indent="0" marL="0">
              <a:buNone/>
            </a:pPr>
            <a:r>
              <a:rPr lang="en-US" sz="1100" b="1" spc="400" kern="0" dirty="0">
                <a:solidFill>
                  <a:srgbClr val="1ABFBF"/>
                </a:solidFill>
                <a:latin typeface="Calibri" pitchFamily="34" charset="0"/>
                <a:ea typeface="Calibri" pitchFamily="34" charset="-122"/>
                <a:cs typeface="Calibri" pitchFamily="34" charset="-120"/>
              </a:rPr>
              <a:t>IMPLEMENTATION HIGHLIGHTS</a:t>
            </a:r>
            <a:endParaRPr lang="en-US" sz="1100" dirty="0"/>
          </a:p>
        </p:txBody>
      </p:sp>
      <p:sp>
        <p:nvSpPr>
          <p:cNvPr id="4" name="Shape 2"/>
          <p:cNvSpPr/>
          <p:nvPr/>
        </p:nvSpPr>
        <p:spPr>
          <a:xfrm>
            <a:off x="320040" y="914400"/>
            <a:ext cx="2788920" cy="1600200"/>
          </a:xfrm>
          <a:prstGeom prst="roundRect">
            <a:avLst>
              <a:gd name="adj" fmla="val 5714"/>
            </a:avLst>
          </a:prstGeom>
          <a:solidFill>
            <a:srgbClr val="0D1F38"/>
          </a:solidFill>
          <a:ln w="12700">
            <a:solidFill>
              <a:srgbClr val="0D7A8A"/>
            </a:solidFill>
            <a:prstDash val="solid"/>
          </a:ln>
          <a:effectLst>
            <a:outerShdw sx="100000" sy="100000" kx="0" ky="0" algn="bl" rotWithShape="0" blurRad="101600" dist="38100" dir="27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457200" y="1078992"/>
            <a:ext cx="457200" cy="457200"/>
          </a:xfrm>
          <a:prstGeom prst="rect">
            <a:avLst/>
          </a:prstGeom>
        </p:spPr>
      </p:pic>
      <p:sp>
        <p:nvSpPr>
          <p:cNvPr id="6" name="Shape 3"/>
          <p:cNvSpPr/>
          <p:nvPr/>
        </p:nvSpPr>
        <p:spPr>
          <a:xfrm>
            <a:off x="2514600" y="1051560"/>
            <a:ext cx="475488" cy="256032"/>
          </a:xfrm>
          <a:prstGeom prst="roundRect">
            <a:avLst>
              <a:gd name="adj" fmla="val 17857"/>
            </a:avLst>
          </a:prstGeom>
          <a:solidFill>
            <a:srgbClr val="0D7A8A">
              <a:alpha val="70000"/>
            </a:srgbClr>
          </a:solidFill>
          <a:ln w="12700">
            <a:solidFill>
              <a:srgbClr val="0D7A8A"/>
            </a:solidFill>
            <a:prstDash val="solid"/>
          </a:ln>
        </p:spPr>
      </p:sp>
      <p:sp>
        <p:nvSpPr>
          <p:cNvPr id="7" name="Text 4"/>
          <p:cNvSpPr/>
          <p:nvPr/>
        </p:nvSpPr>
        <p:spPr>
          <a:xfrm>
            <a:off x="2514600" y="1051560"/>
            <a:ext cx="475488" cy="256032"/>
          </a:xfrm>
          <a:prstGeom prst="rect">
            <a:avLst/>
          </a:prstGeom>
          <a:noFill/>
          <a:ln/>
        </p:spPr>
        <p:txBody>
          <a:bodyPr wrap="square" lIns="0" tIns="0" rIns="0" bIns="0" rtlCol="0" anchor="ctr"/>
          <a:lstStyle/>
          <a:p>
            <a:pPr algn="ctr" indent="0" marL="0">
              <a:buNone/>
            </a:pPr>
            <a:r>
              <a:rPr lang="en-US" sz="850" b="1" dirty="0">
                <a:solidFill>
                  <a:srgbClr val="1ABFBF"/>
                </a:solidFill>
                <a:latin typeface="Calibri" pitchFamily="34" charset="0"/>
                <a:ea typeface="Calibri" pitchFamily="34" charset="-122"/>
                <a:cs typeface="Calibri" pitchFamily="34" charset="-120"/>
              </a:rPr>
              <a:t>FR1</a:t>
            </a:r>
            <a:endParaRPr lang="en-US" sz="850" dirty="0"/>
          </a:p>
        </p:txBody>
      </p:sp>
      <p:sp>
        <p:nvSpPr>
          <p:cNvPr id="8" name="Text 5"/>
          <p:cNvSpPr/>
          <p:nvPr/>
        </p:nvSpPr>
        <p:spPr>
          <a:xfrm>
            <a:off x="1005840" y="1051560"/>
            <a:ext cx="1481328"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Feedback Collection</a:t>
            </a:r>
            <a:endParaRPr lang="en-US" sz="1200" dirty="0"/>
          </a:p>
        </p:txBody>
      </p:sp>
      <p:sp>
        <p:nvSpPr>
          <p:cNvPr id="9" name="Text 6"/>
          <p:cNvSpPr/>
          <p:nvPr/>
        </p:nvSpPr>
        <p:spPr>
          <a:xfrm>
            <a:off x="429768" y="1600200"/>
            <a:ext cx="2560320" cy="777240"/>
          </a:xfrm>
          <a:prstGeom prst="rect">
            <a:avLst/>
          </a:prstGeom>
          <a:noFill/>
          <a:ln/>
        </p:spPr>
        <p:txBody>
          <a:bodyPr wrap="square" lIns="0" tIns="0" rIns="0" bIns="0" rtlCol="0" anchor="ctr"/>
          <a:lstStyle/>
          <a:p>
            <a:pPr algn="l" indent="0" marL="0">
              <a:buNone/>
            </a:pPr>
            <a:r>
              <a:rPr lang="en-US" sz="950" dirty="0">
                <a:solidFill>
                  <a:srgbClr val="8BA3B0"/>
                </a:solidFill>
                <a:latin typeface="Calibri" pitchFamily="34" charset="0"/>
                <a:ea typeface="Calibri" pitchFamily="34" charset="-122"/>
                <a:cs typeface="Calibri" pitchFamily="34" charset="-120"/>
              </a:rPr>
              <a:t>Web form + SMS via Africa's Talking webhook + Assisted entry</a:t>
            </a:r>
            <a:endParaRPr lang="en-US" sz="950" dirty="0"/>
          </a:p>
        </p:txBody>
      </p:sp>
      <p:sp>
        <p:nvSpPr>
          <p:cNvPr id="10" name="Shape 7"/>
          <p:cNvSpPr/>
          <p:nvPr/>
        </p:nvSpPr>
        <p:spPr>
          <a:xfrm>
            <a:off x="3246120" y="914400"/>
            <a:ext cx="2788920" cy="1600200"/>
          </a:xfrm>
          <a:prstGeom prst="roundRect">
            <a:avLst>
              <a:gd name="adj" fmla="val 5714"/>
            </a:avLst>
          </a:prstGeom>
          <a:solidFill>
            <a:srgbClr val="0D1F38"/>
          </a:solidFill>
          <a:ln w="12700">
            <a:solidFill>
              <a:srgbClr val="0D7A8A"/>
            </a:solidFill>
            <a:prstDash val="solid"/>
          </a:ln>
          <a:effectLst>
            <a:outerShdw sx="100000" sy="100000" kx="0" ky="0" algn="bl" rotWithShape="0" blurRad="101600" dist="38100" dir="2700000">
              <a:srgbClr val="000000">
                <a:alpha val="18000"/>
              </a:srgbClr>
            </a:outerShdw>
          </a:effectLst>
        </p:spPr>
      </p:sp>
      <p:pic>
        <p:nvPicPr>
          <p:cNvPr id="11" name="Image 1" descr="preencoded.png">    </p:cNvPr>
          <p:cNvPicPr>
            <a:picLocks noChangeAspect="1"/>
          </p:cNvPicPr>
          <p:nvPr/>
        </p:nvPicPr>
        <p:blipFill>
          <a:blip r:embed="rId2"/>
          <a:stretch>
            <a:fillRect/>
          </a:stretch>
        </p:blipFill>
        <p:spPr>
          <a:xfrm>
            <a:off x="3383280" y="1078992"/>
            <a:ext cx="457200" cy="457200"/>
          </a:xfrm>
          <a:prstGeom prst="rect">
            <a:avLst/>
          </a:prstGeom>
        </p:spPr>
      </p:pic>
      <p:sp>
        <p:nvSpPr>
          <p:cNvPr id="12" name="Shape 8"/>
          <p:cNvSpPr/>
          <p:nvPr/>
        </p:nvSpPr>
        <p:spPr>
          <a:xfrm>
            <a:off x="5440680" y="1051560"/>
            <a:ext cx="475488" cy="256032"/>
          </a:xfrm>
          <a:prstGeom prst="roundRect">
            <a:avLst>
              <a:gd name="adj" fmla="val 17857"/>
            </a:avLst>
          </a:prstGeom>
          <a:solidFill>
            <a:srgbClr val="0D7A8A">
              <a:alpha val="70000"/>
            </a:srgbClr>
          </a:solidFill>
          <a:ln w="12700">
            <a:solidFill>
              <a:srgbClr val="0D7A8A"/>
            </a:solidFill>
            <a:prstDash val="solid"/>
          </a:ln>
        </p:spPr>
      </p:sp>
      <p:sp>
        <p:nvSpPr>
          <p:cNvPr id="13" name="Text 9"/>
          <p:cNvSpPr/>
          <p:nvPr/>
        </p:nvSpPr>
        <p:spPr>
          <a:xfrm>
            <a:off x="5440680" y="1051560"/>
            <a:ext cx="475488" cy="256032"/>
          </a:xfrm>
          <a:prstGeom prst="rect">
            <a:avLst/>
          </a:prstGeom>
          <a:noFill/>
          <a:ln/>
        </p:spPr>
        <p:txBody>
          <a:bodyPr wrap="square" lIns="0" tIns="0" rIns="0" bIns="0" rtlCol="0" anchor="ctr"/>
          <a:lstStyle/>
          <a:p>
            <a:pPr algn="ctr" indent="0" marL="0">
              <a:buNone/>
            </a:pPr>
            <a:r>
              <a:rPr lang="en-US" sz="850" b="1" dirty="0">
                <a:solidFill>
                  <a:srgbClr val="1ABFBF"/>
                </a:solidFill>
                <a:latin typeface="Calibri" pitchFamily="34" charset="0"/>
                <a:ea typeface="Calibri" pitchFamily="34" charset="-122"/>
                <a:cs typeface="Calibri" pitchFamily="34" charset="-120"/>
              </a:rPr>
              <a:t>FR2</a:t>
            </a:r>
            <a:endParaRPr lang="en-US" sz="850" dirty="0"/>
          </a:p>
        </p:txBody>
      </p:sp>
      <p:sp>
        <p:nvSpPr>
          <p:cNvPr id="14" name="Text 10"/>
          <p:cNvSpPr/>
          <p:nvPr/>
        </p:nvSpPr>
        <p:spPr>
          <a:xfrm>
            <a:off x="3931920" y="1051560"/>
            <a:ext cx="1481328"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NLP Analysis</a:t>
            </a:r>
            <a:endParaRPr lang="en-US" sz="1200" dirty="0"/>
          </a:p>
        </p:txBody>
      </p:sp>
      <p:sp>
        <p:nvSpPr>
          <p:cNvPr id="15" name="Text 11"/>
          <p:cNvSpPr/>
          <p:nvPr/>
        </p:nvSpPr>
        <p:spPr>
          <a:xfrm>
            <a:off x="3355848" y="1600200"/>
            <a:ext cx="2560320" cy="777240"/>
          </a:xfrm>
          <a:prstGeom prst="rect">
            <a:avLst/>
          </a:prstGeom>
          <a:noFill/>
          <a:ln/>
        </p:spPr>
        <p:txBody>
          <a:bodyPr wrap="square" lIns="0" tIns="0" rIns="0" bIns="0" rtlCol="0" anchor="ctr"/>
          <a:lstStyle/>
          <a:p>
            <a:pPr algn="l" indent="0" marL="0">
              <a:buNone/>
            </a:pPr>
            <a:r>
              <a:rPr lang="en-US" sz="950" dirty="0">
                <a:solidFill>
                  <a:srgbClr val="8BA3B0"/>
                </a:solidFill>
                <a:latin typeface="Calibri" pitchFamily="34" charset="0"/>
                <a:ea typeface="Calibri" pitchFamily="34" charset="-122"/>
                <a:cs typeface="Calibri" pitchFamily="34" charset="-120"/>
              </a:rPr>
              <a:t>TextBlob sentiment (±0.45) + scikit-learn LDA topic modelling</a:t>
            </a:r>
            <a:endParaRPr lang="en-US" sz="950" dirty="0"/>
          </a:p>
        </p:txBody>
      </p:sp>
      <p:sp>
        <p:nvSpPr>
          <p:cNvPr id="16" name="Shape 12"/>
          <p:cNvSpPr/>
          <p:nvPr/>
        </p:nvSpPr>
        <p:spPr>
          <a:xfrm>
            <a:off x="6172200" y="914400"/>
            <a:ext cx="2788920" cy="1600200"/>
          </a:xfrm>
          <a:prstGeom prst="roundRect">
            <a:avLst>
              <a:gd name="adj" fmla="val 5714"/>
            </a:avLst>
          </a:prstGeom>
          <a:solidFill>
            <a:srgbClr val="0D1F38"/>
          </a:solidFill>
          <a:ln w="12700">
            <a:solidFill>
              <a:srgbClr val="0D7A8A"/>
            </a:solidFill>
            <a:prstDash val="solid"/>
          </a:ln>
          <a:effectLst>
            <a:outerShdw sx="100000" sy="100000" kx="0" ky="0" algn="bl" rotWithShape="0" blurRad="101600" dist="38100" dir="2700000">
              <a:srgbClr val="000000">
                <a:alpha val="18000"/>
              </a:srgbClr>
            </a:outerShdw>
          </a:effectLst>
        </p:spPr>
      </p:sp>
      <p:pic>
        <p:nvPicPr>
          <p:cNvPr id="17" name="Image 2" descr="preencoded.png">    </p:cNvPr>
          <p:cNvPicPr>
            <a:picLocks noChangeAspect="1"/>
          </p:cNvPicPr>
          <p:nvPr/>
        </p:nvPicPr>
        <p:blipFill>
          <a:blip r:embed="rId3"/>
          <a:stretch>
            <a:fillRect/>
          </a:stretch>
        </p:blipFill>
        <p:spPr>
          <a:xfrm>
            <a:off x="6309360" y="1078992"/>
            <a:ext cx="457200" cy="457200"/>
          </a:xfrm>
          <a:prstGeom prst="rect">
            <a:avLst/>
          </a:prstGeom>
        </p:spPr>
      </p:pic>
      <p:sp>
        <p:nvSpPr>
          <p:cNvPr id="18" name="Shape 13"/>
          <p:cNvSpPr/>
          <p:nvPr/>
        </p:nvSpPr>
        <p:spPr>
          <a:xfrm>
            <a:off x="8366760" y="1051560"/>
            <a:ext cx="475488" cy="256032"/>
          </a:xfrm>
          <a:prstGeom prst="roundRect">
            <a:avLst>
              <a:gd name="adj" fmla="val 17857"/>
            </a:avLst>
          </a:prstGeom>
          <a:solidFill>
            <a:srgbClr val="0D7A8A">
              <a:alpha val="70000"/>
            </a:srgbClr>
          </a:solidFill>
          <a:ln w="12700">
            <a:solidFill>
              <a:srgbClr val="0D7A8A"/>
            </a:solidFill>
            <a:prstDash val="solid"/>
          </a:ln>
        </p:spPr>
      </p:sp>
      <p:sp>
        <p:nvSpPr>
          <p:cNvPr id="19" name="Text 14"/>
          <p:cNvSpPr/>
          <p:nvPr/>
        </p:nvSpPr>
        <p:spPr>
          <a:xfrm>
            <a:off x="8366760" y="1051560"/>
            <a:ext cx="475488" cy="256032"/>
          </a:xfrm>
          <a:prstGeom prst="rect">
            <a:avLst/>
          </a:prstGeom>
          <a:noFill/>
          <a:ln/>
        </p:spPr>
        <p:txBody>
          <a:bodyPr wrap="square" lIns="0" tIns="0" rIns="0" bIns="0" rtlCol="0" anchor="ctr"/>
          <a:lstStyle/>
          <a:p>
            <a:pPr algn="ctr" indent="0" marL="0">
              <a:buNone/>
            </a:pPr>
            <a:r>
              <a:rPr lang="en-US" sz="850" b="1" dirty="0">
                <a:solidFill>
                  <a:srgbClr val="1ABFBF"/>
                </a:solidFill>
                <a:latin typeface="Calibri" pitchFamily="34" charset="0"/>
                <a:ea typeface="Calibri" pitchFamily="34" charset="-122"/>
                <a:cs typeface="Calibri" pitchFamily="34" charset="-120"/>
              </a:rPr>
              <a:t>FR4</a:t>
            </a:r>
            <a:endParaRPr lang="en-US" sz="850" dirty="0"/>
          </a:p>
        </p:txBody>
      </p:sp>
      <p:sp>
        <p:nvSpPr>
          <p:cNvPr id="20" name="Text 15"/>
          <p:cNvSpPr/>
          <p:nvPr/>
        </p:nvSpPr>
        <p:spPr>
          <a:xfrm>
            <a:off x="6858000" y="1051560"/>
            <a:ext cx="1481328"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Admin Dashboard</a:t>
            </a:r>
            <a:endParaRPr lang="en-US" sz="1200" dirty="0"/>
          </a:p>
        </p:txBody>
      </p:sp>
      <p:sp>
        <p:nvSpPr>
          <p:cNvPr id="21" name="Text 16"/>
          <p:cNvSpPr/>
          <p:nvPr/>
        </p:nvSpPr>
        <p:spPr>
          <a:xfrm>
            <a:off x="6281928" y="1600200"/>
            <a:ext cx="2560320" cy="777240"/>
          </a:xfrm>
          <a:prstGeom prst="rect">
            <a:avLst/>
          </a:prstGeom>
          <a:noFill/>
          <a:ln/>
        </p:spPr>
        <p:txBody>
          <a:bodyPr wrap="square" lIns="0" tIns="0" rIns="0" bIns="0" rtlCol="0" anchor="ctr"/>
          <a:lstStyle/>
          <a:p>
            <a:pPr algn="l" indent="0" marL="0">
              <a:buNone/>
            </a:pPr>
            <a:r>
              <a:rPr lang="en-US" sz="950" dirty="0">
                <a:solidFill>
                  <a:srgbClr val="8BA3B0"/>
                </a:solidFill>
                <a:latin typeface="Calibri" pitchFamily="34" charset="0"/>
                <a:ea typeface="Calibri" pitchFamily="34" charset="-122"/>
                <a:cs typeface="Calibri" pitchFamily="34" charset="-120"/>
              </a:rPr>
              <a:t>Protected dashboard: sentiment charts, filters, CSV/PDF export</a:t>
            </a:r>
            <a:endParaRPr lang="en-US" sz="950" dirty="0"/>
          </a:p>
        </p:txBody>
      </p:sp>
      <p:sp>
        <p:nvSpPr>
          <p:cNvPr id="22" name="Shape 17"/>
          <p:cNvSpPr/>
          <p:nvPr/>
        </p:nvSpPr>
        <p:spPr>
          <a:xfrm>
            <a:off x="320040" y="2743200"/>
            <a:ext cx="2788920" cy="1600200"/>
          </a:xfrm>
          <a:prstGeom prst="roundRect">
            <a:avLst>
              <a:gd name="adj" fmla="val 5714"/>
            </a:avLst>
          </a:prstGeom>
          <a:solidFill>
            <a:srgbClr val="0D1F38"/>
          </a:solidFill>
          <a:ln w="12700">
            <a:solidFill>
              <a:srgbClr val="0D7A8A"/>
            </a:solidFill>
            <a:prstDash val="solid"/>
          </a:ln>
          <a:effectLst>
            <a:outerShdw sx="100000" sy="100000" kx="0" ky="0" algn="bl" rotWithShape="0" blurRad="101600" dist="38100" dir="2700000">
              <a:srgbClr val="000000">
                <a:alpha val="18000"/>
              </a:srgbClr>
            </a:outerShdw>
          </a:effectLst>
        </p:spPr>
      </p:sp>
      <p:pic>
        <p:nvPicPr>
          <p:cNvPr id="23" name="Image 3" descr="preencoded.png">    </p:cNvPr>
          <p:cNvPicPr>
            <a:picLocks noChangeAspect="1"/>
          </p:cNvPicPr>
          <p:nvPr/>
        </p:nvPicPr>
        <p:blipFill>
          <a:blip r:embed="rId4"/>
          <a:stretch>
            <a:fillRect/>
          </a:stretch>
        </p:blipFill>
        <p:spPr>
          <a:xfrm>
            <a:off x="457200" y="2907792"/>
            <a:ext cx="457200" cy="457200"/>
          </a:xfrm>
          <a:prstGeom prst="rect">
            <a:avLst/>
          </a:prstGeom>
        </p:spPr>
      </p:pic>
      <p:sp>
        <p:nvSpPr>
          <p:cNvPr id="24" name="Shape 18"/>
          <p:cNvSpPr/>
          <p:nvPr/>
        </p:nvSpPr>
        <p:spPr>
          <a:xfrm>
            <a:off x="2514600" y="2880360"/>
            <a:ext cx="475488" cy="256032"/>
          </a:xfrm>
          <a:prstGeom prst="roundRect">
            <a:avLst>
              <a:gd name="adj" fmla="val 17857"/>
            </a:avLst>
          </a:prstGeom>
          <a:solidFill>
            <a:srgbClr val="0D7A8A">
              <a:alpha val="70000"/>
            </a:srgbClr>
          </a:solidFill>
          <a:ln w="12700">
            <a:solidFill>
              <a:srgbClr val="0D7A8A"/>
            </a:solidFill>
            <a:prstDash val="solid"/>
          </a:ln>
        </p:spPr>
      </p:sp>
      <p:sp>
        <p:nvSpPr>
          <p:cNvPr id="25" name="Text 19"/>
          <p:cNvSpPr/>
          <p:nvPr/>
        </p:nvSpPr>
        <p:spPr>
          <a:xfrm>
            <a:off x="2514600" y="2880360"/>
            <a:ext cx="475488" cy="256032"/>
          </a:xfrm>
          <a:prstGeom prst="rect">
            <a:avLst/>
          </a:prstGeom>
          <a:noFill/>
          <a:ln/>
        </p:spPr>
        <p:txBody>
          <a:bodyPr wrap="square" lIns="0" tIns="0" rIns="0" bIns="0" rtlCol="0" anchor="ctr"/>
          <a:lstStyle/>
          <a:p>
            <a:pPr algn="ctr" indent="0" marL="0">
              <a:buNone/>
            </a:pPr>
            <a:r>
              <a:rPr lang="en-US" sz="850" b="1" dirty="0">
                <a:solidFill>
                  <a:srgbClr val="1ABFBF"/>
                </a:solidFill>
                <a:latin typeface="Calibri" pitchFamily="34" charset="0"/>
                <a:ea typeface="Calibri" pitchFamily="34" charset="-122"/>
                <a:cs typeface="Calibri" pitchFamily="34" charset="-120"/>
              </a:rPr>
              <a:t>FR1</a:t>
            </a:r>
            <a:endParaRPr lang="en-US" sz="850" dirty="0"/>
          </a:p>
        </p:txBody>
      </p:sp>
      <p:sp>
        <p:nvSpPr>
          <p:cNvPr id="26" name="Text 20"/>
          <p:cNvSpPr/>
          <p:nvPr/>
        </p:nvSpPr>
        <p:spPr>
          <a:xfrm>
            <a:off x="1005840" y="2880360"/>
            <a:ext cx="1481328"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SMS Integration</a:t>
            </a:r>
            <a:endParaRPr lang="en-US" sz="1200" dirty="0"/>
          </a:p>
        </p:txBody>
      </p:sp>
      <p:sp>
        <p:nvSpPr>
          <p:cNvPr id="27" name="Text 21"/>
          <p:cNvSpPr/>
          <p:nvPr/>
        </p:nvSpPr>
        <p:spPr>
          <a:xfrm>
            <a:off x="429768" y="3429000"/>
            <a:ext cx="2560320" cy="777240"/>
          </a:xfrm>
          <a:prstGeom prst="rect">
            <a:avLst/>
          </a:prstGeom>
          <a:noFill/>
          <a:ln/>
        </p:spPr>
        <p:txBody>
          <a:bodyPr wrap="square" lIns="0" tIns="0" rIns="0" bIns="0" rtlCol="0" anchor="ctr"/>
          <a:lstStyle/>
          <a:p>
            <a:pPr algn="l" indent="0" marL="0">
              <a:buNone/>
            </a:pPr>
            <a:r>
              <a:rPr lang="en-US" sz="950" dirty="0">
                <a:solidFill>
                  <a:srgbClr val="8BA3B0"/>
                </a:solidFill>
                <a:latin typeface="Calibri" pitchFamily="34" charset="0"/>
                <a:ea typeface="Calibri" pitchFamily="34" charset="-122"/>
                <a:cs typeface="Calibri" pitchFamily="34" charset="-120"/>
              </a:rPr>
              <a:t>Africa's Talking API webhook → NLP pipeline → auto-reply SMS</a:t>
            </a:r>
            <a:endParaRPr lang="en-US" sz="950" dirty="0"/>
          </a:p>
        </p:txBody>
      </p:sp>
      <p:sp>
        <p:nvSpPr>
          <p:cNvPr id="28" name="Shape 22"/>
          <p:cNvSpPr/>
          <p:nvPr/>
        </p:nvSpPr>
        <p:spPr>
          <a:xfrm>
            <a:off x="3246120" y="2743200"/>
            <a:ext cx="2788920" cy="1600200"/>
          </a:xfrm>
          <a:prstGeom prst="roundRect">
            <a:avLst>
              <a:gd name="adj" fmla="val 5714"/>
            </a:avLst>
          </a:prstGeom>
          <a:solidFill>
            <a:srgbClr val="0D1F38"/>
          </a:solidFill>
          <a:ln w="12700">
            <a:solidFill>
              <a:srgbClr val="0D7A8A"/>
            </a:solidFill>
            <a:prstDash val="solid"/>
          </a:ln>
          <a:effectLst>
            <a:outerShdw sx="100000" sy="100000" kx="0" ky="0" algn="bl" rotWithShape="0" blurRad="101600" dist="38100" dir="2700000">
              <a:srgbClr val="000000">
                <a:alpha val="18000"/>
              </a:srgbClr>
            </a:outerShdw>
          </a:effectLst>
        </p:spPr>
      </p:sp>
      <p:pic>
        <p:nvPicPr>
          <p:cNvPr id="29" name="Image 4" descr="preencoded.png">    </p:cNvPr>
          <p:cNvPicPr>
            <a:picLocks noChangeAspect="1"/>
          </p:cNvPicPr>
          <p:nvPr/>
        </p:nvPicPr>
        <p:blipFill>
          <a:blip r:embed="rId5"/>
          <a:stretch>
            <a:fillRect/>
          </a:stretch>
        </p:blipFill>
        <p:spPr>
          <a:xfrm>
            <a:off x="3383280" y="2907792"/>
            <a:ext cx="457200" cy="457200"/>
          </a:xfrm>
          <a:prstGeom prst="rect">
            <a:avLst/>
          </a:prstGeom>
        </p:spPr>
      </p:pic>
      <p:sp>
        <p:nvSpPr>
          <p:cNvPr id="30" name="Shape 23"/>
          <p:cNvSpPr/>
          <p:nvPr/>
        </p:nvSpPr>
        <p:spPr>
          <a:xfrm>
            <a:off x="5440680" y="2880360"/>
            <a:ext cx="475488" cy="256032"/>
          </a:xfrm>
          <a:prstGeom prst="roundRect">
            <a:avLst>
              <a:gd name="adj" fmla="val 17857"/>
            </a:avLst>
          </a:prstGeom>
          <a:solidFill>
            <a:srgbClr val="0D7A8A">
              <a:alpha val="70000"/>
            </a:srgbClr>
          </a:solidFill>
          <a:ln w="12700">
            <a:solidFill>
              <a:srgbClr val="0D7A8A"/>
            </a:solidFill>
            <a:prstDash val="solid"/>
          </a:ln>
        </p:spPr>
      </p:sp>
      <p:sp>
        <p:nvSpPr>
          <p:cNvPr id="31" name="Text 24"/>
          <p:cNvSpPr/>
          <p:nvPr/>
        </p:nvSpPr>
        <p:spPr>
          <a:xfrm>
            <a:off x="5440680" y="2880360"/>
            <a:ext cx="475488" cy="256032"/>
          </a:xfrm>
          <a:prstGeom prst="rect">
            <a:avLst/>
          </a:prstGeom>
          <a:noFill/>
          <a:ln/>
        </p:spPr>
        <p:txBody>
          <a:bodyPr wrap="square" lIns="0" tIns="0" rIns="0" bIns="0" rtlCol="0" anchor="ctr"/>
          <a:lstStyle/>
          <a:p>
            <a:pPr algn="ctr" indent="0" marL="0">
              <a:buNone/>
            </a:pPr>
            <a:r>
              <a:rPr lang="en-US" sz="850" b="1" dirty="0">
                <a:solidFill>
                  <a:srgbClr val="1ABFBF"/>
                </a:solidFill>
                <a:latin typeface="Calibri" pitchFamily="34" charset="0"/>
                <a:ea typeface="Calibri" pitchFamily="34" charset="-122"/>
                <a:cs typeface="Calibri" pitchFamily="34" charset="-120"/>
              </a:rPr>
              <a:t>FR1</a:t>
            </a:r>
            <a:endParaRPr lang="en-US" sz="850" dirty="0"/>
          </a:p>
        </p:txBody>
      </p:sp>
      <p:sp>
        <p:nvSpPr>
          <p:cNvPr id="32" name="Text 25"/>
          <p:cNvSpPr/>
          <p:nvPr/>
        </p:nvSpPr>
        <p:spPr>
          <a:xfrm>
            <a:off x="3931920" y="2880360"/>
            <a:ext cx="1481328"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Audio Transcription</a:t>
            </a:r>
            <a:endParaRPr lang="en-US" sz="1200" dirty="0"/>
          </a:p>
        </p:txBody>
      </p:sp>
      <p:sp>
        <p:nvSpPr>
          <p:cNvPr id="33" name="Text 26"/>
          <p:cNvSpPr/>
          <p:nvPr/>
        </p:nvSpPr>
        <p:spPr>
          <a:xfrm>
            <a:off x="3355848" y="3429000"/>
            <a:ext cx="2560320" cy="777240"/>
          </a:xfrm>
          <a:prstGeom prst="rect">
            <a:avLst/>
          </a:prstGeom>
          <a:noFill/>
          <a:ln/>
        </p:spPr>
        <p:txBody>
          <a:bodyPr wrap="square" lIns="0" tIns="0" rIns="0" bIns="0" rtlCol="0" anchor="ctr"/>
          <a:lstStyle/>
          <a:p>
            <a:pPr algn="l" indent="0" marL="0">
              <a:buNone/>
            </a:pPr>
            <a:r>
              <a:rPr lang="en-US" sz="950" dirty="0">
                <a:solidFill>
                  <a:srgbClr val="8BA3B0"/>
                </a:solidFill>
                <a:latin typeface="Calibri" pitchFamily="34" charset="0"/>
                <a:ea typeface="Calibri" pitchFamily="34" charset="-122"/>
                <a:cs typeface="Calibri" pitchFamily="34" charset="-120"/>
              </a:rPr>
              <a:t>OpenAI Whisper base model → text → pre-fill submission form</a:t>
            </a:r>
            <a:endParaRPr lang="en-US" sz="950" dirty="0"/>
          </a:p>
        </p:txBody>
      </p:sp>
      <p:sp>
        <p:nvSpPr>
          <p:cNvPr id="34" name="Shape 27"/>
          <p:cNvSpPr/>
          <p:nvPr/>
        </p:nvSpPr>
        <p:spPr>
          <a:xfrm>
            <a:off x="320040" y="4480560"/>
            <a:ext cx="8503920" cy="475488"/>
          </a:xfrm>
          <a:prstGeom prst="roundRect">
            <a:avLst>
              <a:gd name="adj" fmla="val 15385"/>
            </a:avLst>
          </a:prstGeom>
          <a:solidFill>
            <a:srgbClr val="0D1F38"/>
          </a:solidFill>
          <a:ln w="12700">
            <a:solidFill>
              <a:srgbClr val="F5A623"/>
            </a:solidFill>
            <a:prstDash val="solid"/>
          </a:ln>
        </p:spPr>
      </p:sp>
      <p:sp>
        <p:nvSpPr>
          <p:cNvPr id="35" name="Text 28"/>
          <p:cNvSpPr/>
          <p:nvPr/>
        </p:nvSpPr>
        <p:spPr>
          <a:xfrm>
            <a:off x="411480" y="4480560"/>
            <a:ext cx="8321040" cy="475488"/>
          </a:xfrm>
          <a:prstGeom prst="rect">
            <a:avLst/>
          </a:prstGeom>
          <a:noFill/>
          <a:ln/>
        </p:spPr>
        <p:txBody>
          <a:bodyPr wrap="square" lIns="0" tIns="0" rIns="0" bIns="0" rtlCol="0" anchor="ctr"/>
          <a:lstStyle/>
          <a:p>
            <a:pPr algn="l" indent="0" marL="0">
              <a:buNone/>
            </a:pPr>
            <a:r>
              <a:rPr lang="en-US" sz="950" dirty="0">
                <a:solidFill>
                  <a:srgbClr val="F5A623"/>
                </a:solidFill>
                <a:latin typeface="Calibri" pitchFamily="34" charset="0"/>
                <a:ea typeface="Calibri" pitchFamily="34" charset="-122"/>
                <a:cs typeface="Calibri" pitchFamily="34" charset="-120"/>
              </a:rPr>
              <a:t>Tech Stack:  Python 3.11  ·  Flask 3.0  ·  SQLAlchemy + SQLite  ·  TextBlob 0.18  ·  scikit-learn 1.4  ·  OpenAI Whisper  ·  Africa's Talking API  ·  Bootstrap 5.3  ·  Chart.js 4.4</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algn="l" indent="0" marL="0">
              <a:buNone/>
            </a:pPr>
            <a:r>
              <a:rPr lang="en-US" sz="1100" b="1" spc="400" kern="0" dirty="0">
                <a:solidFill>
                  <a:srgbClr val="1ABFBF"/>
                </a:solidFill>
                <a:latin typeface="Calibri" pitchFamily="34" charset="0"/>
                <a:ea typeface="Calibri" pitchFamily="34" charset="-122"/>
                <a:cs typeface="Calibri" pitchFamily="34" charset="-120"/>
              </a:rPr>
              <a:t>TESTING &amp; EVALUATION RESULTS</a:t>
            </a:r>
            <a:endParaRPr lang="en-US" sz="1100" dirty="0"/>
          </a:p>
        </p:txBody>
      </p:sp>
      <p:sp>
        <p:nvSpPr>
          <p:cNvPr id="4" name="Shape 2"/>
          <p:cNvSpPr/>
          <p:nvPr/>
        </p:nvSpPr>
        <p:spPr>
          <a:xfrm>
            <a:off x="320040" y="914400"/>
            <a:ext cx="2743200" cy="1371600"/>
          </a:xfrm>
          <a:prstGeom prst="roundRect">
            <a:avLst>
              <a:gd name="adj" fmla="val 6667"/>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320040" y="987552"/>
            <a:ext cx="2743200" cy="594360"/>
          </a:xfrm>
          <a:prstGeom prst="rect">
            <a:avLst/>
          </a:prstGeom>
          <a:noFill/>
          <a:ln/>
        </p:spPr>
        <p:txBody>
          <a:bodyPr wrap="square" lIns="0" tIns="0" rIns="0" bIns="0" rtlCol="0" anchor="ctr"/>
          <a:lstStyle/>
          <a:p>
            <a:pPr algn="ctr" indent="0" marL="0">
              <a:buNone/>
            </a:pPr>
            <a:r>
              <a:rPr lang="en-US" sz="3600" b="1" dirty="0">
                <a:solidFill>
                  <a:srgbClr val="27AE60"/>
                </a:solidFill>
                <a:latin typeface="Cambria" pitchFamily="34" charset="0"/>
                <a:ea typeface="Cambria" pitchFamily="34" charset="-122"/>
                <a:cs typeface="Cambria" pitchFamily="34" charset="-120"/>
              </a:rPr>
              <a:t>20 / 20</a:t>
            </a:r>
            <a:endParaRPr lang="en-US" sz="3600" dirty="0"/>
          </a:p>
        </p:txBody>
      </p:sp>
      <p:sp>
        <p:nvSpPr>
          <p:cNvPr id="6" name="Text 4"/>
          <p:cNvSpPr/>
          <p:nvPr/>
        </p:nvSpPr>
        <p:spPr>
          <a:xfrm>
            <a:off x="320040" y="1572768"/>
            <a:ext cx="2743200" cy="292608"/>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Test Cases Passed</a:t>
            </a:r>
            <a:endParaRPr lang="en-US" sz="1200" dirty="0"/>
          </a:p>
        </p:txBody>
      </p:sp>
      <p:sp>
        <p:nvSpPr>
          <p:cNvPr id="7" name="Text 5"/>
          <p:cNvSpPr/>
          <p:nvPr/>
        </p:nvSpPr>
        <p:spPr>
          <a:xfrm>
            <a:off x="320040" y="1847088"/>
            <a:ext cx="2743200" cy="274320"/>
          </a:xfrm>
          <a:prstGeom prst="rect">
            <a:avLst/>
          </a:prstGeom>
          <a:noFill/>
          <a:ln/>
        </p:spPr>
        <p:txBody>
          <a:bodyPr wrap="square" lIns="0" tIns="0" rIns="0" bIns="0" rtlCol="0" anchor="ctr"/>
          <a:lstStyle/>
          <a:p>
            <a:pPr algn="ctr" indent="0" marL="0">
              <a:buNone/>
            </a:pPr>
            <a:r>
              <a:rPr lang="en-US" sz="1000" dirty="0">
                <a:solidFill>
                  <a:srgbClr val="8BA3B0"/>
                </a:solidFill>
                <a:latin typeface="Calibri" pitchFamily="34" charset="0"/>
                <a:ea typeface="Calibri" pitchFamily="34" charset="-122"/>
                <a:cs typeface="Calibri" pitchFamily="34" charset="-120"/>
              </a:rPr>
              <a:t>100% Pass Rate</a:t>
            </a:r>
            <a:endParaRPr lang="en-US" sz="1000" dirty="0"/>
          </a:p>
        </p:txBody>
      </p:sp>
      <p:sp>
        <p:nvSpPr>
          <p:cNvPr id="8" name="Shape 6"/>
          <p:cNvSpPr/>
          <p:nvPr/>
        </p:nvSpPr>
        <p:spPr>
          <a:xfrm>
            <a:off x="3246120" y="914400"/>
            <a:ext cx="2743200" cy="1371600"/>
          </a:xfrm>
          <a:prstGeom prst="roundRect">
            <a:avLst>
              <a:gd name="adj" fmla="val 6667"/>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3246120" y="987552"/>
            <a:ext cx="2743200" cy="594360"/>
          </a:xfrm>
          <a:prstGeom prst="rect">
            <a:avLst/>
          </a:prstGeom>
          <a:noFill/>
          <a:ln/>
        </p:spPr>
        <p:txBody>
          <a:bodyPr wrap="square" lIns="0" tIns="0" rIns="0" bIns="0" rtlCol="0" anchor="ctr"/>
          <a:lstStyle/>
          <a:p>
            <a:pPr algn="ctr" indent="0" marL="0">
              <a:buNone/>
            </a:pPr>
            <a:r>
              <a:rPr lang="en-US" sz="3600" b="1" dirty="0">
                <a:solidFill>
                  <a:srgbClr val="0D7A8A"/>
                </a:solidFill>
                <a:latin typeface="Cambria" pitchFamily="34" charset="0"/>
                <a:ea typeface="Cambria" pitchFamily="34" charset="-122"/>
                <a:cs typeface="Cambria" pitchFamily="34" charset="-120"/>
              </a:rPr>
              <a:t>4.5 / 5</a:t>
            </a:r>
            <a:endParaRPr lang="en-US" sz="3600" dirty="0"/>
          </a:p>
        </p:txBody>
      </p:sp>
      <p:sp>
        <p:nvSpPr>
          <p:cNvPr id="10" name="Text 8"/>
          <p:cNvSpPr/>
          <p:nvPr/>
        </p:nvSpPr>
        <p:spPr>
          <a:xfrm>
            <a:off x="3246120" y="1572768"/>
            <a:ext cx="2743200" cy="292608"/>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Usability Score</a:t>
            </a:r>
            <a:endParaRPr lang="en-US" sz="1200" dirty="0"/>
          </a:p>
        </p:txBody>
      </p:sp>
      <p:sp>
        <p:nvSpPr>
          <p:cNvPr id="11" name="Text 9"/>
          <p:cNvSpPr/>
          <p:nvPr/>
        </p:nvSpPr>
        <p:spPr>
          <a:xfrm>
            <a:off x="3246120" y="1847088"/>
            <a:ext cx="2743200" cy="274320"/>
          </a:xfrm>
          <a:prstGeom prst="rect">
            <a:avLst/>
          </a:prstGeom>
          <a:noFill/>
          <a:ln/>
        </p:spPr>
        <p:txBody>
          <a:bodyPr wrap="square" lIns="0" tIns="0" rIns="0" bIns="0" rtlCol="0" anchor="ctr"/>
          <a:lstStyle/>
          <a:p>
            <a:pPr algn="ctr" indent="0" marL="0">
              <a:buNone/>
            </a:pPr>
            <a:r>
              <a:rPr lang="en-US" sz="1000" dirty="0">
                <a:solidFill>
                  <a:srgbClr val="8BA3B0"/>
                </a:solidFill>
                <a:latin typeface="Calibri" pitchFamily="34" charset="0"/>
                <a:ea typeface="Calibri" pitchFamily="34" charset="-122"/>
                <a:cs typeface="Calibri" pitchFamily="34" charset="-120"/>
              </a:rPr>
              <a:t>5 peer testers</a:t>
            </a:r>
            <a:endParaRPr lang="en-US" sz="1000" dirty="0"/>
          </a:p>
        </p:txBody>
      </p:sp>
      <p:sp>
        <p:nvSpPr>
          <p:cNvPr id="12" name="Shape 10"/>
          <p:cNvSpPr/>
          <p:nvPr/>
        </p:nvSpPr>
        <p:spPr>
          <a:xfrm>
            <a:off x="6172200" y="914400"/>
            <a:ext cx="2743200" cy="1371600"/>
          </a:xfrm>
          <a:prstGeom prst="roundRect">
            <a:avLst>
              <a:gd name="adj" fmla="val 6667"/>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13" name="Text 11"/>
          <p:cNvSpPr/>
          <p:nvPr/>
        </p:nvSpPr>
        <p:spPr>
          <a:xfrm>
            <a:off x="6172200" y="987552"/>
            <a:ext cx="2743200" cy="594360"/>
          </a:xfrm>
          <a:prstGeom prst="rect">
            <a:avLst/>
          </a:prstGeom>
          <a:noFill/>
          <a:ln/>
        </p:spPr>
        <p:txBody>
          <a:bodyPr wrap="square" lIns="0" tIns="0" rIns="0" bIns="0" rtlCol="0" anchor="ctr"/>
          <a:lstStyle/>
          <a:p>
            <a:pPr algn="ctr" indent="0" marL="0">
              <a:buNone/>
            </a:pPr>
            <a:r>
              <a:rPr lang="en-US" sz="3600" b="1" dirty="0">
                <a:solidFill>
                  <a:srgbClr val="F5A623"/>
                </a:solidFill>
                <a:latin typeface="Cambria" pitchFamily="34" charset="0"/>
                <a:ea typeface="Cambria" pitchFamily="34" charset="-122"/>
                <a:cs typeface="Cambria" pitchFamily="34" charset="-120"/>
              </a:rPr>
              <a:t>0</a:t>
            </a:r>
            <a:endParaRPr lang="en-US" sz="3600" dirty="0"/>
          </a:p>
        </p:txBody>
      </p:sp>
      <p:sp>
        <p:nvSpPr>
          <p:cNvPr id="14" name="Text 12"/>
          <p:cNvSpPr/>
          <p:nvPr/>
        </p:nvSpPr>
        <p:spPr>
          <a:xfrm>
            <a:off x="6172200" y="1572768"/>
            <a:ext cx="2743200" cy="292608"/>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Critical Defects</a:t>
            </a:r>
            <a:endParaRPr lang="en-US" sz="1200" dirty="0"/>
          </a:p>
        </p:txBody>
      </p:sp>
      <p:sp>
        <p:nvSpPr>
          <p:cNvPr id="15" name="Text 13"/>
          <p:cNvSpPr/>
          <p:nvPr/>
        </p:nvSpPr>
        <p:spPr>
          <a:xfrm>
            <a:off x="6172200" y="1847088"/>
            <a:ext cx="2743200" cy="274320"/>
          </a:xfrm>
          <a:prstGeom prst="rect">
            <a:avLst/>
          </a:prstGeom>
          <a:noFill/>
          <a:ln/>
        </p:spPr>
        <p:txBody>
          <a:bodyPr wrap="square" lIns="0" tIns="0" rIns="0" bIns="0" rtlCol="0" anchor="ctr"/>
          <a:lstStyle/>
          <a:p>
            <a:pPr algn="ctr" indent="0" marL="0">
              <a:buNone/>
            </a:pPr>
            <a:r>
              <a:rPr lang="en-US" sz="1000" dirty="0">
                <a:solidFill>
                  <a:srgbClr val="8BA3B0"/>
                </a:solidFill>
                <a:latin typeface="Calibri" pitchFamily="34" charset="0"/>
                <a:ea typeface="Calibri" pitchFamily="34" charset="-122"/>
                <a:cs typeface="Calibri" pitchFamily="34" charset="-120"/>
              </a:rPr>
              <a:t>Zero failures</a:t>
            </a:r>
            <a:endParaRPr lang="en-US" sz="1000" dirty="0"/>
          </a:p>
        </p:txBody>
      </p:sp>
      <p:graphicFrame>
        <p:nvGraphicFramePr>
          <p:cNvPr id="16" name="Chart 0" descr=""/>
          <p:cNvGraphicFramePr/>
          <p:nvPr/>
        </p:nvGraphicFramePr>
        <p:xfrm>
          <a:off x="320040" y="2468880"/>
          <a:ext cx="5303520" cy="242316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5852160" y="2468880"/>
            <a:ext cx="2971800" cy="2423160"/>
          </a:xfrm>
          <a:prstGeom prst="roundRect">
            <a:avLst>
              <a:gd name="adj" fmla="val 3774"/>
            </a:avLst>
          </a:prstGeom>
          <a:solidFill>
            <a:srgbClr val="0A1628"/>
          </a:solidFill>
          <a:ln w="12700">
            <a:solidFill>
              <a:srgbClr val="0A1628"/>
            </a:solidFill>
            <a:prstDash val="solid"/>
          </a:ln>
          <a:effectLst>
            <a:outerShdw sx="100000" sy="100000" kx="0" ky="0" algn="bl" rotWithShape="0" blurRad="101600" dist="38100" dir="2700000">
              <a:srgbClr val="000000">
                <a:alpha val="18000"/>
              </a:srgbClr>
            </a:outerShdw>
          </a:effectLst>
        </p:spPr>
      </p:sp>
      <p:sp>
        <p:nvSpPr>
          <p:cNvPr id="18" name="Text 15"/>
          <p:cNvSpPr/>
          <p:nvPr/>
        </p:nvSpPr>
        <p:spPr>
          <a:xfrm>
            <a:off x="5943600" y="2514600"/>
            <a:ext cx="2788920" cy="347472"/>
          </a:xfrm>
          <a:prstGeom prst="rect">
            <a:avLst/>
          </a:prstGeom>
          <a:noFill/>
          <a:ln/>
        </p:spPr>
        <p:txBody>
          <a:bodyPr wrap="square" lIns="0" tIns="0" rIns="0" bIns="0" rtlCol="0" anchor="ctr"/>
          <a:lstStyle/>
          <a:p>
            <a:pPr algn="ctr" indent="0" marL="0">
              <a:buNone/>
            </a:pPr>
            <a:r>
              <a:rPr lang="en-US" sz="1200" b="1" dirty="0">
                <a:solidFill>
                  <a:srgbClr val="1ABFBF"/>
                </a:solidFill>
                <a:latin typeface="Calibri" pitchFamily="34" charset="0"/>
                <a:ea typeface="Calibri" pitchFamily="34" charset="-122"/>
                <a:cs typeface="Calibri" pitchFamily="34" charset="-120"/>
              </a:rPr>
              <a:t>Usability Testing</a:t>
            </a:r>
            <a:endParaRPr lang="en-US" sz="1200" dirty="0"/>
          </a:p>
        </p:txBody>
      </p:sp>
      <p:sp>
        <p:nvSpPr>
          <p:cNvPr id="19" name="Text 16"/>
          <p:cNvSpPr/>
          <p:nvPr/>
        </p:nvSpPr>
        <p:spPr>
          <a:xfrm>
            <a:off x="5943600" y="2971800"/>
            <a:ext cx="1828800" cy="292608"/>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Ease of Use</a:t>
            </a:r>
            <a:endParaRPr lang="en-US" sz="1000" dirty="0"/>
          </a:p>
        </p:txBody>
      </p:sp>
      <p:sp>
        <p:nvSpPr>
          <p:cNvPr id="20" name="Text 17"/>
          <p:cNvSpPr/>
          <p:nvPr/>
        </p:nvSpPr>
        <p:spPr>
          <a:xfrm>
            <a:off x="7772400" y="2971800"/>
            <a:ext cx="914400" cy="292608"/>
          </a:xfrm>
          <a:prstGeom prst="rect">
            <a:avLst/>
          </a:prstGeom>
          <a:noFill/>
          <a:ln/>
        </p:spPr>
        <p:txBody>
          <a:bodyPr wrap="square" lIns="0" tIns="0" rIns="0" bIns="0" rtlCol="0" anchor="ctr"/>
          <a:lstStyle/>
          <a:p>
            <a:pPr algn="r" indent="0" marL="0">
              <a:buNone/>
            </a:pPr>
            <a:r>
              <a:rPr lang="en-US" sz="1100" b="1" dirty="0">
                <a:solidFill>
                  <a:srgbClr val="F5A623"/>
                </a:solidFill>
                <a:latin typeface="Calibri" pitchFamily="34" charset="0"/>
                <a:ea typeface="Calibri" pitchFamily="34" charset="-122"/>
                <a:cs typeface="Calibri" pitchFamily="34" charset="-120"/>
              </a:rPr>
              <a:t>4.6 / 5</a:t>
            </a:r>
            <a:endParaRPr lang="en-US" sz="1100" dirty="0"/>
          </a:p>
        </p:txBody>
      </p:sp>
      <p:sp>
        <p:nvSpPr>
          <p:cNvPr id="21" name="Text 18"/>
          <p:cNvSpPr/>
          <p:nvPr/>
        </p:nvSpPr>
        <p:spPr>
          <a:xfrm>
            <a:off x="5943600" y="3410712"/>
            <a:ext cx="1828800" cy="292608"/>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Clarity of Instructions</a:t>
            </a:r>
            <a:endParaRPr lang="en-US" sz="1000" dirty="0"/>
          </a:p>
        </p:txBody>
      </p:sp>
      <p:sp>
        <p:nvSpPr>
          <p:cNvPr id="22" name="Text 19"/>
          <p:cNvSpPr/>
          <p:nvPr/>
        </p:nvSpPr>
        <p:spPr>
          <a:xfrm>
            <a:off x="7772400" y="3410712"/>
            <a:ext cx="914400" cy="292608"/>
          </a:xfrm>
          <a:prstGeom prst="rect">
            <a:avLst/>
          </a:prstGeom>
          <a:noFill/>
          <a:ln/>
        </p:spPr>
        <p:txBody>
          <a:bodyPr wrap="square" lIns="0" tIns="0" rIns="0" bIns="0" rtlCol="0" anchor="ctr"/>
          <a:lstStyle/>
          <a:p>
            <a:pPr algn="r" indent="0" marL="0">
              <a:buNone/>
            </a:pPr>
            <a:r>
              <a:rPr lang="en-US" sz="1100" b="1" dirty="0">
                <a:solidFill>
                  <a:srgbClr val="F5A623"/>
                </a:solidFill>
                <a:latin typeface="Calibri" pitchFamily="34" charset="0"/>
                <a:ea typeface="Calibri" pitchFamily="34" charset="-122"/>
                <a:cs typeface="Calibri" pitchFamily="34" charset="-120"/>
              </a:rPr>
              <a:t>4.4 / 5</a:t>
            </a:r>
            <a:endParaRPr lang="en-US" sz="1100" dirty="0"/>
          </a:p>
        </p:txBody>
      </p:sp>
      <p:sp>
        <p:nvSpPr>
          <p:cNvPr id="23" name="Text 20"/>
          <p:cNvSpPr/>
          <p:nvPr/>
        </p:nvSpPr>
        <p:spPr>
          <a:xfrm>
            <a:off x="5943600" y="3849624"/>
            <a:ext cx="1828800" cy="292608"/>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Overall Satisfaction</a:t>
            </a:r>
            <a:endParaRPr lang="en-US" sz="1000" dirty="0"/>
          </a:p>
        </p:txBody>
      </p:sp>
      <p:sp>
        <p:nvSpPr>
          <p:cNvPr id="24" name="Text 21"/>
          <p:cNvSpPr/>
          <p:nvPr/>
        </p:nvSpPr>
        <p:spPr>
          <a:xfrm>
            <a:off x="7772400" y="3849624"/>
            <a:ext cx="914400" cy="292608"/>
          </a:xfrm>
          <a:prstGeom prst="rect">
            <a:avLst/>
          </a:prstGeom>
          <a:noFill/>
          <a:ln/>
        </p:spPr>
        <p:txBody>
          <a:bodyPr wrap="square" lIns="0" tIns="0" rIns="0" bIns="0" rtlCol="0" anchor="ctr"/>
          <a:lstStyle/>
          <a:p>
            <a:pPr algn="r" indent="0" marL="0">
              <a:buNone/>
            </a:pPr>
            <a:r>
              <a:rPr lang="en-US" sz="1100" b="1" dirty="0">
                <a:solidFill>
                  <a:srgbClr val="F5A623"/>
                </a:solidFill>
                <a:latin typeface="Calibri" pitchFamily="34" charset="0"/>
                <a:ea typeface="Calibri" pitchFamily="34" charset="-122"/>
                <a:cs typeface="Calibri" pitchFamily="34" charset="-120"/>
              </a:rPr>
              <a:t>4.5 / 5</a:t>
            </a:r>
            <a:endParaRPr lang="en-US" sz="1100" dirty="0"/>
          </a:p>
        </p:txBody>
      </p:sp>
      <p:sp>
        <p:nvSpPr>
          <p:cNvPr id="25" name="Text 22"/>
          <p:cNvSpPr/>
          <p:nvPr/>
        </p:nvSpPr>
        <p:spPr>
          <a:xfrm>
            <a:off x="5943600" y="4288536"/>
            <a:ext cx="1828800" cy="292608"/>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Task Completion Rate</a:t>
            </a:r>
            <a:endParaRPr lang="en-US" sz="1000" dirty="0"/>
          </a:p>
        </p:txBody>
      </p:sp>
      <p:sp>
        <p:nvSpPr>
          <p:cNvPr id="26" name="Text 23"/>
          <p:cNvSpPr/>
          <p:nvPr/>
        </p:nvSpPr>
        <p:spPr>
          <a:xfrm>
            <a:off x="7772400" y="4288536"/>
            <a:ext cx="914400" cy="292608"/>
          </a:xfrm>
          <a:prstGeom prst="rect">
            <a:avLst/>
          </a:prstGeom>
          <a:noFill/>
          <a:ln/>
        </p:spPr>
        <p:txBody>
          <a:bodyPr wrap="square" lIns="0" tIns="0" rIns="0" bIns="0" rtlCol="0" anchor="ctr"/>
          <a:lstStyle/>
          <a:p>
            <a:pPr algn="r" indent="0" marL="0">
              <a:buNone/>
            </a:pPr>
            <a:r>
              <a:rPr lang="en-US" sz="1100" b="1" dirty="0">
                <a:solidFill>
                  <a:srgbClr val="F5A623"/>
                </a:solidFill>
                <a:latin typeface="Calibri" pitchFamily="34" charset="0"/>
                <a:ea typeface="Calibri" pitchFamily="34" charset="-122"/>
                <a:cs typeface="Calibri" pitchFamily="34" charset="-120"/>
              </a:rPr>
              <a:t>100%</a:t>
            </a:r>
            <a:endParaRPr lang="en-US" sz="1100" dirty="0"/>
          </a:p>
        </p:txBody>
      </p:sp>
      <p:sp>
        <p:nvSpPr>
          <p:cNvPr id="27" name="Text 24"/>
          <p:cNvSpPr/>
          <p:nvPr/>
        </p:nvSpPr>
        <p:spPr>
          <a:xfrm>
            <a:off x="5943600" y="4663440"/>
            <a:ext cx="2743200" cy="457200"/>
          </a:xfrm>
          <a:prstGeom prst="rect">
            <a:avLst/>
          </a:prstGeom>
          <a:noFill/>
          <a:ln/>
        </p:spPr>
        <p:txBody>
          <a:bodyPr wrap="square" lIns="0" tIns="0" rIns="0" bIns="0" rtlCol="0" anchor="ctr"/>
          <a:lstStyle/>
          <a:p>
            <a:pPr algn="l" indent="0" marL="0">
              <a:buNone/>
            </a:pPr>
            <a:r>
              <a:rPr lang="en-US" sz="900" dirty="0">
                <a:solidFill>
                  <a:srgbClr val="8BA3B0"/>
                </a:solidFill>
                <a:latin typeface="Calibri" pitchFamily="34" charset="0"/>
                <a:ea typeface="Calibri" pitchFamily="34" charset="-122"/>
                <a:cs typeface="Calibri" pitchFamily="34" charset="-120"/>
              </a:rPr>
              <a:t>Security: SQL injection rejected ✓</a:t>
            </a:r>
            <a:endParaRPr lang="en-US" sz="900" dirty="0"/>
          </a:p>
          <a:p>
            <a:pPr algn="l" indent="0" marL="0">
              <a:buNone/>
            </a:pPr>
            <a:r>
              <a:rPr lang="en-US" sz="900" dirty="0">
                <a:solidFill>
                  <a:srgbClr val="8BA3B0"/>
                </a:solidFill>
                <a:latin typeface="Calibri" pitchFamily="34" charset="0"/>
                <a:ea typeface="Calibri" pitchFamily="34" charset="-122"/>
                <a:cs typeface="Calibri" pitchFamily="34" charset="-120"/>
              </a:rPr>
              <a:t>Unauthenticated routes blocked ✓</a:t>
            </a:r>
            <a:endParaRPr lang="en-US" sz="900" dirty="0"/>
          </a:p>
          <a:p>
            <a:pPr algn="l" indent="0" marL="0">
              <a:buNone/>
            </a:pPr>
            <a:r>
              <a:rPr lang="en-US" sz="900" dirty="0">
                <a:solidFill>
                  <a:srgbClr val="8BA3B0"/>
                </a:solidFill>
                <a:latin typeface="Calibri" pitchFamily="34" charset="0"/>
                <a:ea typeface="Calibri" pitchFamily="34" charset="-122"/>
                <a:cs typeface="Calibri" pitchFamily="34" charset="-120"/>
              </a:rPr>
              <a:t>10/10 incorrect login attempts rejected ✓</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algn="l" indent="0" marL="0">
              <a:buNone/>
            </a:pPr>
            <a:r>
              <a:rPr lang="en-US" sz="1100" b="1" spc="400" kern="0" dirty="0">
                <a:solidFill>
                  <a:srgbClr val="1ABFBF"/>
                </a:solidFill>
                <a:latin typeface="Calibri" pitchFamily="34" charset="0"/>
                <a:ea typeface="Calibri" pitchFamily="34" charset="-122"/>
                <a:cs typeface="Calibri" pitchFamily="34" charset="-120"/>
              </a:rPr>
              <a:t>CONCLUSIONS &amp; RECOMMENDATIONS</a:t>
            </a:r>
            <a:endParaRPr lang="en-US" sz="1100" dirty="0"/>
          </a:p>
        </p:txBody>
      </p:sp>
      <p:sp>
        <p:nvSpPr>
          <p:cNvPr id="4" name="Text 2"/>
          <p:cNvSpPr/>
          <p:nvPr/>
        </p:nvSpPr>
        <p:spPr>
          <a:xfrm>
            <a:off x="320040" y="822960"/>
            <a:ext cx="4389120" cy="347472"/>
          </a:xfrm>
          <a:prstGeom prst="rect">
            <a:avLst/>
          </a:prstGeom>
          <a:noFill/>
          <a:ln/>
        </p:spPr>
        <p:txBody>
          <a:bodyPr wrap="square" lIns="0" tIns="0" rIns="0" bIns="0" rtlCol="0" anchor="ctr"/>
          <a:lstStyle/>
          <a:p>
            <a:pPr algn="l" indent="0" marL="0">
              <a:buNone/>
            </a:pPr>
            <a:r>
              <a:rPr lang="en-US" sz="1500" b="1" dirty="0">
                <a:solidFill>
                  <a:srgbClr val="0A1628"/>
                </a:solidFill>
                <a:latin typeface="Cambria" pitchFamily="34" charset="0"/>
                <a:ea typeface="Cambria" pitchFamily="34" charset="-122"/>
                <a:cs typeface="Cambria" pitchFamily="34" charset="-120"/>
              </a:rPr>
              <a:t>Objectives Achieved</a:t>
            </a:r>
            <a:endParaRPr lang="en-US" sz="1500" dirty="0"/>
          </a:p>
        </p:txBody>
      </p:sp>
      <p:sp>
        <p:nvSpPr>
          <p:cNvPr id="5" name="Shape 3"/>
          <p:cNvSpPr/>
          <p:nvPr/>
        </p:nvSpPr>
        <p:spPr>
          <a:xfrm>
            <a:off x="320040" y="1261872"/>
            <a:ext cx="4389120" cy="530352"/>
          </a:xfrm>
          <a:prstGeom prst="roundRect">
            <a:avLst>
              <a:gd name="adj" fmla="val 1206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pic>
        <p:nvPicPr>
          <p:cNvPr id="6" name="Image 0" descr="preencoded.png">    </p:cNvPr>
          <p:cNvPicPr>
            <a:picLocks noChangeAspect="1"/>
          </p:cNvPicPr>
          <p:nvPr/>
        </p:nvPicPr>
        <p:blipFill>
          <a:blip r:embed="rId1"/>
          <a:stretch>
            <a:fillRect/>
          </a:stretch>
        </p:blipFill>
        <p:spPr>
          <a:xfrm>
            <a:off x="411480" y="1353312"/>
            <a:ext cx="292608" cy="292608"/>
          </a:xfrm>
          <a:prstGeom prst="rect">
            <a:avLst/>
          </a:prstGeom>
        </p:spPr>
      </p:pic>
      <p:sp>
        <p:nvSpPr>
          <p:cNvPr id="7" name="Text 4"/>
          <p:cNvSpPr/>
          <p:nvPr/>
        </p:nvSpPr>
        <p:spPr>
          <a:xfrm>
            <a:off x="777240" y="1280160"/>
            <a:ext cx="2560320" cy="512064"/>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Multi-channel collection (web, SMS, audio)</a:t>
            </a:r>
            <a:endParaRPr lang="en-US" sz="1050" dirty="0"/>
          </a:p>
        </p:txBody>
      </p:sp>
      <p:sp>
        <p:nvSpPr>
          <p:cNvPr id="8" name="Shape 5"/>
          <p:cNvSpPr/>
          <p:nvPr/>
        </p:nvSpPr>
        <p:spPr>
          <a:xfrm>
            <a:off x="3364992" y="1362456"/>
            <a:ext cx="1234440" cy="274320"/>
          </a:xfrm>
          <a:prstGeom prst="roundRect">
            <a:avLst>
              <a:gd name="adj" fmla="val 20000"/>
            </a:avLst>
          </a:prstGeom>
          <a:solidFill>
            <a:srgbClr val="27AE60">
              <a:alpha val="80000"/>
            </a:srgbClr>
          </a:solidFill>
          <a:ln w="12700">
            <a:solidFill>
              <a:srgbClr val="FFFFFF"/>
            </a:solidFill>
            <a:prstDash val="solid"/>
          </a:ln>
        </p:spPr>
      </p:sp>
      <p:sp>
        <p:nvSpPr>
          <p:cNvPr id="9" name="Text 6"/>
          <p:cNvSpPr/>
          <p:nvPr/>
        </p:nvSpPr>
        <p:spPr>
          <a:xfrm>
            <a:off x="3364992" y="1362456"/>
            <a:ext cx="123444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Fully Achieved</a:t>
            </a:r>
            <a:endParaRPr lang="en-US" sz="850" dirty="0"/>
          </a:p>
        </p:txBody>
      </p:sp>
      <p:sp>
        <p:nvSpPr>
          <p:cNvPr id="10" name="Shape 7"/>
          <p:cNvSpPr/>
          <p:nvPr/>
        </p:nvSpPr>
        <p:spPr>
          <a:xfrm>
            <a:off x="320040" y="1920240"/>
            <a:ext cx="4389120" cy="530352"/>
          </a:xfrm>
          <a:prstGeom prst="roundRect">
            <a:avLst>
              <a:gd name="adj" fmla="val 1206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pic>
        <p:nvPicPr>
          <p:cNvPr id="11" name="Image 1" descr="preencoded.png">    </p:cNvPr>
          <p:cNvPicPr>
            <a:picLocks noChangeAspect="1"/>
          </p:cNvPicPr>
          <p:nvPr/>
        </p:nvPicPr>
        <p:blipFill>
          <a:blip r:embed="rId2"/>
          <a:stretch>
            <a:fillRect/>
          </a:stretch>
        </p:blipFill>
        <p:spPr>
          <a:xfrm>
            <a:off x="411480" y="2011680"/>
            <a:ext cx="292608" cy="292608"/>
          </a:xfrm>
          <a:prstGeom prst="rect">
            <a:avLst/>
          </a:prstGeom>
        </p:spPr>
      </p:pic>
      <p:sp>
        <p:nvSpPr>
          <p:cNvPr id="12" name="Text 8"/>
          <p:cNvSpPr/>
          <p:nvPr/>
        </p:nvSpPr>
        <p:spPr>
          <a:xfrm>
            <a:off x="777240" y="1938528"/>
            <a:ext cx="2560320" cy="512064"/>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NLP sentiment analysis + LDA topic modelling</a:t>
            </a:r>
            <a:endParaRPr lang="en-US" sz="1050" dirty="0"/>
          </a:p>
        </p:txBody>
      </p:sp>
      <p:sp>
        <p:nvSpPr>
          <p:cNvPr id="13" name="Shape 9"/>
          <p:cNvSpPr/>
          <p:nvPr/>
        </p:nvSpPr>
        <p:spPr>
          <a:xfrm>
            <a:off x="3364992" y="2020824"/>
            <a:ext cx="1234440" cy="274320"/>
          </a:xfrm>
          <a:prstGeom prst="roundRect">
            <a:avLst>
              <a:gd name="adj" fmla="val 20000"/>
            </a:avLst>
          </a:prstGeom>
          <a:solidFill>
            <a:srgbClr val="0D7A8A">
              <a:alpha val="80000"/>
            </a:srgbClr>
          </a:solidFill>
          <a:ln w="12700">
            <a:solidFill>
              <a:srgbClr val="FFFFFF"/>
            </a:solidFill>
            <a:prstDash val="solid"/>
          </a:ln>
        </p:spPr>
      </p:sp>
      <p:sp>
        <p:nvSpPr>
          <p:cNvPr id="14" name="Text 10"/>
          <p:cNvSpPr/>
          <p:nvPr/>
        </p:nvSpPr>
        <p:spPr>
          <a:xfrm>
            <a:off x="3364992" y="2020824"/>
            <a:ext cx="123444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Substantially Achieved</a:t>
            </a:r>
            <a:endParaRPr lang="en-US" sz="850" dirty="0"/>
          </a:p>
        </p:txBody>
      </p:sp>
      <p:sp>
        <p:nvSpPr>
          <p:cNvPr id="15" name="Shape 11"/>
          <p:cNvSpPr/>
          <p:nvPr/>
        </p:nvSpPr>
        <p:spPr>
          <a:xfrm>
            <a:off x="320040" y="2578608"/>
            <a:ext cx="4389120" cy="530352"/>
          </a:xfrm>
          <a:prstGeom prst="roundRect">
            <a:avLst>
              <a:gd name="adj" fmla="val 1206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pic>
        <p:nvPicPr>
          <p:cNvPr id="16" name="Image 2" descr="preencoded.png">    </p:cNvPr>
          <p:cNvPicPr>
            <a:picLocks noChangeAspect="1"/>
          </p:cNvPicPr>
          <p:nvPr/>
        </p:nvPicPr>
        <p:blipFill>
          <a:blip r:embed="rId3"/>
          <a:stretch>
            <a:fillRect/>
          </a:stretch>
        </p:blipFill>
        <p:spPr>
          <a:xfrm>
            <a:off x="411480" y="2670048"/>
            <a:ext cx="292608" cy="292608"/>
          </a:xfrm>
          <a:prstGeom prst="rect">
            <a:avLst/>
          </a:prstGeom>
        </p:spPr>
      </p:pic>
      <p:sp>
        <p:nvSpPr>
          <p:cNvPr id="17" name="Text 12"/>
          <p:cNvSpPr/>
          <p:nvPr/>
        </p:nvSpPr>
        <p:spPr>
          <a:xfrm>
            <a:off x="777240" y="2596896"/>
            <a:ext cx="2560320" cy="512064"/>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Real-time dashboards + alerts + exports</a:t>
            </a:r>
            <a:endParaRPr lang="en-US" sz="1050" dirty="0"/>
          </a:p>
        </p:txBody>
      </p:sp>
      <p:sp>
        <p:nvSpPr>
          <p:cNvPr id="18" name="Shape 13"/>
          <p:cNvSpPr/>
          <p:nvPr/>
        </p:nvSpPr>
        <p:spPr>
          <a:xfrm>
            <a:off x="3364992" y="2679192"/>
            <a:ext cx="1234440" cy="274320"/>
          </a:xfrm>
          <a:prstGeom prst="roundRect">
            <a:avLst>
              <a:gd name="adj" fmla="val 20000"/>
            </a:avLst>
          </a:prstGeom>
          <a:solidFill>
            <a:srgbClr val="27AE60">
              <a:alpha val="80000"/>
            </a:srgbClr>
          </a:solidFill>
          <a:ln w="12700">
            <a:solidFill>
              <a:srgbClr val="FFFFFF"/>
            </a:solidFill>
            <a:prstDash val="solid"/>
          </a:ln>
        </p:spPr>
      </p:sp>
      <p:sp>
        <p:nvSpPr>
          <p:cNvPr id="19" name="Text 14"/>
          <p:cNvSpPr/>
          <p:nvPr/>
        </p:nvSpPr>
        <p:spPr>
          <a:xfrm>
            <a:off x="3364992" y="2679192"/>
            <a:ext cx="123444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Fully Achieved</a:t>
            </a:r>
            <a:endParaRPr lang="en-US" sz="850" dirty="0"/>
          </a:p>
        </p:txBody>
      </p:sp>
      <p:sp>
        <p:nvSpPr>
          <p:cNvPr id="20" name="Shape 15"/>
          <p:cNvSpPr/>
          <p:nvPr/>
        </p:nvSpPr>
        <p:spPr>
          <a:xfrm>
            <a:off x="320040" y="3236976"/>
            <a:ext cx="4389120" cy="530352"/>
          </a:xfrm>
          <a:prstGeom prst="roundRect">
            <a:avLst>
              <a:gd name="adj" fmla="val 1206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pic>
        <p:nvPicPr>
          <p:cNvPr id="21" name="Image 3" descr="preencoded.png">    </p:cNvPr>
          <p:cNvPicPr>
            <a:picLocks noChangeAspect="1"/>
          </p:cNvPicPr>
          <p:nvPr/>
        </p:nvPicPr>
        <p:blipFill>
          <a:blip r:embed="rId4"/>
          <a:stretch>
            <a:fillRect/>
          </a:stretch>
        </p:blipFill>
        <p:spPr>
          <a:xfrm>
            <a:off x="411480" y="3328416"/>
            <a:ext cx="292608" cy="292608"/>
          </a:xfrm>
          <a:prstGeom prst="rect">
            <a:avLst/>
          </a:prstGeom>
        </p:spPr>
      </p:pic>
      <p:sp>
        <p:nvSpPr>
          <p:cNvPr id="22" name="Text 16"/>
          <p:cNvSpPr/>
          <p:nvPr/>
        </p:nvSpPr>
        <p:spPr>
          <a:xfrm>
            <a:off x="777240" y="3255264"/>
            <a:ext cx="2560320" cy="512064"/>
          </a:xfrm>
          <a:prstGeom prst="rect">
            <a:avLst/>
          </a:prstGeom>
          <a:noFill/>
          <a:ln/>
        </p:spPr>
        <p:txBody>
          <a:bodyPr wrap="square" lIns="0" tIns="0" rIns="0" bIns="0" rtlCol="0" anchor="ctr"/>
          <a:lstStyle/>
          <a:p>
            <a:pPr algn="l" indent="0" marL="0">
              <a:buNone/>
            </a:pPr>
            <a:r>
              <a:rPr lang="en-US" sz="1050" dirty="0">
                <a:solidFill>
                  <a:srgbClr val="0A1628"/>
                </a:solidFill>
                <a:latin typeface="Calibri" pitchFamily="34" charset="0"/>
                <a:ea typeface="Calibri" pitchFamily="34" charset="-122"/>
                <a:cs typeface="Calibri" pitchFamily="34" charset="-120"/>
              </a:rPr>
              <a:t>Effectiveness evaluation at prototype level</a:t>
            </a:r>
            <a:endParaRPr lang="en-US" sz="1050" dirty="0"/>
          </a:p>
        </p:txBody>
      </p:sp>
      <p:sp>
        <p:nvSpPr>
          <p:cNvPr id="23" name="Shape 17"/>
          <p:cNvSpPr/>
          <p:nvPr/>
        </p:nvSpPr>
        <p:spPr>
          <a:xfrm>
            <a:off x="3364992" y="3337560"/>
            <a:ext cx="1234440" cy="274320"/>
          </a:xfrm>
          <a:prstGeom prst="roundRect">
            <a:avLst>
              <a:gd name="adj" fmla="val 20000"/>
            </a:avLst>
          </a:prstGeom>
          <a:solidFill>
            <a:srgbClr val="27AE60">
              <a:alpha val="80000"/>
            </a:srgbClr>
          </a:solidFill>
          <a:ln w="12700">
            <a:solidFill>
              <a:srgbClr val="FFFFFF"/>
            </a:solidFill>
            <a:prstDash val="solid"/>
          </a:ln>
        </p:spPr>
      </p:sp>
      <p:sp>
        <p:nvSpPr>
          <p:cNvPr id="24" name="Text 18"/>
          <p:cNvSpPr/>
          <p:nvPr/>
        </p:nvSpPr>
        <p:spPr>
          <a:xfrm>
            <a:off x="3364992" y="3337560"/>
            <a:ext cx="123444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Fully Achieved</a:t>
            </a:r>
            <a:endParaRPr lang="en-US" sz="850" dirty="0"/>
          </a:p>
        </p:txBody>
      </p:sp>
      <p:sp>
        <p:nvSpPr>
          <p:cNvPr id="25" name="Text 19"/>
          <p:cNvSpPr/>
          <p:nvPr/>
        </p:nvSpPr>
        <p:spPr>
          <a:xfrm>
            <a:off x="5029200" y="822960"/>
            <a:ext cx="3749040" cy="347472"/>
          </a:xfrm>
          <a:prstGeom prst="rect">
            <a:avLst/>
          </a:prstGeom>
          <a:noFill/>
          <a:ln/>
        </p:spPr>
        <p:txBody>
          <a:bodyPr wrap="square" lIns="0" tIns="0" rIns="0" bIns="0" rtlCol="0" anchor="ctr"/>
          <a:lstStyle/>
          <a:p>
            <a:pPr algn="l" indent="0" marL="0">
              <a:buNone/>
            </a:pPr>
            <a:r>
              <a:rPr lang="en-US" sz="1500" b="1" dirty="0">
                <a:solidFill>
                  <a:srgbClr val="0A1628"/>
                </a:solidFill>
                <a:latin typeface="Cambria" pitchFamily="34" charset="0"/>
                <a:ea typeface="Cambria" pitchFamily="34" charset="-122"/>
                <a:cs typeface="Cambria" pitchFamily="34" charset="-120"/>
              </a:rPr>
              <a:t>Key Recommendations</a:t>
            </a:r>
            <a:endParaRPr lang="en-US" sz="1500" dirty="0"/>
          </a:p>
        </p:txBody>
      </p:sp>
      <p:sp>
        <p:nvSpPr>
          <p:cNvPr id="26" name="Shape 20"/>
          <p:cNvSpPr/>
          <p:nvPr/>
        </p:nvSpPr>
        <p:spPr>
          <a:xfrm>
            <a:off x="5029200" y="1261872"/>
            <a:ext cx="3749040" cy="530352"/>
          </a:xfrm>
          <a:prstGeom prst="roundRect">
            <a:avLst>
              <a:gd name="adj" fmla="val 1206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27" name="Shape 21"/>
          <p:cNvSpPr/>
          <p:nvPr/>
        </p:nvSpPr>
        <p:spPr>
          <a:xfrm>
            <a:off x="5120640" y="1371600"/>
            <a:ext cx="256032" cy="256032"/>
          </a:xfrm>
          <a:prstGeom prst="ellipse">
            <a:avLst/>
          </a:prstGeom>
          <a:solidFill>
            <a:srgbClr val="0D7A8A"/>
          </a:solidFill>
          <a:ln w="12700">
            <a:solidFill>
              <a:srgbClr val="0D7A8A"/>
            </a:solidFill>
            <a:prstDash val="solid"/>
          </a:ln>
        </p:spPr>
      </p:sp>
      <p:sp>
        <p:nvSpPr>
          <p:cNvPr id="28" name="Text 22"/>
          <p:cNvSpPr/>
          <p:nvPr/>
        </p:nvSpPr>
        <p:spPr>
          <a:xfrm>
            <a:off x="5120640" y="13716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9" name="Text 23"/>
          <p:cNvSpPr/>
          <p:nvPr/>
        </p:nvSpPr>
        <p:spPr>
          <a:xfrm>
            <a:off x="5440680" y="1280160"/>
            <a:ext cx="3246120" cy="512064"/>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Train multilingual NLP model (Afro-XLMR / mBERT) on Swahili + code-switched JKUAT data</a:t>
            </a:r>
            <a:endParaRPr lang="en-US" sz="950" dirty="0"/>
          </a:p>
        </p:txBody>
      </p:sp>
      <p:sp>
        <p:nvSpPr>
          <p:cNvPr id="30" name="Shape 24"/>
          <p:cNvSpPr/>
          <p:nvPr/>
        </p:nvSpPr>
        <p:spPr>
          <a:xfrm>
            <a:off x="5029200" y="1920240"/>
            <a:ext cx="3749040" cy="530352"/>
          </a:xfrm>
          <a:prstGeom prst="roundRect">
            <a:avLst>
              <a:gd name="adj" fmla="val 1206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31" name="Shape 25"/>
          <p:cNvSpPr/>
          <p:nvPr/>
        </p:nvSpPr>
        <p:spPr>
          <a:xfrm>
            <a:off x="5120640" y="2029968"/>
            <a:ext cx="256032" cy="256032"/>
          </a:xfrm>
          <a:prstGeom prst="ellipse">
            <a:avLst/>
          </a:prstGeom>
          <a:solidFill>
            <a:srgbClr val="0D7A8A"/>
          </a:solidFill>
          <a:ln w="12700">
            <a:solidFill>
              <a:srgbClr val="0D7A8A"/>
            </a:solidFill>
            <a:prstDash val="solid"/>
          </a:ln>
        </p:spPr>
      </p:sp>
      <p:sp>
        <p:nvSpPr>
          <p:cNvPr id="32" name="Text 26"/>
          <p:cNvSpPr/>
          <p:nvPr/>
        </p:nvSpPr>
        <p:spPr>
          <a:xfrm>
            <a:off x="5120640" y="20299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3" name="Text 27"/>
          <p:cNvSpPr/>
          <p:nvPr/>
        </p:nvSpPr>
        <p:spPr>
          <a:xfrm>
            <a:off x="5440680" y="1938528"/>
            <a:ext cx="3246120" cy="512064"/>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Deploy on production server with PostgreSQL and live Africa's Talking shortcode</a:t>
            </a:r>
            <a:endParaRPr lang="en-US" sz="950" dirty="0"/>
          </a:p>
        </p:txBody>
      </p:sp>
      <p:sp>
        <p:nvSpPr>
          <p:cNvPr id="34" name="Shape 28"/>
          <p:cNvSpPr/>
          <p:nvPr/>
        </p:nvSpPr>
        <p:spPr>
          <a:xfrm>
            <a:off x="5029200" y="2578608"/>
            <a:ext cx="3749040" cy="530352"/>
          </a:xfrm>
          <a:prstGeom prst="roundRect">
            <a:avLst>
              <a:gd name="adj" fmla="val 1206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35" name="Shape 29"/>
          <p:cNvSpPr/>
          <p:nvPr/>
        </p:nvSpPr>
        <p:spPr>
          <a:xfrm>
            <a:off x="5120640" y="2688336"/>
            <a:ext cx="256032" cy="256032"/>
          </a:xfrm>
          <a:prstGeom prst="ellipse">
            <a:avLst/>
          </a:prstGeom>
          <a:solidFill>
            <a:srgbClr val="0D7A8A"/>
          </a:solidFill>
          <a:ln w="12700">
            <a:solidFill>
              <a:srgbClr val="0D7A8A"/>
            </a:solidFill>
            <a:prstDash val="solid"/>
          </a:ln>
        </p:spPr>
      </p:sp>
      <p:sp>
        <p:nvSpPr>
          <p:cNvPr id="36" name="Text 30"/>
          <p:cNvSpPr/>
          <p:nvPr/>
        </p:nvSpPr>
        <p:spPr>
          <a:xfrm>
            <a:off x="5120640" y="26883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37" name="Text 31"/>
          <p:cNvSpPr/>
          <p:nvPr/>
        </p:nvSpPr>
        <p:spPr>
          <a:xfrm>
            <a:off x="5440680" y="2596896"/>
            <a:ext cx="3246120" cy="512064"/>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Longitudinal evaluation: measure real governance decision changes over time</a:t>
            </a:r>
            <a:endParaRPr lang="en-US" sz="950" dirty="0"/>
          </a:p>
        </p:txBody>
      </p:sp>
      <p:sp>
        <p:nvSpPr>
          <p:cNvPr id="38" name="Shape 32"/>
          <p:cNvSpPr/>
          <p:nvPr/>
        </p:nvSpPr>
        <p:spPr>
          <a:xfrm>
            <a:off x="5029200" y="3236976"/>
            <a:ext cx="3749040" cy="530352"/>
          </a:xfrm>
          <a:prstGeom prst="roundRect">
            <a:avLst>
              <a:gd name="adj" fmla="val 1206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39" name="Shape 33"/>
          <p:cNvSpPr/>
          <p:nvPr/>
        </p:nvSpPr>
        <p:spPr>
          <a:xfrm>
            <a:off x="5120640" y="3346704"/>
            <a:ext cx="256032" cy="256032"/>
          </a:xfrm>
          <a:prstGeom prst="ellipse">
            <a:avLst/>
          </a:prstGeom>
          <a:solidFill>
            <a:srgbClr val="0D7A8A"/>
          </a:solidFill>
          <a:ln w="12700">
            <a:solidFill>
              <a:srgbClr val="0D7A8A"/>
            </a:solidFill>
            <a:prstDash val="solid"/>
          </a:ln>
        </p:spPr>
      </p:sp>
      <p:sp>
        <p:nvSpPr>
          <p:cNvPr id="40" name="Text 34"/>
          <p:cNvSpPr/>
          <p:nvPr/>
        </p:nvSpPr>
        <p:spPr>
          <a:xfrm>
            <a:off x="5120640" y="334670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41" name="Text 35"/>
          <p:cNvSpPr/>
          <p:nvPr/>
        </p:nvSpPr>
        <p:spPr>
          <a:xfrm>
            <a:off x="5440680" y="3255264"/>
            <a:ext cx="3246120" cy="512064"/>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Optimise Whisper transcription for mobile baraza recordings</a:t>
            </a:r>
            <a:endParaRPr lang="en-US" sz="950" dirty="0"/>
          </a:p>
        </p:txBody>
      </p:sp>
      <p:sp>
        <p:nvSpPr>
          <p:cNvPr id="42" name="Shape 36"/>
          <p:cNvSpPr/>
          <p:nvPr/>
        </p:nvSpPr>
        <p:spPr>
          <a:xfrm>
            <a:off x="5029200" y="3895344"/>
            <a:ext cx="3749040" cy="530352"/>
          </a:xfrm>
          <a:prstGeom prst="roundRect">
            <a:avLst>
              <a:gd name="adj" fmla="val 12069"/>
            </a:avLst>
          </a:prstGeom>
          <a:solidFill>
            <a:srgbClr val="FFFFFF"/>
          </a:solidFill>
          <a:ln w="12700">
            <a:solidFill>
              <a:srgbClr val="FFFFFF"/>
            </a:solidFill>
            <a:prstDash val="solid"/>
          </a:ln>
          <a:effectLst>
            <a:outerShdw sx="100000" sy="100000" kx="0" ky="0" algn="bl" rotWithShape="0" blurRad="101600" dist="38100" dir="2700000">
              <a:srgbClr val="000000">
                <a:alpha val="18000"/>
              </a:srgbClr>
            </a:outerShdw>
          </a:effectLst>
        </p:spPr>
      </p:sp>
      <p:sp>
        <p:nvSpPr>
          <p:cNvPr id="43" name="Shape 37"/>
          <p:cNvSpPr/>
          <p:nvPr/>
        </p:nvSpPr>
        <p:spPr>
          <a:xfrm>
            <a:off x="5120640" y="4005072"/>
            <a:ext cx="256032" cy="256032"/>
          </a:xfrm>
          <a:prstGeom prst="ellipse">
            <a:avLst/>
          </a:prstGeom>
          <a:solidFill>
            <a:srgbClr val="0D7A8A"/>
          </a:solidFill>
          <a:ln w="12700">
            <a:solidFill>
              <a:srgbClr val="0D7A8A"/>
            </a:solidFill>
            <a:prstDash val="solid"/>
          </a:ln>
        </p:spPr>
      </p:sp>
      <p:sp>
        <p:nvSpPr>
          <p:cNvPr id="44" name="Text 38"/>
          <p:cNvSpPr/>
          <p:nvPr/>
        </p:nvSpPr>
        <p:spPr>
          <a:xfrm>
            <a:off x="5120640" y="4005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45" name="Text 39"/>
          <p:cNvSpPr/>
          <p:nvPr/>
        </p:nvSpPr>
        <p:spPr>
          <a:xfrm>
            <a:off x="5440680" y="3913632"/>
            <a:ext cx="3246120" cy="512064"/>
          </a:xfrm>
          <a:prstGeom prst="rect">
            <a:avLst/>
          </a:prstGeom>
          <a:noFill/>
          <a:ln/>
        </p:spPr>
        <p:txBody>
          <a:bodyPr wrap="square" lIns="0" tIns="0" rIns="0" bIns="0" rtlCol="0" anchor="ctr"/>
          <a:lstStyle/>
          <a:p>
            <a:pPr algn="l" indent="0" marL="0">
              <a:buNone/>
            </a:pPr>
            <a:r>
              <a:rPr lang="en-US" sz="950" dirty="0">
                <a:solidFill>
                  <a:srgbClr val="0A1628"/>
                </a:solidFill>
                <a:latin typeface="Calibri" pitchFamily="34" charset="0"/>
                <a:ea typeface="Calibri" pitchFamily="34" charset="-122"/>
                <a:cs typeface="Calibri" pitchFamily="34" charset="-120"/>
              </a:rPr>
              <a:t>Extend QR codes to link feedback directly to specific governance events</a:t>
            </a:r>
            <a:endParaRPr lang="en-US" sz="950" dirty="0"/>
          </a:p>
        </p:txBody>
      </p:sp>
      <p:sp>
        <p:nvSpPr>
          <p:cNvPr id="46" name="Shape 40"/>
          <p:cNvSpPr/>
          <p:nvPr/>
        </p:nvSpPr>
        <p:spPr>
          <a:xfrm>
            <a:off x="320040" y="4617720"/>
            <a:ext cx="8503920" cy="347472"/>
          </a:xfrm>
          <a:prstGeom prst="roundRect">
            <a:avLst>
              <a:gd name="adj" fmla="val 18421"/>
            </a:avLst>
          </a:prstGeom>
          <a:solidFill>
            <a:srgbClr val="FEF3C7"/>
          </a:solidFill>
          <a:ln w="12700">
            <a:solidFill>
              <a:srgbClr val="F5A623"/>
            </a:solidFill>
            <a:prstDash val="solid"/>
          </a:ln>
        </p:spPr>
      </p:sp>
      <p:sp>
        <p:nvSpPr>
          <p:cNvPr id="47" name="Text 41"/>
          <p:cNvSpPr/>
          <p:nvPr/>
        </p:nvSpPr>
        <p:spPr>
          <a:xfrm>
            <a:off x="411480" y="4617720"/>
            <a:ext cx="8321040" cy="347472"/>
          </a:xfrm>
          <a:prstGeom prst="rect">
            <a:avLst/>
          </a:prstGeom>
          <a:noFill/>
          <a:ln/>
        </p:spPr>
        <p:txBody>
          <a:bodyPr wrap="square" lIns="0" tIns="0" rIns="0" bIns="0" rtlCol="0" anchor="ctr"/>
          <a:lstStyle/>
          <a:p>
            <a:pPr algn="l" indent="0" marL="0">
              <a:buNone/>
            </a:pPr>
            <a:r>
              <a:rPr lang="en-US" sz="1000" dirty="0">
                <a:solidFill>
                  <a:srgbClr val="78350F"/>
                </a:solidFill>
                <a:latin typeface="Calibri" pitchFamily="34" charset="0"/>
                <a:ea typeface="Calibri" pitchFamily="34" charset="-122"/>
                <a:cs typeface="Calibri" pitchFamily="34" charset="-120"/>
              </a:rPr>
              <a:t>⚠  Key limitation: NLP classifier underperforms on Swahili / code-switched text — addressed in recommendation 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914400" y="2286000"/>
            <a:ext cx="4114800" cy="4114800"/>
          </a:xfrm>
          <a:prstGeom prst="ellipse">
            <a:avLst/>
          </a:prstGeom>
          <a:solidFill>
            <a:srgbClr val="0D7A8A">
              <a:alpha val="18000"/>
            </a:srgbClr>
          </a:solidFill>
          <a:ln w="12700">
            <a:solidFill>
              <a:srgbClr val="0D7A8A"/>
            </a:solidFill>
            <a:prstDash val="solid"/>
          </a:ln>
        </p:spPr>
      </p:sp>
      <p:sp>
        <p:nvSpPr>
          <p:cNvPr id="3" name="Shape 1"/>
          <p:cNvSpPr/>
          <p:nvPr/>
        </p:nvSpPr>
        <p:spPr>
          <a:xfrm>
            <a:off x="6858000" y="-914400"/>
            <a:ext cx="3657600" cy="3657600"/>
          </a:xfrm>
          <a:prstGeom prst="ellipse">
            <a:avLst/>
          </a:prstGeom>
          <a:solidFill>
            <a:srgbClr val="1ABFBF">
              <a:alpha val="12000"/>
            </a:srgbClr>
          </a:solidFill>
          <a:ln w="12700">
            <a:solidFill>
              <a:srgbClr val="1ABFBF"/>
            </a:solidFill>
            <a:prstDash val="solid"/>
          </a:ln>
        </p:spPr>
      </p:sp>
      <p:sp>
        <p:nvSpPr>
          <p:cNvPr id="4" name="Text 2"/>
          <p:cNvSpPr/>
          <p:nvPr/>
        </p:nvSpPr>
        <p:spPr>
          <a:xfrm>
            <a:off x="457200" y="822960"/>
            <a:ext cx="8229600" cy="1005840"/>
          </a:xfrm>
          <a:prstGeom prst="rect">
            <a:avLst/>
          </a:prstGeom>
          <a:noFill/>
          <a:ln/>
        </p:spPr>
        <p:txBody>
          <a:bodyPr wrap="square" lIns="0" tIns="0" rIns="0" bIns="0" rtlCol="0" anchor="ctr"/>
          <a:lstStyle/>
          <a:p>
            <a:pPr algn="ctr" indent="0" marL="0">
              <a:buNone/>
            </a:pPr>
            <a:r>
              <a:rPr lang="en-US" sz="6400" b="1" dirty="0">
                <a:solidFill>
                  <a:srgbClr val="FFFFFF"/>
                </a:solidFill>
                <a:latin typeface="Cambria" pitchFamily="34" charset="0"/>
                <a:ea typeface="Cambria" pitchFamily="34" charset="-122"/>
                <a:cs typeface="Cambria" pitchFamily="34" charset="-120"/>
              </a:rPr>
              <a:t>Thank You</a:t>
            </a:r>
            <a:endParaRPr lang="en-US" sz="6400" dirty="0"/>
          </a:p>
        </p:txBody>
      </p:sp>
      <p:sp>
        <p:nvSpPr>
          <p:cNvPr id="5" name="Text 3"/>
          <p:cNvSpPr/>
          <p:nvPr/>
        </p:nvSpPr>
        <p:spPr>
          <a:xfrm>
            <a:off x="457200" y="1920240"/>
            <a:ext cx="8229600" cy="411480"/>
          </a:xfrm>
          <a:prstGeom prst="rect">
            <a:avLst/>
          </a:prstGeom>
          <a:noFill/>
          <a:ln/>
        </p:spPr>
        <p:txBody>
          <a:bodyPr wrap="square" lIns="0" tIns="0" rIns="0" bIns="0" rtlCol="0" anchor="ctr"/>
          <a:lstStyle/>
          <a:p>
            <a:pPr algn="ctr" indent="0" marL="0">
              <a:buNone/>
            </a:pPr>
            <a:r>
              <a:rPr lang="en-US" sz="1800" dirty="0">
                <a:solidFill>
                  <a:srgbClr val="1ABFBF"/>
                </a:solidFill>
                <a:latin typeface="Calibri" pitchFamily="34" charset="0"/>
                <a:ea typeface="Calibri" pitchFamily="34" charset="-122"/>
                <a:cs typeface="Calibri" pitchFamily="34" charset="-120"/>
              </a:rPr>
              <a:t>SautiYetu — Our Voice in AI-Powered Governance</a:t>
            </a:r>
            <a:endParaRPr lang="en-US" sz="1800" dirty="0"/>
          </a:p>
        </p:txBody>
      </p:sp>
      <p:sp>
        <p:nvSpPr>
          <p:cNvPr id="6" name="Shape 4"/>
          <p:cNvSpPr/>
          <p:nvPr/>
        </p:nvSpPr>
        <p:spPr>
          <a:xfrm>
            <a:off x="2743200" y="2514600"/>
            <a:ext cx="3657600" cy="36576"/>
          </a:xfrm>
          <a:prstGeom prst="rect">
            <a:avLst/>
          </a:prstGeom>
          <a:solidFill>
            <a:srgbClr val="F5A623"/>
          </a:solidFill>
          <a:ln w="12700">
            <a:solidFill>
              <a:srgbClr val="F5A623"/>
            </a:solidFill>
            <a:prstDash val="solid"/>
          </a:ln>
        </p:spPr>
      </p:sp>
      <p:sp>
        <p:nvSpPr>
          <p:cNvPr id="7" name="Text 5"/>
          <p:cNvSpPr/>
          <p:nvPr/>
        </p:nvSpPr>
        <p:spPr>
          <a:xfrm>
            <a:off x="457200" y="2743200"/>
            <a:ext cx="8229600" cy="347472"/>
          </a:xfrm>
          <a:prstGeom prst="rect">
            <a:avLst/>
          </a:prstGeom>
          <a:noFill/>
          <a:ln/>
        </p:spPr>
        <p:txBody>
          <a:bodyPr wrap="square" lIns="0" tIns="0" rIns="0" bIns="0" rtlCol="0" anchor="ctr"/>
          <a:lstStyle/>
          <a:p>
            <a:pPr algn="ctr" indent="0" marL="0">
              <a:buNone/>
            </a:pPr>
            <a:r>
              <a:rPr lang="en-US" sz="1200" dirty="0">
                <a:solidFill>
                  <a:srgbClr val="8BA3B0"/>
                </a:solidFill>
                <a:latin typeface="Calibri" pitchFamily="34" charset="0"/>
                <a:ea typeface="Calibri" pitchFamily="34" charset="-122"/>
                <a:cs typeface="Calibri" pitchFamily="34" charset="-120"/>
              </a:rPr>
              <a:t>Grace Wekesa  |  BSc Information Technology  |  JKUAT  |  2026</a:t>
            </a:r>
            <a:endParaRPr lang="en-US" sz="1200" dirty="0"/>
          </a:p>
        </p:txBody>
      </p:sp>
      <p:sp>
        <p:nvSpPr>
          <p:cNvPr id="8" name="Text 6"/>
          <p:cNvSpPr/>
          <p:nvPr/>
        </p:nvSpPr>
        <p:spPr>
          <a:xfrm>
            <a:off x="457200" y="3108960"/>
            <a:ext cx="8229600" cy="274320"/>
          </a:xfrm>
          <a:prstGeom prst="rect">
            <a:avLst/>
          </a:prstGeom>
          <a:noFill/>
          <a:ln/>
        </p:spPr>
        <p:txBody>
          <a:bodyPr wrap="square" lIns="0" tIns="0" rIns="0" bIns="0" rtlCol="0" anchor="ctr"/>
          <a:lstStyle/>
          <a:p>
            <a:pPr algn="ctr" indent="0" marL="0">
              <a:buNone/>
            </a:pPr>
            <a:r>
              <a:rPr lang="en-US" sz="1100" dirty="0">
                <a:solidFill>
                  <a:srgbClr val="8BA3B0"/>
                </a:solidFill>
                <a:latin typeface="Calibri" pitchFamily="34" charset="0"/>
                <a:ea typeface="Calibri" pitchFamily="34" charset="-122"/>
                <a:cs typeface="Calibri" pitchFamily="34" charset="-120"/>
              </a:rPr>
              <a:t>Supervisor: Dr. Kaburu</a:t>
            </a:r>
            <a:endParaRPr lang="en-US" sz="1100" dirty="0"/>
          </a:p>
        </p:txBody>
      </p:sp>
      <p:sp>
        <p:nvSpPr>
          <p:cNvPr id="9" name="Shape 7"/>
          <p:cNvSpPr/>
          <p:nvPr/>
        </p:nvSpPr>
        <p:spPr>
          <a:xfrm>
            <a:off x="457200" y="3566160"/>
            <a:ext cx="8229600" cy="1325880"/>
          </a:xfrm>
          <a:prstGeom prst="roundRect">
            <a:avLst>
              <a:gd name="adj" fmla="val 8276"/>
            </a:avLst>
          </a:prstGeom>
          <a:solidFill>
            <a:srgbClr val="0D1F38"/>
          </a:solidFill>
          <a:ln w="12700">
            <a:solidFill>
              <a:srgbClr val="0D7A8A"/>
            </a:solidFill>
            <a:prstDash val="solid"/>
          </a:ln>
        </p:spPr>
      </p:sp>
      <p:sp>
        <p:nvSpPr>
          <p:cNvPr id="10" name="Text 8"/>
          <p:cNvSpPr/>
          <p:nvPr/>
        </p:nvSpPr>
        <p:spPr>
          <a:xfrm>
            <a:off x="548640" y="3611880"/>
            <a:ext cx="8046720" cy="320040"/>
          </a:xfrm>
          <a:prstGeom prst="rect">
            <a:avLst/>
          </a:prstGeom>
          <a:noFill/>
          <a:ln/>
        </p:spPr>
        <p:txBody>
          <a:bodyPr wrap="square" lIns="0" tIns="0" rIns="0" bIns="0" rtlCol="0" anchor="ctr"/>
          <a:lstStyle/>
          <a:p>
            <a:pPr algn="ctr" indent="0" marL="0">
              <a:buNone/>
            </a:pPr>
            <a:r>
              <a:rPr lang="en-US" sz="1100" b="1" spc="300" kern="0" dirty="0">
                <a:solidFill>
                  <a:srgbClr val="1ABFBF"/>
                </a:solidFill>
                <a:latin typeface="Calibri" pitchFamily="34" charset="0"/>
                <a:ea typeface="Calibri" pitchFamily="34" charset="-122"/>
                <a:cs typeface="Calibri" pitchFamily="34" charset="-120"/>
              </a:rPr>
              <a:t>Key Takeaways</a:t>
            </a:r>
            <a:endParaRPr lang="en-US" sz="1100" dirty="0"/>
          </a:p>
        </p:txBody>
      </p:sp>
      <p:pic>
        <p:nvPicPr>
          <p:cNvPr id="11" name="Image 0" descr="preencoded.png">    </p:cNvPr>
          <p:cNvPicPr>
            <a:picLocks noChangeAspect="1"/>
          </p:cNvPicPr>
          <p:nvPr/>
        </p:nvPicPr>
        <p:blipFill>
          <a:blip r:embed="rId1"/>
          <a:stretch>
            <a:fillRect/>
          </a:stretch>
        </p:blipFill>
        <p:spPr>
          <a:xfrm>
            <a:off x="594360" y="4005072"/>
            <a:ext cx="228600" cy="228600"/>
          </a:xfrm>
          <a:prstGeom prst="rect">
            <a:avLst/>
          </a:prstGeom>
        </p:spPr>
      </p:pic>
      <p:sp>
        <p:nvSpPr>
          <p:cNvPr id="12" name="Text 9"/>
          <p:cNvSpPr/>
          <p:nvPr/>
        </p:nvSpPr>
        <p:spPr>
          <a:xfrm>
            <a:off x="914400" y="3959352"/>
            <a:ext cx="7498080" cy="2743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AI + NLP can automate and scale institutional feedback analysis</a:t>
            </a:r>
            <a:endParaRPr lang="en-US" sz="1100" dirty="0"/>
          </a:p>
        </p:txBody>
      </p:sp>
      <p:pic>
        <p:nvPicPr>
          <p:cNvPr id="13" name="Image 1" descr="preencoded.png">    </p:cNvPr>
          <p:cNvPicPr>
            <a:picLocks noChangeAspect="1"/>
          </p:cNvPicPr>
          <p:nvPr/>
        </p:nvPicPr>
        <p:blipFill>
          <a:blip r:embed="rId2"/>
          <a:stretch>
            <a:fillRect/>
          </a:stretch>
        </p:blipFill>
        <p:spPr>
          <a:xfrm>
            <a:off x="594360" y="4297680"/>
            <a:ext cx="228600" cy="228600"/>
          </a:xfrm>
          <a:prstGeom prst="rect">
            <a:avLst/>
          </a:prstGeom>
        </p:spPr>
      </p:pic>
      <p:sp>
        <p:nvSpPr>
          <p:cNvPr id="14" name="Text 10"/>
          <p:cNvSpPr/>
          <p:nvPr/>
        </p:nvSpPr>
        <p:spPr>
          <a:xfrm>
            <a:off x="914400" y="4251960"/>
            <a:ext cx="7498080" cy="2743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Multi-channel design (web, SMS, audio) ensures inclusivity</a:t>
            </a:r>
            <a:endParaRPr lang="en-US" sz="1100" dirty="0"/>
          </a:p>
        </p:txBody>
      </p:sp>
      <p:pic>
        <p:nvPicPr>
          <p:cNvPr id="15" name="Image 2" descr="preencoded.png">    </p:cNvPr>
          <p:cNvPicPr>
            <a:picLocks noChangeAspect="1"/>
          </p:cNvPicPr>
          <p:nvPr/>
        </p:nvPicPr>
        <p:blipFill>
          <a:blip r:embed="rId3"/>
          <a:stretch>
            <a:fillRect/>
          </a:stretch>
        </p:blipFill>
        <p:spPr>
          <a:xfrm>
            <a:off x="594360" y="4590288"/>
            <a:ext cx="228600" cy="228600"/>
          </a:xfrm>
          <a:prstGeom prst="rect">
            <a:avLst/>
          </a:prstGeom>
        </p:spPr>
      </p:pic>
      <p:sp>
        <p:nvSpPr>
          <p:cNvPr id="16" name="Text 11"/>
          <p:cNvSpPr/>
          <p:nvPr/>
        </p:nvSpPr>
        <p:spPr>
          <a:xfrm>
            <a:off x="914400" y="4544568"/>
            <a:ext cx="7498080" cy="2743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100% test pass rate &amp; 4.5/5 usability score validate the approach</a:t>
            </a:r>
            <a:endParaRPr lang="en-US" sz="1100" dirty="0"/>
          </a:p>
        </p:txBody>
      </p:sp>
      <p:sp>
        <p:nvSpPr>
          <p:cNvPr id="17" name="Text 12"/>
          <p:cNvSpPr/>
          <p:nvPr/>
        </p:nvSpPr>
        <p:spPr>
          <a:xfrm>
            <a:off x="457200" y="4828032"/>
            <a:ext cx="8229600" cy="27432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Questions &amp; Discussion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SautiYetu — AI-Powered Public Participation Analysis System</dc:title>
  <dc:subject>PptxGenJS Presentation</dc:subject>
  <dc:creator>Grace Wekesa</dc:creator>
  <cp:lastModifiedBy>Grace Wekesa</cp:lastModifiedBy>
  <cp:revision>1</cp:revision>
  <dcterms:created xsi:type="dcterms:W3CDTF">2026-06-08T21:14:07Z</dcterms:created>
  <dcterms:modified xsi:type="dcterms:W3CDTF">2026-06-08T21:14:07Z</dcterms:modified>
</cp:coreProperties>
</file>